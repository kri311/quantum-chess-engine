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5b527f98ec04c60" /><Relationship Type="http://schemas.openxmlformats.org/officeDocument/2006/relationships/extended-properties" Target="/docProps/app.xml" Id="Rb9672213f95e4aa6" /><Relationship Type="http://schemas.openxmlformats.org/officeDocument/2006/relationships/officeDocument" Target="/ppt/presentation.xml" Id="R094c9d630e9540fc" /></Relationships>
</file>

<file path=ppt/presentation.xml><?xml version="1.0" encoding="utf-8"?>
<p:presentation xmlns:p="http://schemas.openxmlformats.org/presentationml/2006/main">
  <p:sldMasterIdLst>
    <p:sldMasterId xmlns:r="http://schemas.openxmlformats.org/officeDocument/2006/relationships" id="2147483648" r:id="R4a2e8e31db574f15"/>
  </p:sldMasterIdLst>
  <p:notesMasterIdLst>
    <p:notesMasterId xmlns:r="http://schemas.openxmlformats.org/officeDocument/2006/relationships" r:id="R791ac164352c42ae"/>
  </p:notesMasterIdLst>
  <p:sldIdLst>
    <p:sldId xmlns:r="http://schemas.openxmlformats.org/officeDocument/2006/relationships" id="256" r:id="R4fca22659957447b"/>
    <p:sldId xmlns:r="http://schemas.openxmlformats.org/officeDocument/2006/relationships" id="257" r:id="R1098424380c7401b"/>
    <p:sldId xmlns:r="http://schemas.openxmlformats.org/officeDocument/2006/relationships" id="258" r:id="R0fe909d0da424588"/>
    <p:sldId xmlns:r="http://schemas.openxmlformats.org/officeDocument/2006/relationships" id="259" r:id="R6c4eecdf9aa446d5"/>
    <p:sldId xmlns:r="http://schemas.openxmlformats.org/officeDocument/2006/relationships" id="260" r:id="R6906f4cff8164a58"/>
    <p:sldId xmlns:r="http://schemas.openxmlformats.org/officeDocument/2006/relationships" id="261" r:id="R6ca104838468407c"/>
    <p:sldId xmlns:r="http://schemas.openxmlformats.org/officeDocument/2006/relationships" id="262" r:id="R3fb8244d1e914c73"/>
    <p:sldId xmlns:r="http://schemas.openxmlformats.org/officeDocument/2006/relationships" id="263" r:id="R0656b3ea2c9c494e"/>
    <p:sldId xmlns:r="http://schemas.openxmlformats.org/officeDocument/2006/relationships" id="264" r:id="R09e05c1267e5468f"/>
    <p:sldId xmlns:r="http://schemas.openxmlformats.org/officeDocument/2006/relationships" id="265" r:id="Rcedab3d78b48461d"/>
    <p:sldId xmlns:r="http://schemas.openxmlformats.org/officeDocument/2006/relationships" id="266" r:id="R00d64b0881694ff2"/>
    <p:sldId xmlns:r="http://schemas.openxmlformats.org/officeDocument/2006/relationships" id="267" r:id="Rf68404e82eeb4559"/>
    <p:sldId xmlns:r="http://schemas.openxmlformats.org/officeDocument/2006/relationships" id="268" r:id="R3a643ac238084c1c"/>
    <p:sldId xmlns:r="http://schemas.openxmlformats.org/officeDocument/2006/relationships" id="269" r:id="R020ac1ddf33a4af4"/>
    <p:sldId xmlns:r="http://schemas.openxmlformats.org/officeDocument/2006/relationships" id="270" r:id="R3a4ba692954a49b4"/>
    <p:sldId xmlns:r="http://schemas.openxmlformats.org/officeDocument/2006/relationships" id="271" r:id="R86511f95bb0e487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ab148f943244ac1" /><Relationship Type="http://schemas.openxmlformats.org/officeDocument/2006/relationships/slideMaster" Target="/ppt/slideMasters/slideMaster1.xml" Id="R4a2e8e31db574f15" /><Relationship Type="http://schemas.openxmlformats.org/officeDocument/2006/relationships/notesMaster" Target="/ppt/notesMasters/notesMaster1.xml" Id="R791ac164352c42ae" /><Relationship Type="http://schemas.openxmlformats.org/officeDocument/2006/relationships/presProps" Target="/ppt/presProps.xml" Id="Re39ec1e1d1fa472e" /><Relationship Type="http://schemas.openxmlformats.org/officeDocument/2006/relationships/tableStyles" Target="/ppt/tableStyles.xml" Id="Rfa2e46ab79db41db" /><Relationship Type="http://schemas.openxmlformats.org/officeDocument/2006/relationships/slide" Target="/ppt/slides/slide1.xml" Id="R4fca22659957447b" /><Relationship Type="http://schemas.openxmlformats.org/officeDocument/2006/relationships/slide" Target="/ppt/slides/slide2.xml" Id="R1098424380c7401b" /><Relationship Type="http://schemas.openxmlformats.org/officeDocument/2006/relationships/slide" Target="/ppt/slides/slide3.xml" Id="R0fe909d0da424588" /><Relationship Type="http://schemas.openxmlformats.org/officeDocument/2006/relationships/slide" Target="/ppt/slides/slide4.xml" Id="R6c4eecdf9aa446d5" /><Relationship Type="http://schemas.openxmlformats.org/officeDocument/2006/relationships/slide" Target="/ppt/slides/slide5.xml" Id="R6906f4cff8164a58" /><Relationship Type="http://schemas.openxmlformats.org/officeDocument/2006/relationships/slide" Target="/ppt/slides/slide6.xml" Id="R6ca104838468407c" /><Relationship Type="http://schemas.openxmlformats.org/officeDocument/2006/relationships/slide" Target="/ppt/slides/slide7.xml" Id="R3fb8244d1e914c73" /><Relationship Type="http://schemas.openxmlformats.org/officeDocument/2006/relationships/slide" Target="/ppt/slides/slide8.xml" Id="R0656b3ea2c9c494e" /><Relationship Type="http://schemas.openxmlformats.org/officeDocument/2006/relationships/slide" Target="/ppt/slides/slide9.xml" Id="R09e05c1267e5468f" /><Relationship Type="http://schemas.openxmlformats.org/officeDocument/2006/relationships/slide" Target="/ppt/slides/slide10.xml" Id="Rcedab3d78b48461d" /><Relationship Type="http://schemas.openxmlformats.org/officeDocument/2006/relationships/slide" Target="/ppt/slides/slide11.xml" Id="R00d64b0881694ff2" /><Relationship Type="http://schemas.openxmlformats.org/officeDocument/2006/relationships/slide" Target="/ppt/slides/slide12.xml" Id="Rf68404e82eeb4559" /><Relationship Type="http://schemas.openxmlformats.org/officeDocument/2006/relationships/slide" Target="/ppt/slides/slide13.xml" Id="R3a643ac238084c1c" /><Relationship Type="http://schemas.openxmlformats.org/officeDocument/2006/relationships/slide" Target="/ppt/slides/slide14.xml" Id="R020ac1ddf33a4af4" /><Relationship Type="http://schemas.openxmlformats.org/officeDocument/2006/relationships/slide" Target="/ppt/slides/slide15.xml" Id="R3a4ba692954a49b4" /><Relationship Type="http://schemas.openxmlformats.org/officeDocument/2006/relationships/slide" Target="/ppt/slides/slide16.xml" Id="R86511f95bb0e487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8d365a194740a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dd0f409d67740f6" /><Relationship Type="http://schemas.openxmlformats.org/officeDocument/2006/relationships/notesMaster" Target="/ppt/notesMasters/notesMaster1.xml" Id="R3cc001ff476f42c2" /></Relationships>
</file>

<file path=ppt/notesSlides/_rels/notesSlide2.xml.rels>&#65279;<?xml version="1.0" encoding="utf-8"?><Relationships xmlns="http://schemas.openxmlformats.org/package/2006/relationships"><Relationship Type="http://schemas.openxmlformats.org/officeDocument/2006/relationships/slide" Target="/ppt/slides/slide2.xml" Id="Rb8cd984e420844d9" /><Relationship Type="http://schemas.openxmlformats.org/officeDocument/2006/relationships/notesMaster" Target="/ppt/notesMasters/notesMaster1.xml" Id="R8b3f9e4e91364a66" /></Relationships>
</file>

<file path=ppt/notesSlides/_rels/notesSlide3.xml.rels>&#65279;<?xml version="1.0" encoding="utf-8"?><Relationships xmlns="http://schemas.openxmlformats.org/package/2006/relationships"><Relationship Type="http://schemas.openxmlformats.org/officeDocument/2006/relationships/slide" Target="/ppt/slides/slide3.xml" Id="R3f9c22c131ea430f" /><Relationship Type="http://schemas.openxmlformats.org/officeDocument/2006/relationships/notesMaster" Target="/ppt/notesMasters/notesMaster1.xml" Id="R5cba0e81037a491b" /></Relationships>
</file>

<file path=ppt/notesSlides/_rels/notesSlide4.xml.rels>&#65279;<?xml version="1.0" encoding="utf-8"?><Relationships xmlns="http://schemas.openxmlformats.org/package/2006/relationships"><Relationship Type="http://schemas.openxmlformats.org/officeDocument/2006/relationships/slide" Target="/ppt/slides/slide4.xml" Id="Rf2ae3e31d9f54743" /><Relationship Type="http://schemas.openxmlformats.org/officeDocument/2006/relationships/notesMaster" Target="/ppt/notesMasters/notesMaster1.xml" Id="R41edd533a33f419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cba1d487ef74369" /><Relationship Type="http://schemas.openxmlformats.org/officeDocument/2006/relationships/notesMaster" Target="/ppt/notesMasters/notesMaster1.xml" Id="Ra60f35a49916492e" /></Relationships>
</file>

<file path=ppt/notesSlides/_rels/notesSlide6.xml.rels>&#65279;<?xml version="1.0" encoding="utf-8"?><Relationships xmlns="http://schemas.openxmlformats.org/package/2006/relationships"><Relationship Type="http://schemas.openxmlformats.org/officeDocument/2006/relationships/slide" Target="/ppt/slides/slide6.xml" Id="R9c6c7195dd67486f" /><Relationship Type="http://schemas.openxmlformats.org/officeDocument/2006/relationships/notesMaster" Target="/ppt/notesMasters/notesMaster1.xml" Id="R9228c5b3991f4297" /></Relationships>
</file>

<file path=ppt/notesSlides/_rels/notesSlide7.xml.rels>&#65279;<?xml version="1.0" encoding="utf-8"?><Relationships xmlns="http://schemas.openxmlformats.org/package/2006/relationships"><Relationship Type="http://schemas.openxmlformats.org/officeDocument/2006/relationships/slide" Target="/ppt/slides/slide7.xml" Id="Rc1c07aa94d5e4773" /><Relationship Type="http://schemas.openxmlformats.org/officeDocument/2006/relationships/notesMaster" Target="/ppt/notesMasters/notesMaster1.xml" Id="R05b11d497da84e15" /></Relationships>
</file>

<file path=ppt/notesSlides/_rels/notesSlide8.xml.rels>&#65279;<?xml version="1.0" encoding="utf-8"?><Relationships xmlns="http://schemas.openxmlformats.org/package/2006/relationships"><Relationship Type="http://schemas.openxmlformats.org/officeDocument/2006/relationships/slide" Target="/ppt/slides/slide8.xml" Id="R97d6a30613a942f8" /><Relationship Type="http://schemas.openxmlformats.org/officeDocument/2006/relationships/notesMaster" Target="/ppt/notesMasters/notesMaster1.xml" Id="R348d94fba09442d2" /></Relationships>
</file>

<file path=ppt/notesSlides/_rels/notesSlide9.xml.rels>&#65279;<?xml version="1.0" encoding="utf-8"?><Relationships xmlns="http://schemas.openxmlformats.org/package/2006/relationships"><Relationship Type="http://schemas.openxmlformats.org/officeDocument/2006/relationships/slide" Target="/ppt/slides/slide9.xml" Id="Rd5bd9cfd56ed4b76" /><Relationship Type="http://schemas.openxmlformats.org/officeDocument/2006/relationships/notesMaster" Target="/ppt/notesMasters/notesMaster1.xml" Id="R6c53c6a79fc5472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f982d3b1ee547e9" /><Relationship Type="http://schemas.openxmlformats.org/officeDocument/2006/relationships/notesMaster" Target="/ppt/notesMasters/notesMaster1.xml" Id="R02ed49dd8c5b435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c9aafa4f0d24254" /><Relationship Type="http://schemas.openxmlformats.org/officeDocument/2006/relationships/notesMaster" Target="/ppt/notesMasters/notesMaster1.xml" Id="R2e82545f137a47e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d4bf8e080f449d9" /><Relationship Type="http://schemas.openxmlformats.org/officeDocument/2006/relationships/notesMaster" Target="/ppt/notesMasters/notesMaster1.xml" Id="R6fc4ddb76e684cc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97dc5aa4ba34828" /><Relationship Type="http://schemas.openxmlformats.org/officeDocument/2006/relationships/notesMaster" Target="/ppt/notesMasters/notesMaster1.xml" Id="R85764a246230414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5cd8cced3334058" /><Relationship Type="http://schemas.openxmlformats.org/officeDocument/2006/relationships/notesMaster" Target="/ppt/notesMasters/notesMaster1.xml" Id="R000fa4ec51094e0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d536d780d7446b1" /><Relationship Type="http://schemas.openxmlformats.org/officeDocument/2006/relationships/notesMaster" Target="/ppt/notesMasters/notesMaster1.xml" Id="Re1dc8e5af56e450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f3cecf853bd49af" /><Relationship Type="http://schemas.openxmlformats.org/officeDocument/2006/relationships/notesMaster" Target="/ppt/notesMasters/notesMaster1.xml" Id="Rd8eb4c1fffd74ee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explaining the three routes: the 2×2 circuit makes a gate-level diagnostic example, the 3×3 game uses classical Minimax, and the 8×8 game uses a hybrid selector that applies Grover to integer move-list indices. Keep the claim precise: the project demonstrates a software integration and a small simulator study, not a measured quantum speedup.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implementation targets a clear demonstration boundary. Classical code owns the source of truth: board state, legal move generation, the heuristic ranking, decoding, and move application. The circuit path is either a diagnostic coordinate/status prototype or a Grover search over list indices. This lets us inspect the gates without implying that the whole chess game is encoded in qubits.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literature slide names the foundational methods, not a claim that this project is a new quantum chess algorithm. Grover’s 1996 paper gives the unstructured-search result. Brassard, Høyer, Mosca, and Tapp formalize amplitude amplification as a generalization of Grover’s search. Knuth and Moore analyze alpha-beta pruning. The project-specific question is implementation transparency and simulator resource measurement.</a:t>
            </a:r>
          </a:p>
          <a:p xmlns:a="http://schemas.openxmlformats.org/drawingml/2006/main">
            <a:r>
              <a:t/>
            </a:r>
          </a:p>
          <a:p xmlns:a="http://schemas.openxmlformats.org/drawingml/2006/main">
            <a:r>
              <a:t>Sources: Lov K. Grover, “A fast quantum mechanical algorithm for database search,” STOC 1996, https://arxiv.org/abs/quant-ph/9605043, DOI https://doi.org/10.1145/237814.237866. Gilles Brassard, Peter Høyer, Michele Mosca, and Alain Tapp, “Quantum Amplitude Amplification and Estimation,” 2002, https://arxiv.org/abs/quant-ph/0005055, DOI https://doi.org/10.1090/conm/305/05215. Donald E. Knuth and Ronald W. Moore, “An Analysis of Alpha-Beta Pruning,” Artificial Intelligence 6(4), 293–326 (1975), https://doi.org/10.1016/0004-3702(75)90019-3.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viewer from the shared classical state into three routes. The 2×2 and 3×3 pure-circuit demonstration receives a move that has already been chosen; it measures coordinate and status registers. The normal 3×3 AI route uses classical depth-3 Minimax. The 8×8 route scores legal moves classically, passes best indices into Grover, and then decodes and validates a Move in Python. The two quantum circuits solve different subproblems and are not composed into a single circuit.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2×2 demo has one Black Pawn at (0,0), so the legal forward move is (0,0) to (1,0). BoardEncoder writes column bits first and then row bits. Thus (0,0) is 0000 and (1,0) is 0001. Qiskit indexes qubits from the rightmost end of the displayed bit string, so tgt[0] stores the row bit in this encoding. The registers are cur=4, tgt=4, dir=4, src=3, dst=3, anc=5, for 23 quantum bits total. The compact three-bit status code uses 001 for a Black Pawn and 000 for empty. The board itself is not loaded as a coherent 4-square quantum register.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table as the stage-by-stage narration. First, build_full_chess_circuit receives a classical GameState and the already selected source/target. BoardEncoder initializes the coordinate wires. The status extractor loops over the Python board squares at build time and appends controlled operations for nonempty status values. Direction detection and status update are reversible gate routines. Measurement reports the quantum register state; a separate classical game method applies a move in interactive game routes. For option 7, the route stops after the pure-circuit diagnostic and does not apply the move to a persistent board.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to the blue X boxes first. X is a NOT gate: it flips |0⟩ to |1⟩ and |1⟩ to |0⟩. The target register starts at zero and X on tgt[0] loads the one bit of 0001. In the status lookup, the source is 0000; the builder temporarily complements all four zero-valued controls, creating the all-ones pattern needed by MCX. MCX flips only its target status qubit when every coordinate control is one. The gate then undoes the temporary X operations, restoring cur. For the only occupied square this writes src=001. The target is empty, so no nonzero status is written to dst. A CX flips its target under one control; a CCX requires two controls; an MCX requires all controls. Their targets here are status or ancilla wires, not chess-piece objects. The saved diagram includes measurements at the end of each wire’s use; Qiskit folds the long circuit to 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Qiskit measurement string in grouped register order: anc=00000, dst=000, src=001, dir=0000, tgt=0001, cur=0000. Concatenated, the expected one-shot key is 00000000001000000010000. The source status correctly reports a Black Pawn. The destination remains empty. In this code’s bit-slice convention, direction comparison uses the row bits for the equality test; the source and target rows differ, so the comparison does not set the expected forward direction. With direction still zero, the status operator’s multi-controlled gates do not fire. Option 7 also has one legal move and the default Grover helper treats all one candidates as targets, so it takes the all-target shortcut and returns before circuit construction. The later circuit is the pure coordinate/status diagnostic. Do not describe this as a Grover-amplified 2×2 move.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hybrid path begins with classical candidate construction: MoveGenerator returns legal Move objects, and HeuristicEvaluator.score_move assigns a score. QuantumMoveSearcher passes the highest-scoring list positions to GroverSearch. If there are L candidates, n=ceil(log2 L) qubits encode indices 0 through 2^n-1. Extra basis states are padding when L is not a power of two. H gates create a uniform superposition. The flag is prepared by X then H, taking |0⟩ to |1⟩ then |−⟩. The oracle uses X gates to turn zero index bits into one controls, applies MCX to the flag, and undoes those X gates. Python has already identified the target indices; chess rules and heuristic scores do not execute in superposition. The measured move register is decoded and validated classically. In the configured 3×3 example, the capture is index 0 with score 13.3 and the quiet move is index 1 with score 4.4, so the target list is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oracle’s phase flip changes signs, not probabilities: the target has amplitude −1/2 while unmarked states remain +1/2. Their mean amplitude is 1/4. The diffuser implements inversion about the mean: a-prime equals 2 times the mean minus the old amplitude. The target therefore becomes 1 and unmarked amplitudes become 0, so ideal measurement returns the target with probability 1 after one iteration. The circuit uses H^n, X^n, a central multi-controlled Z, X^n, H^n. With one index qubit, the central gate is Z. For the actual two-candidate example, N=2 and M=1, so the starting target probability is 1/2 and one iteration leaves it at 1/2. If measurement yields the non-target, this code returns the first target by classical fallback. This is why observed counts and the fallback must be explained separately. The console label “Prob Amplitude” is an empirical frequency, not an amplitude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Minimax assumes each side chooses to improve its own outcome. This implementation maximizes from White’s perspective and minimizes for Black. The 3×3 engine uses depth 3, meaning three plies, not three full move pairs. At depth zero it calls HeuristicEvaluator.evaluate, which delegates to material evaluation and adds a mobility term. It orders moves using a heuristic score, then alpha-beta pruning skips branches outside the current alpha/beta bounds. Pruning preserves the minimax choice while reducing explored nodes. In the ordinary 3×3 game route, main.py constructs HybridEngine with use_quantum=False. The pure circuit is a separate diagnostic called when a supplied game move is made; the 3×3 benchmark’s hybrid branch separately invokes Grover.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Menu option 1 sets the board size to eight and creates HybridEngine(use_quantum=True). If one legal move exists, HybridEngine returns it without Grover. Otherwise QuantumMoveSearcher scores legal moves classically and selects the best-scoring indices. GroverSearch encodes the candidate-list index, not the board. After measurement, Python decodes the integer, confirms it points to a target, and returns the corresponding Move. If quantum search yields no move, HybridEngine falls back to depth-3 Minimax. The board is then updated by Game.make_move. The separate architecture_8x8.png is a 33-qubit pure coordinate/status circuit drawing, not the circuit used by 8×8 hybrid gameplay.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checked-in results in evaluation/results/3x3_comparison_summary.csv and the corresponding chart. The average legal-move count is 2.25. The benchmark uses four seeded positions (seed 20261013), depth-3 Minimax for the classical selector, one shot for the pure circuit branch, and 2048 shots for the hybrid Grover branch. Both quantum branches use local CPU Aer matrix-product-state simulation with noise disabled; simulator setup is excluded from the timing. Treat these as measurements from one environment and one small input 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average extra peak RAM was 0.0068 MB for classical, 5.1924 MB for pure circuit, and 0.0430 MB for hybrid. These are sampled process RSS increases and can miss brief peaks. The classical branch reports selection time only. The pure branch processes a fixed legal move and reports circuit build plus simulation. The hybrid branch scores candidates, builds the Grover circuit, transpiles, and simulates it. All positions average 2.25 legal moves, so this is a very small search. Simulator overhead and shots can dominate here. The measurements are not an apples-to-apples benchmark and do not establish a quantum speedup or stronger play.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shot is one circuit run followed by measurement. Qiskit Aer is a classical simulator; it is not a physical quantum processor. The shared QuantumSimulator wrapper centralizes settings and builds a configurable noise model. Defaults in config.py are 1024 shots and noise enabled, with a 0.01 single-qubit depolarizing parameter and a two-qubit setting scaled by ten for selected gates. That number is a model parameter, not an empirical hardware gate error rate. Routes override defaults: the 2×2 interactive route uses direct Aer statevector with one shot, and the benchmark disables noise and uses a CPU matrix-product-state simulator. Always report backend, shots, and noise setting when citing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distinguishing implementation from aspiration. The 2×2 circuit is valuable because its wires and control logic can be explained gate by gate, even though the direction comparator and status operator do not complete the example. The 3×3 route grounds the project in an opponent-aware classical baseline. The 8×8 route demonstrates a hybrid software pipeline around Grover’s move-index search. The local benchmark reflects simulator overhead and unequal tasks, not hardware advantage. A defensible next step is to correct and test the small-board reversible logic, then perform a matched evaluation over larger candidate lists with fixed hardware/backend, shots, and noise settings.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9a2f4a5b27d4f4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88dbca7f33c4af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1616de1b0774f5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21e7121c005451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f3001c54e3b4bb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0722c94c62544c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60DF38A-730B-44DC-8C69-F347898627D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89FF3C6-E1A4-4DB5-843C-1238300794F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268C513-AA2D-4033-8EFD-73FF633777D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A551CA-7666-49DB-8D66-81165B022F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2DDB622-DE00-4C90-AF8C-4EE0F8D7A89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09B7D2C-5A74-4098-88DC-BA4EBA7D2E1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DE0DE5F-6E65-4A2B-B0F2-7761C25A761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63E4D99-B8D0-4D51-B105-DE6D7194A2B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E7B61BC-E613-4691-B8FE-9D4975BFDCA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B3D01F-3CBA-4C7B-9AB2-8F1D510569B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fec646c013b4835" /><Relationship Type="http://schemas.openxmlformats.org/officeDocument/2006/relationships/slideLayout" Target="/ppt/slideLayouts/slideLayout1.xml" Id="Rd76d99e1eed640c6" /><Relationship Type="http://schemas.openxmlformats.org/officeDocument/2006/relationships/slideLayout" Target="/ppt/slideLayouts/slideLayout2.xml" Id="R94227ed5458c4d2b" /><Relationship Type="http://schemas.openxmlformats.org/officeDocument/2006/relationships/slideLayout" Target="/ppt/slideLayouts/slideLayout3.xml" Id="Rb0768dca4b3c4f49" /><Relationship Type="http://schemas.openxmlformats.org/officeDocument/2006/relationships/slideLayout" Target="/ppt/slideLayouts/slideLayout4.xml" Id="R7a4d2be46abb47ae" /><Relationship Type="http://schemas.openxmlformats.org/officeDocument/2006/relationships/slideLayout" Target="/ppt/slideLayouts/slideLayout5.xml" Id="R23c17cc00d3f4eba" /><Relationship Type="http://schemas.openxmlformats.org/officeDocument/2006/relationships/slideLayout" Target="/ppt/slideLayouts/slideLayout6.xml" Id="R081037172612460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76d99e1eed640c6"/>
    <p:sldLayoutId xmlns:r="http://schemas.openxmlformats.org/officeDocument/2006/relationships" id="2147483650" r:id="R94227ed5458c4d2b"/>
    <p:sldLayoutId xmlns:r="http://schemas.openxmlformats.org/officeDocument/2006/relationships" id="2147483651" r:id="Rb0768dca4b3c4f49"/>
    <p:sldLayoutId xmlns:r="http://schemas.openxmlformats.org/officeDocument/2006/relationships" id="2147483652" r:id="R7a4d2be46abb47ae"/>
    <p:sldLayoutId xmlns:r="http://schemas.openxmlformats.org/officeDocument/2006/relationships" id="2147483653" r:id="R23c17cc00d3f4eba"/>
    <p:sldLayoutId xmlns:r="http://schemas.openxmlformats.org/officeDocument/2006/relationships" id="2147483654" r:id="R081037172612460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0289643fcc14046" /><Relationship Type="http://schemas.openxmlformats.org/officeDocument/2006/relationships/notesSlide" Target="/ppt/notesSlides/notesSlide1.xml" Id="Rc940bb718b2a4de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d392dc2811d4643" /><Relationship Type="http://schemas.openxmlformats.org/officeDocument/2006/relationships/notesSlide" Target="/ppt/notesSlides/notesSlide2.xml" Id="Ra53b5078d74049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ac16c6b4d3d43b5" /><Relationship Type="http://schemas.openxmlformats.org/officeDocument/2006/relationships/notesSlide" Target="/ppt/notesSlides/notesSlide3.xml" Id="Re37dcbe3938d4db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149fd936b5d4122" /><Relationship Type="http://schemas.openxmlformats.org/officeDocument/2006/relationships/notesSlide" Target="/ppt/notesSlides/notesSlide4.xml" Id="R28265c4be73a4ba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5f8968669c1451d" /><Relationship Type="http://schemas.openxmlformats.org/officeDocument/2006/relationships/notesSlide" Target="/ppt/notesSlides/notesSlide5.xml" Id="R90ee4f341cb4475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4ad9c35efc449fb" /><Relationship Type="http://schemas.openxmlformats.org/officeDocument/2006/relationships/notesSlide" Target="/ppt/notesSlides/notesSlide6.xml" Id="Rd16652ab6cc34a9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e547009951f4469" /><Relationship Type="http://schemas.openxmlformats.org/officeDocument/2006/relationships/image" Target="/ppt/media/image.png" Id="R576b84c7e1ad4fdb" /><Relationship Type="http://schemas.openxmlformats.org/officeDocument/2006/relationships/notesSlide" Target="/ppt/notesSlides/notesSlide7.xml" Id="R795742c76b66456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9e2f77ed58143c1" /><Relationship Type="http://schemas.openxmlformats.org/officeDocument/2006/relationships/notesSlide" Target="/ppt/notesSlides/notesSlide8.xml" Id="Ra403d41ee3c44cb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81994452c6c45ca" /><Relationship Type="http://schemas.openxmlformats.org/officeDocument/2006/relationships/notesSlide" Target="/ppt/notesSlides/notesSlide9.xml" Id="Rb63f13f2fb83480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ce30eabbbdc4ecf" /><Relationship Type="http://schemas.openxmlformats.org/officeDocument/2006/relationships/notesSlide" Target="/ppt/notesSlides/notesSlide10.xml" Id="Rfd145f712e4144b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a8a793d55c14296" /><Relationship Type="http://schemas.openxmlformats.org/officeDocument/2006/relationships/notesSlide" Target="/ppt/notesSlides/notesSlide11.xml" Id="R74583227e7a649a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a9174763b014af8" /><Relationship Type="http://schemas.openxmlformats.org/officeDocument/2006/relationships/notesSlide" Target="/ppt/notesSlides/notesSlide12.xml" Id="Rd9d93f43a1aa4c8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ab623f23cbc41b8" /><Relationship Type="http://schemas.openxmlformats.org/officeDocument/2006/relationships/image" Target="/ppt/media/image2.png" Id="R8f5f83c9b5124627" /><Relationship Type="http://schemas.openxmlformats.org/officeDocument/2006/relationships/notesSlide" Target="/ppt/notesSlides/notesSlide13.xml" Id="Rffbc0f138879469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afe8faaa67448da" /><Relationship Type="http://schemas.openxmlformats.org/officeDocument/2006/relationships/notesSlide" Target="/ppt/notesSlides/notesSlide14.xml" Id="R23826eb399c9458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080b7ee4f2b42db" /><Relationship Type="http://schemas.openxmlformats.org/officeDocument/2006/relationships/notesSlide" Target="/ppt/notesSlides/notesSlide15.xml" Id="Rb92a75620769425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fb32160670f4c11" /><Relationship Type="http://schemas.openxmlformats.org/officeDocument/2006/relationships/notesSlide" Target="/ppt/notesSlides/notesSlide16.xml" Id="R25d6edc3294f4cc7" /></Relationships>
</file>

<file path=ppt/slides/slide1.xml><?xml version="1.0" encoding="utf-8"?>
<p:sld xmlns:p="http://schemas.openxmlformats.org/presentationml/2006/main">
  <p:cSld>
    <p:bg>
      <p:bgPr>
        <a:solidFill xmlns:a="http://schemas.openxmlformats.org/drawingml/2006/main">
          <a:srgbClr val="0B142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EC05A35-F7A5-4173-B7BF-83371AE4BADC}"/>
              </a:ext>
            </a:extLst>
          </p:cNvPr>
          <p:cNvSpPr>
            <a:spLocks xmlns:a="http://schemas.openxmlformats.org/drawingml/2006/main" noGrp="1"/>
          </p:cNvSpPr>
          <p:nvPr/>
        </p:nvSpPr>
        <p:spPr>
          <a:xfrm xmlns:a="http://schemas.openxmlformats.org/drawingml/2006/main">
            <a:off x="685800" y="866775"/>
            <a:ext cx="76200" cy="4762500"/>
          </a:xfrm>
          <a:prstGeom xmlns:a="http://schemas.openxmlformats.org/drawingml/2006/main" prst="rect">
            <a:avLst/>
          </a:prstGeom>
          <a:solidFill xmlns:a="http://schemas.openxmlformats.org/drawingml/2006/main">
            <a:srgbClr val="62D6C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327910E-DC65-45F0-829A-97E25349FE70}"/>
              </a:ext>
            </a:extLst>
          </p:cNvPr>
          <p:cNvSpPr>
            <a:spLocks xmlns:a="http://schemas.openxmlformats.org/drawingml/2006/main" noGrp="1"/>
          </p:cNvSpPr>
          <p:nvPr/>
        </p:nvSpPr>
        <p:spPr>
          <a:xfrm xmlns:a="http://schemas.openxmlformats.org/drawingml/2006/main">
            <a:off x="1066800" y="1076325"/>
            <a:ext cx="7810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500" b="1" i="0">
                <a:solidFill>
                  <a:srgbClr val="F4F7FB"/>
                </a:solidFill>
                <a:latin typeface="Inter"/>
                <a:ea typeface="Inter"/>
                <a:cs typeface="Inter"/>
              </a:defRPr>
            </a:defPPr>
          </a:lstStyle>
          <a:p xmlns:a="http://schemas.openxmlformats.org/drawingml/2006/main">
            <a:pPr algn="l">
              <a:lnSpc>
                <a:spcPct val="93000"/>
              </a:lnSpc>
              <a:buNone/>
              <a:defRPr sz="4500" b="1" i="0">
                <a:solidFill>
                  <a:srgbClr val="F4F7FB"/>
                </a:solidFill>
                <a:latin typeface="Inter"/>
                <a:ea typeface="Inter"/>
                <a:cs typeface="Inter"/>
              </a:defRPr>
            </a:pPr>
            <a:r>
              <a:rPr sz="4500" b="1" i="0">
                <a:solidFill>
                  <a:srgbClr val="F4F7FB"/>
                </a:solidFill>
                <a:latin typeface="Inter"/>
                <a:ea typeface="Inter"/>
                <a:cs typeface="Inter"/>
              </a:rPr>
              <a:t>HYBRID QUANTUM</a:t>
            </a:r>
          </a:p>
          <a:p xmlns:a="http://schemas.openxmlformats.org/drawingml/2006/main">
            <a:pPr algn="l">
              <a:lnSpc>
                <a:spcPct val="93000"/>
              </a:lnSpc>
              <a:buNone/>
              <a:defRPr sz="4500" b="1" i="0">
                <a:solidFill>
                  <a:srgbClr val="F4F7FB"/>
                </a:solidFill>
                <a:latin typeface="Inter"/>
                <a:ea typeface="Inter"/>
                <a:cs typeface="Inter"/>
              </a:defRPr>
            </a:pPr>
            <a:r>
              <a:rPr sz="4500" b="1" i="0">
                <a:solidFill>
                  <a:srgbClr val="F4F7FB"/>
                </a:solidFill>
                <a:latin typeface="Inter"/>
                <a:ea typeface="Inter"/>
                <a:cs typeface="Inter"/>
              </a:rPr>
              <a:t>CHESS ENGINE</a:t>
            </a:r>
          </a:p>
        </p:txBody>
      </p:sp>
      <p:sp>
        <p:nvSpPr>
          <p:cNvPr id="3" name="">
            <a:extLst xmlns:a="http://schemas.openxmlformats.org/drawingml/2006/main">
              <a:ext uri="{FF2B5EF4-FFF2-40B4-BE49-F238E27FC236}">
                <a16:creationId xmlns:a16="http://schemas.microsoft.com/office/drawing/2014/main" id="{7F8F9A6D-2B9D-430D-84E0-B0FA892365B6}"/>
              </a:ext>
            </a:extLst>
          </p:cNvPr>
          <p:cNvSpPr>
            <a:spLocks xmlns:a="http://schemas.openxmlformats.org/drawingml/2006/main" noGrp="1"/>
          </p:cNvSpPr>
          <p:nvPr/>
        </p:nvSpPr>
        <p:spPr>
          <a:xfrm xmlns:a="http://schemas.openxmlformats.org/drawingml/2006/main">
            <a:off x="1095375" y="3038475"/>
            <a:ext cx="8334375"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0" i="0">
                <a:solidFill>
                  <a:srgbClr val="B8C6D9"/>
                </a:solidFill>
                <a:latin typeface="Inter"/>
                <a:ea typeface="Inter"/>
                <a:cs typeface="Inter"/>
              </a:defRPr>
            </a:defPPr>
          </a:lstStyle>
          <a:p xmlns:a="http://schemas.openxmlformats.org/drawingml/2006/main">
            <a:pPr algn="l">
              <a:lnSpc>
                <a:spcPct val="112000"/>
              </a:lnSpc>
              <a:buNone/>
              <a:defRPr sz="1950" b="0" i="0">
                <a:solidFill>
                  <a:srgbClr val="B8C6D9"/>
                </a:solidFill>
                <a:latin typeface="Inter"/>
                <a:ea typeface="Inter"/>
                <a:cs typeface="Inter"/>
              </a:defRPr>
            </a:pPr>
            <a:r>
              <a:rPr sz="1950" b="0" i="0">
                <a:solidFill>
                  <a:srgbClr val="B8C6D9"/>
                </a:solidFill>
                <a:latin typeface="Inter"/>
                <a:ea typeface="Inter"/>
                <a:cs typeface="Inter"/>
              </a:rPr>
              <a:t>How the 2×2 circuit works, how Grover amplifies move indices,</a:t>
            </a:r>
          </a:p>
          <a:p xmlns:a="http://schemas.openxmlformats.org/drawingml/2006/main">
            <a:pPr algn="l">
              <a:lnSpc>
                <a:spcPct val="112000"/>
              </a:lnSpc>
              <a:buNone/>
              <a:defRPr sz="1950" b="0" i="0">
                <a:solidFill>
                  <a:srgbClr val="B8C6D9"/>
                </a:solidFill>
                <a:latin typeface="Inter"/>
                <a:ea typeface="Inter"/>
                <a:cs typeface="Inter"/>
              </a:defRPr>
            </a:pPr>
            <a:r>
              <a:rPr sz="1950" b="0" i="0">
                <a:solidFill>
                  <a:srgbClr val="B8C6D9"/>
                </a:solidFill>
                <a:latin typeface="Inter"/>
                <a:ea typeface="Inter"/>
                <a:cs typeface="Inter"/>
              </a:rPr>
              <a:t>and how the 3×3 and 8×8 routes fit together</a:t>
            </a:r>
          </a:p>
        </p:txBody>
      </p:sp>
      <p:sp>
        <p:nvSpPr>
          <p:cNvPr id="4" name="">
            <a:extLst xmlns:a="http://schemas.openxmlformats.org/drawingml/2006/main">
              <a:ext uri="{FF2B5EF4-FFF2-40B4-BE49-F238E27FC236}">
                <a16:creationId xmlns:a16="http://schemas.microsoft.com/office/drawing/2014/main" id="{ED88EC1D-917C-477E-8C14-186985AD2D8D}"/>
              </a:ext>
            </a:extLst>
          </p:cNvPr>
          <p:cNvSpPr>
            <a:spLocks xmlns:a="http://schemas.openxmlformats.org/drawingml/2006/main" noGrp="1"/>
          </p:cNvSpPr>
          <p:nvPr/>
        </p:nvSpPr>
        <p:spPr>
          <a:xfrm xmlns:a="http://schemas.openxmlformats.org/drawingml/2006/main">
            <a:off x="1095375" y="4343400"/>
            <a:ext cx="7667625" cy="14288"/>
          </a:xfrm>
          <a:prstGeom xmlns:a="http://schemas.openxmlformats.org/drawingml/2006/main" prst="rect">
            <a:avLst/>
          </a:prstGeom>
          <a:solidFill xmlns:a="http://schemas.openxmlformats.org/drawingml/2006/main">
            <a:srgbClr val="354861"/>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18B8178-8359-459F-8CCC-283013CA1792}"/>
              </a:ext>
            </a:extLst>
          </p:cNvPr>
          <p:cNvSpPr>
            <a:spLocks xmlns:a="http://schemas.openxmlformats.org/drawingml/2006/main" noGrp="1"/>
          </p:cNvSpPr>
          <p:nvPr/>
        </p:nvSpPr>
        <p:spPr>
          <a:xfrm xmlns:a="http://schemas.openxmlformats.org/drawingml/2006/main">
            <a:off x="1095375" y="457200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i="0">
                <a:solidFill>
                  <a:srgbClr val="62D6C7"/>
                </a:solidFill>
                <a:latin typeface="Inter"/>
                <a:ea typeface="Inter"/>
                <a:cs typeface="Inter"/>
              </a:defRPr>
            </a:defPPr>
          </a:lstStyle>
          <a:p xmlns:a="http://schemas.openxmlformats.org/drawingml/2006/main">
            <a:pPr algn="l">
              <a:lnSpc>
                <a:spcPct val="108000"/>
              </a:lnSpc>
              <a:buNone/>
              <a:defRPr sz="1200" b="1" i="0">
                <a:solidFill>
                  <a:srgbClr val="62D6C7"/>
                </a:solidFill>
                <a:latin typeface="Inter"/>
                <a:ea typeface="Inter"/>
                <a:cs typeface="Inter"/>
              </a:defRPr>
            </a:pPr>
            <a:r>
              <a:rPr sz="1200" b="1" i="0">
                <a:solidFill>
                  <a:srgbClr val="62D6C7"/>
                </a:solidFill>
                <a:latin typeface="Inter"/>
                <a:ea typeface="Inter"/>
                <a:cs typeface="Inter"/>
              </a:rPr>
              <a:t>FACULTY PROJECT WALKTHROUGH</a:t>
            </a:r>
          </a:p>
        </p:txBody>
      </p:sp>
      <p:sp>
        <p:nvSpPr>
          <p:cNvPr id="6" name="">
            <a:extLst xmlns:a="http://schemas.openxmlformats.org/drawingml/2006/main">
              <a:ext uri="{FF2B5EF4-FFF2-40B4-BE49-F238E27FC236}">
                <a16:creationId xmlns:a16="http://schemas.microsoft.com/office/drawing/2014/main" id="{65B03E44-2808-4BF2-A4E9-E1A14C8ACDFE}"/>
              </a:ext>
            </a:extLst>
          </p:cNvPr>
          <p:cNvSpPr>
            <a:spLocks xmlns:a="http://schemas.openxmlformats.org/drawingml/2006/main" noGrp="1"/>
          </p:cNvSpPr>
          <p:nvPr/>
        </p:nvSpPr>
        <p:spPr>
          <a:xfrm xmlns:a="http://schemas.openxmlformats.org/drawingml/2006/main">
            <a:off x="1095375" y="504825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i="0">
                <a:solidFill>
                  <a:srgbClr val="F4F7FB"/>
                </a:solidFill>
                <a:latin typeface="Inter"/>
                <a:ea typeface="Inter"/>
                <a:cs typeface="Inter"/>
              </a:defRPr>
            </a:defPPr>
          </a:lstStyle>
          <a:p xmlns:a="http://schemas.openxmlformats.org/drawingml/2006/main">
            <a:pPr algn="l">
              <a:lnSpc>
                <a:spcPct val="108000"/>
              </a:lnSpc>
              <a:buNone/>
              <a:defRPr sz="1725" b="0" i="0">
                <a:solidFill>
                  <a:srgbClr val="F4F7FB"/>
                </a:solidFill>
                <a:latin typeface="Inter"/>
                <a:ea typeface="Inter"/>
                <a:cs typeface="Inter"/>
              </a:defRPr>
            </a:pPr>
            <a:r>
              <a:rPr sz="1725" b="0" i="0">
                <a:solidFill>
                  <a:srgbClr val="F4F7FB"/>
                </a:solidFill>
                <a:latin typeface="Inter"/>
                <a:ea typeface="Inter"/>
                <a:cs typeface="Inter"/>
              </a:rPr>
              <a:t>2×2  /  3×3  /  8×8</a:t>
            </a:r>
          </a:p>
        </p:txBody>
      </p:sp>
    </p:spTree>
    <p:extLst>
      <p:ext uri="{BB962C8B-B14F-4D97-AF65-F5344CB8AC3E}">
        <p14:creationId xmlns:p14="http://schemas.microsoft.com/office/powerpoint/2010/main" val="1502612776"/>
      </p:ext>
    </p:extLst>
  </p:cSld>
</p:sld>
</file>

<file path=ppt/slides/slide2.xml><?xml version="1.0" encoding="utf-8"?>
<p:sld xmlns:p="http://schemas.openxmlformats.org/presentationml/2006/main">
  <p:cSld>
    <p:bg>
      <p:bgPr>
        <a:solidFill xmlns:a="http://schemas.openxmlformats.org/drawingml/2006/main">
          <a:srgbClr val="0B142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8A2820F-9ABA-4C41-90FE-DA47248F5F4E}"/>
              </a:ext>
            </a:extLst>
          </p:cNvPr>
          <p:cNvSpPr>
            <a:spLocks xmlns:a="http://schemas.openxmlformats.org/drawingml/2006/main" noGrp="1"/>
          </p:cNvSpPr>
          <p:nvPr/>
        </p:nvSpPr>
        <p:spPr>
          <a:xfrm xmlns:a="http://schemas.openxmlformats.org/drawingml/2006/main">
            <a:off x="685800" y="4000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75" b="1" i="0">
                <a:solidFill>
                  <a:srgbClr val="F4F7FB"/>
                </a:solidFill>
                <a:latin typeface="Inter"/>
                <a:ea typeface="Inter"/>
                <a:cs typeface="Inter"/>
              </a:defRPr>
            </a:defPPr>
          </a:lstStyle>
          <a:p xmlns:a="http://schemas.openxmlformats.org/drawingml/2006/main">
            <a:pPr algn="l">
              <a:lnSpc>
                <a:spcPct val="108000"/>
              </a:lnSpc>
              <a:buNone/>
              <a:defRPr sz="2775" b="1" i="0">
                <a:solidFill>
                  <a:srgbClr val="F4F7FB"/>
                </a:solidFill>
                <a:latin typeface="Inter"/>
                <a:ea typeface="Inter"/>
                <a:cs typeface="Inter"/>
              </a:defRPr>
            </a:pPr>
            <a:r>
              <a:rPr sz="2775" b="1" i="0">
                <a:solidFill>
                  <a:srgbClr val="F4F7FB"/>
                </a:solidFill>
                <a:latin typeface="Inter"/>
                <a:ea typeface="Inter"/>
                <a:cs typeface="Inter"/>
              </a:rPr>
              <a:t>The project separates rule handling from quantum search</a:t>
            </a:r>
          </a:p>
        </p:txBody>
      </p:sp>
      <p:sp>
        <p:nvSpPr>
          <p:cNvPr id="2" name="">
            <a:extLst xmlns:a="http://schemas.openxmlformats.org/drawingml/2006/main">
              <a:ext uri="{FF2B5EF4-FFF2-40B4-BE49-F238E27FC236}">
                <a16:creationId xmlns:a16="http://schemas.microsoft.com/office/drawing/2014/main" id="{AEFFB7E6-EEB4-453E-8616-5CE7E1256C74}"/>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62D6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E1247CC-D02D-4D86-9A87-B6727E305594}"/>
              </a:ext>
            </a:extLst>
          </p:cNvPr>
          <p:cNvSpPr>
            <a:spLocks xmlns:a="http://schemas.openxmlformats.org/drawingml/2006/main" noGrp="1"/>
          </p:cNvSpPr>
          <p:nvPr/>
        </p:nvSpPr>
        <p:spPr>
          <a:xfrm xmlns:a="http://schemas.openxmlformats.org/drawingml/2006/main">
            <a:off x="704850" y="1162050"/>
            <a:ext cx="1078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B8C6D9"/>
                </a:solidFill>
                <a:latin typeface="Inter"/>
                <a:ea typeface="Inter"/>
                <a:cs typeface="Inter"/>
              </a:defRPr>
            </a:defPPr>
          </a:lstStyle>
          <a:p xmlns:a="http://schemas.openxmlformats.org/drawingml/2006/main">
            <a:pPr algn="l">
              <a:lnSpc>
                <a:spcPct val="108000"/>
              </a:lnSpc>
              <a:buNone/>
              <a:defRPr sz="1275" b="0" i="0">
                <a:solidFill>
                  <a:srgbClr val="B8C6D9"/>
                </a:solidFill>
                <a:latin typeface="Inter"/>
                <a:ea typeface="Inter"/>
                <a:cs typeface="Inter"/>
              </a:defRPr>
            </a:pPr>
            <a:r>
              <a:rPr sz="1275" b="0" i="0">
                <a:solidFill>
                  <a:srgbClr val="B8C6D9"/>
                </a:solidFill>
                <a:latin typeface="Inter"/>
                <a:ea typeface="Inter"/>
                <a:cs typeface="Inter"/>
              </a:rPr>
              <a:t>Problem framing and the proposed implementation split</a:t>
            </a:r>
          </a:p>
        </p:txBody>
      </p:sp>
      <p:sp>
        <p:nvSpPr>
          <p:cNvPr id="4" name="">
            <a:extLst xmlns:a="http://schemas.openxmlformats.org/drawingml/2006/main">
              <a:ext uri="{FF2B5EF4-FFF2-40B4-BE49-F238E27FC236}">
                <a16:creationId xmlns:a16="http://schemas.microsoft.com/office/drawing/2014/main" id="{2FF0EA84-EF82-40FF-A4C0-34F823F5BCF6}"/>
              </a:ext>
            </a:extLst>
          </p:cNvPr>
          <p:cNvSpPr>
            <a:spLocks xmlns:a="http://schemas.openxmlformats.org/drawingml/2006/main" noGrp="1"/>
          </p:cNvSpPr>
          <p:nvPr/>
        </p:nvSpPr>
        <p:spPr>
          <a:xfrm xmlns:a="http://schemas.openxmlformats.org/drawingml/2006/main">
            <a:off x="781050" y="16954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62D6C7"/>
                </a:solidFill>
                <a:latin typeface="Inter"/>
                <a:ea typeface="Inter"/>
                <a:cs typeface="Inter"/>
              </a:defRPr>
            </a:defPPr>
          </a:lstStyle>
          <a:p xmlns:a="http://schemas.openxmlformats.org/drawingml/2006/main">
            <a:pPr algn="l">
              <a:lnSpc>
                <a:spcPct val="108000"/>
              </a:lnSpc>
              <a:buNone/>
              <a:defRPr sz="1275" b="1" i="0">
                <a:solidFill>
                  <a:srgbClr val="62D6C7"/>
                </a:solidFill>
                <a:latin typeface="Inter"/>
                <a:ea typeface="Inter"/>
                <a:cs typeface="Inter"/>
              </a:defRPr>
            </a:pPr>
            <a:r>
              <a:rPr sz="1275" b="1" i="0">
                <a:solidFill>
                  <a:srgbClr val="62D6C7"/>
                </a:solidFill>
                <a:latin typeface="Inter"/>
                <a:ea typeface="Inter"/>
                <a:cs typeface="Inter"/>
              </a:rPr>
              <a:t>WHAT THE ENGINE MUST DO</a:t>
            </a:r>
          </a:p>
        </p:txBody>
      </p:sp>
      <p:sp>
        <p:nvSpPr>
          <p:cNvPr id="5" name="">
            <a:extLst xmlns:a="http://schemas.openxmlformats.org/drawingml/2006/main">
              <a:ext uri="{FF2B5EF4-FFF2-40B4-BE49-F238E27FC236}">
                <a16:creationId xmlns:a16="http://schemas.microsoft.com/office/drawing/2014/main" id="{6F7D36B2-1BFB-47EE-A625-79BCD3FF2922}"/>
              </a:ext>
            </a:extLst>
          </p:cNvPr>
          <p:cNvSpPr>
            <a:spLocks xmlns:a="http://schemas.openxmlformats.org/drawingml/2006/main" noGrp="1"/>
          </p:cNvSpPr>
          <p:nvPr/>
        </p:nvSpPr>
        <p:spPr>
          <a:xfrm xmlns:a="http://schemas.openxmlformats.org/drawingml/2006/main">
            <a:off x="809625" y="2133600"/>
            <a:ext cx="4810125"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800">
                <a:solidFill>
                  <a:srgbClr val="F4F7FB"/>
                </a:solidFill>
                <a:latin typeface="Inter"/>
                <a:ea typeface="Inter"/>
                <a:cs typeface="Inter"/>
              </a:defRPr>
            </a:defPPr>
          </a:lstStyle>
          <a:p xmlns:a="http://schemas.openxmlformats.org/drawingml/2006/main">
            <a:pPr marL="241300" indent="-127000">
              <a:lnSpc>
                <a:spcPct val="105000"/>
              </a:lnSpc>
              <a:spcAft>
                <a:spcPts val="1500"/>
              </a:spcAft>
              <a:buNone/>
              <a:defRPr sz="1800">
                <a:solidFill>
                  <a:srgbClr val="F4F7FB"/>
                </a:solidFill>
                <a:latin typeface="Inter"/>
                <a:ea typeface="Inter"/>
                <a:cs typeface="Inter"/>
              </a:defRPr>
            </a:pPr>
            <a:r>
              <a:rPr sz="1800">
                <a:solidFill>
                  <a:srgbClr val="F4F7FB"/>
                </a:solidFill>
                <a:latin typeface="Inter"/>
                <a:ea typeface="Inter"/>
                <a:cs typeface="Inter"/>
              </a:rPr>
              <a:t>Generate legal moves from a changing chess state.</a:t>
            </a:r>
          </a:p>
          <a:p xmlns:a="http://schemas.openxmlformats.org/drawingml/2006/main">
            <a:pPr marL="241300" indent="-127000">
              <a:lnSpc>
                <a:spcPct val="105000"/>
              </a:lnSpc>
              <a:spcAft>
                <a:spcPts val="1500"/>
              </a:spcAft>
              <a:buNone/>
              <a:defRPr sz="1800">
                <a:solidFill>
                  <a:srgbClr val="F4F7FB"/>
                </a:solidFill>
                <a:latin typeface="Inter"/>
                <a:ea typeface="Inter"/>
                <a:cs typeface="Inter"/>
              </a:defRPr>
            </a:pPr>
            <a:r>
              <a:rPr sz="1800">
                <a:solidFill>
                  <a:srgbClr val="F4F7FB"/>
                </a:solidFill>
                <a:latin typeface="Inter"/>
                <a:ea typeface="Inter"/>
                <a:cs typeface="Inter"/>
              </a:rPr>
              <a:t>Rank candidates while accounting for captures, position, and opponent replies.</a:t>
            </a:r>
          </a:p>
          <a:p xmlns:a="http://schemas.openxmlformats.org/drawingml/2006/main">
            <a:pPr marL="241300" indent="-127000">
              <a:lnSpc>
                <a:spcPct val="105000"/>
              </a:lnSpc>
              <a:spcAft>
                <a:spcPts val="1500"/>
              </a:spcAft>
              <a:buNone/>
              <a:defRPr sz="1800">
                <a:solidFill>
                  <a:srgbClr val="F4F7FB"/>
                </a:solidFill>
                <a:latin typeface="Inter"/>
                <a:ea typeface="Inter"/>
                <a:cs typeface="Inter"/>
              </a:defRPr>
            </a:pPr>
            <a:r>
              <a:rPr sz="1800">
                <a:solidFill>
                  <a:srgbClr val="F4F7FB"/>
                </a:solidFill>
                <a:latin typeface="Inter"/>
                <a:ea typeface="Inter"/>
                <a:cs typeface="Inter"/>
              </a:rPr>
              <a:t>Make the quantum steps visible enough to explain gate by gate.</a:t>
            </a:r>
          </a:p>
        </p:txBody>
      </p:sp>
      <p:sp>
        <p:nvSpPr>
          <p:cNvPr id="6" name="">
            <a:extLst xmlns:a="http://schemas.openxmlformats.org/drawingml/2006/main">
              <a:ext uri="{FF2B5EF4-FFF2-40B4-BE49-F238E27FC236}">
                <a16:creationId xmlns:a16="http://schemas.microsoft.com/office/drawing/2014/main" id="{E8596EF1-E8C2-416A-9ED7-CD397C465FC2}"/>
              </a:ext>
            </a:extLst>
          </p:cNvPr>
          <p:cNvSpPr>
            <a:spLocks xmlns:a="http://schemas.openxmlformats.org/drawingml/2006/main" noGrp="1"/>
          </p:cNvSpPr>
          <p:nvPr/>
        </p:nvSpPr>
        <p:spPr>
          <a:xfrm xmlns:a="http://schemas.openxmlformats.org/drawingml/2006/main">
            <a:off x="5962650" y="1666875"/>
            <a:ext cx="19050" cy="3810000"/>
          </a:xfrm>
          <a:prstGeom xmlns:a="http://schemas.openxmlformats.org/drawingml/2006/main" prst="rect">
            <a:avLst/>
          </a:prstGeom>
          <a:solidFill xmlns:a="http://schemas.openxmlformats.org/drawingml/2006/main">
            <a:srgbClr val="35486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A6B80B0-CF93-4B36-8515-15780B4E09D9}"/>
              </a:ext>
            </a:extLst>
          </p:cNvPr>
          <p:cNvSpPr>
            <a:spLocks xmlns:a="http://schemas.openxmlformats.org/drawingml/2006/main" noGrp="1"/>
          </p:cNvSpPr>
          <p:nvPr/>
        </p:nvSpPr>
        <p:spPr>
          <a:xfrm xmlns:a="http://schemas.openxmlformats.org/drawingml/2006/main">
            <a:off x="6457950" y="1695450"/>
            <a:ext cx="504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2C66D"/>
                </a:solidFill>
                <a:latin typeface="Inter"/>
                <a:ea typeface="Inter"/>
                <a:cs typeface="Inter"/>
              </a:defRPr>
            </a:defPPr>
          </a:lstStyle>
          <a:p xmlns:a="http://schemas.openxmlformats.org/drawingml/2006/main">
            <a:pPr algn="l">
              <a:lnSpc>
                <a:spcPct val="108000"/>
              </a:lnSpc>
              <a:buNone/>
              <a:defRPr sz="1275" b="1" i="0">
                <a:solidFill>
                  <a:srgbClr val="F2C66D"/>
                </a:solidFill>
                <a:latin typeface="Inter"/>
                <a:ea typeface="Inter"/>
                <a:cs typeface="Inter"/>
              </a:defRPr>
            </a:pPr>
            <a:r>
              <a:rPr sz="1275" b="1" i="0">
                <a:solidFill>
                  <a:srgbClr val="F2C66D"/>
                </a:solidFill>
                <a:latin typeface="Inter"/>
                <a:ea typeface="Inter"/>
                <a:cs typeface="Inter"/>
              </a:rPr>
              <a:t>HOW THIS PROJECT RESPONDS</a:t>
            </a:r>
          </a:p>
        </p:txBody>
      </p:sp>
      <p:sp>
        <p:nvSpPr>
          <p:cNvPr id="8" name="">
            <a:extLst xmlns:a="http://schemas.openxmlformats.org/drawingml/2006/main">
              <a:ext uri="{FF2B5EF4-FFF2-40B4-BE49-F238E27FC236}">
                <a16:creationId xmlns:a16="http://schemas.microsoft.com/office/drawing/2014/main" id="{3B6929FC-43B4-492C-BA8F-D8A6DCBB1FAE}"/>
              </a:ext>
            </a:extLst>
          </p:cNvPr>
          <p:cNvSpPr>
            <a:spLocks xmlns:a="http://schemas.openxmlformats.org/drawingml/2006/main" noGrp="1"/>
          </p:cNvSpPr>
          <p:nvPr/>
        </p:nvSpPr>
        <p:spPr>
          <a:xfrm xmlns:a="http://schemas.openxmlformats.org/drawingml/2006/main">
            <a:off x="6467475" y="2133600"/>
            <a:ext cx="495300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800">
                <a:solidFill>
                  <a:srgbClr val="F4F7FB"/>
                </a:solidFill>
                <a:latin typeface="Inter"/>
                <a:ea typeface="Inter"/>
                <a:cs typeface="Inter"/>
              </a:defRPr>
            </a:defPPr>
          </a:lstStyle>
          <a:p xmlns:a="http://schemas.openxmlformats.org/drawingml/2006/main">
            <a:pPr marL="241300" indent="-127000">
              <a:lnSpc>
                <a:spcPct val="105000"/>
              </a:lnSpc>
              <a:spcAft>
                <a:spcPts val="1500"/>
              </a:spcAft>
              <a:buNone/>
              <a:defRPr sz="1800">
                <a:solidFill>
                  <a:srgbClr val="F4F7FB"/>
                </a:solidFill>
                <a:latin typeface="Inter"/>
                <a:ea typeface="Inter"/>
                <a:cs typeface="Inter"/>
              </a:defRPr>
            </a:pPr>
            <a:r>
              <a:rPr sz="1800">
                <a:solidFill>
                  <a:srgbClr val="F4F7FB"/>
                </a:solidFill>
                <a:latin typeface="Inter"/>
                <a:ea typeface="Inter"/>
                <a:cs typeface="Inter"/>
              </a:rPr>
              <a:t>2×2: encode one supplied move and inspect coordinate/status logic.</a:t>
            </a:r>
          </a:p>
          <a:p xmlns:a="http://schemas.openxmlformats.org/drawingml/2006/main">
            <a:pPr marL="241300" indent="-127000">
              <a:lnSpc>
                <a:spcPct val="105000"/>
              </a:lnSpc>
              <a:spcAft>
                <a:spcPts val="1500"/>
              </a:spcAft>
              <a:buNone/>
              <a:defRPr sz="1800">
                <a:solidFill>
                  <a:srgbClr val="F4F7FB"/>
                </a:solidFill>
                <a:latin typeface="Inter"/>
                <a:ea typeface="Inter"/>
                <a:cs typeface="Inter"/>
              </a:defRPr>
            </a:pPr>
            <a:r>
              <a:rPr sz="1800">
                <a:solidFill>
                  <a:srgbClr val="F4F7FB"/>
                </a:solidFill>
                <a:latin typeface="Inter"/>
                <a:ea typeface="Inter"/>
                <a:cs typeface="Inter"/>
              </a:rPr>
              <a:t>Grover: amplify indices that Python has already ranked as best.</a:t>
            </a:r>
          </a:p>
          <a:p xmlns:a="http://schemas.openxmlformats.org/drawingml/2006/main">
            <a:pPr marL="241300" indent="-127000">
              <a:lnSpc>
                <a:spcPct val="105000"/>
              </a:lnSpc>
              <a:spcAft>
                <a:spcPts val="1500"/>
              </a:spcAft>
              <a:buNone/>
              <a:defRPr sz="1800">
                <a:solidFill>
                  <a:srgbClr val="F4F7FB"/>
                </a:solidFill>
                <a:latin typeface="Inter"/>
                <a:ea typeface="Inter"/>
                <a:cs typeface="Inter"/>
              </a:defRPr>
            </a:pPr>
            <a:r>
              <a:rPr sz="1800">
                <a:solidFill>
                  <a:srgbClr val="F4F7FB"/>
                </a:solidFill>
                <a:latin typeface="Inter"/>
                <a:ea typeface="Inter"/>
                <a:cs typeface="Inter"/>
              </a:rPr>
              <a:t>3×3 Minimax and 8×8 hybrid gameplay show two distinct selection strategies.</a:t>
            </a:r>
          </a:p>
        </p:txBody>
      </p:sp>
      <p:sp>
        <p:nvSpPr>
          <p:cNvPr id="9" name="">
            <a:extLst xmlns:a="http://schemas.openxmlformats.org/drawingml/2006/main">
              <a:ext uri="{FF2B5EF4-FFF2-40B4-BE49-F238E27FC236}">
                <a16:creationId xmlns:a16="http://schemas.microsoft.com/office/drawing/2014/main" id="{03F3EE02-0A9D-409C-B2BF-F4E9E4955023}"/>
              </a:ext>
            </a:extLst>
          </p:cNvPr>
          <p:cNvSpPr>
            <a:spLocks xmlns:a="http://schemas.openxmlformats.org/drawingml/2006/main" noGrp="1"/>
          </p:cNvSpPr>
          <p:nvPr/>
        </p:nvSpPr>
        <p:spPr>
          <a:xfrm xmlns:a="http://schemas.openxmlformats.org/drawingml/2006/main">
            <a:off x="800100" y="5867400"/>
            <a:ext cx="1057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i="0">
                <a:solidFill>
                  <a:srgbClr val="62D6C7"/>
                </a:solidFill>
                <a:latin typeface="Inter"/>
                <a:ea typeface="Inter"/>
                <a:cs typeface="Inter"/>
              </a:defRPr>
            </a:defPPr>
          </a:lstStyle>
          <a:p xmlns:a="http://schemas.openxmlformats.org/drawingml/2006/main">
            <a:pPr algn="l">
              <a:lnSpc>
                <a:spcPct val="108000"/>
              </a:lnSpc>
              <a:buNone/>
              <a:defRPr sz="1650" b="1" i="0">
                <a:solidFill>
                  <a:srgbClr val="62D6C7"/>
                </a:solidFill>
                <a:latin typeface="Inter"/>
                <a:ea typeface="Inter"/>
                <a:cs typeface="Inter"/>
              </a:defRPr>
            </a:pPr>
            <a:r>
              <a:rPr sz="1650" b="1" i="0">
                <a:solidFill>
                  <a:srgbClr val="62D6C7"/>
                </a:solidFill>
                <a:latin typeface="Inter"/>
                <a:ea typeface="Inter"/>
                <a:cs typeface="Inter"/>
              </a:rPr>
              <a:t>The board state, move legality, and final game update remain classical.</a:t>
            </a:r>
          </a:p>
        </p:txBody>
      </p:sp>
    </p:spTree>
    <p:extLst>
      <p:ext uri="{BB962C8B-B14F-4D97-AF65-F5344CB8AC3E}">
        <p14:creationId xmlns:p14="http://schemas.microsoft.com/office/powerpoint/2010/main" val="1204072682"/>
      </p:ext>
    </p:extLst>
  </p:cSld>
</p:sld>
</file>

<file path=ppt/slides/slide3.xml><?xml version="1.0" encoding="utf-8"?>
<p:sld xmlns:p="http://schemas.openxmlformats.org/presentationml/2006/main">
  <p:cSld>
    <p:bg>
      <p:bgPr>
        <a:solidFill xmlns:a="http://schemas.openxmlformats.org/drawingml/2006/main">
          <a:srgbClr val="0B142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3567AC9-DF82-45E9-A267-20C61C0A980E}"/>
              </a:ext>
            </a:extLst>
          </p:cNvPr>
          <p:cNvSpPr>
            <a:spLocks xmlns:a="http://schemas.openxmlformats.org/drawingml/2006/main" noGrp="1"/>
          </p:cNvSpPr>
          <p:nvPr/>
        </p:nvSpPr>
        <p:spPr>
          <a:xfrm xmlns:a="http://schemas.openxmlformats.org/drawingml/2006/main">
            <a:off x="685800" y="4000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75" b="1" i="0">
                <a:solidFill>
                  <a:srgbClr val="F4F7FB"/>
                </a:solidFill>
                <a:latin typeface="Inter"/>
                <a:ea typeface="Inter"/>
                <a:cs typeface="Inter"/>
              </a:defRPr>
            </a:defPPr>
          </a:lstStyle>
          <a:p xmlns:a="http://schemas.openxmlformats.org/drawingml/2006/main">
            <a:pPr algn="l">
              <a:lnSpc>
                <a:spcPct val="108000"/>
              </a:lnSpc>
              <a:buNone/>
              <a:defRPr sz="2775" b="1" i="0">
                <a:solidFill>
                  <a:srgbClr val="F4F7FB"/>
                </a:solidFill>
                <a:latin typeface="Inter"/>
                <a:ea typeface="Inter"/>
                <a:cs typeface="Inter"/>
              </a:defRPr>
            </a:pPr>
            <a:r>
              <a:rPr sz="2775" b="1" i="0">
                <a:solidFill>
                  <a:srgbClr val="F4F7FB"/>
                </a:solidFill>
                <a:latin typeface="Inter"/>
                <a:ea typeface="Inter"/>
                <a:cs typeface="Inter"/>
              </a:rPr>
              <a:t>Three foundations explain the algorithm choices</a:t>
            </a:r>
          </a:p>
        </p:txBody>
      </p:sp>
      <p:sp>
        <p:nvSpPr>
          <p:cNvPr id="2" name="">
            <a:extLst xmlns:a="http://schemas.openxmlformats.org/drawingml/2006/main">
              <a:ext uri="{FF2B5EF4-FFF2-40B4-BE49-F238E27FC236}">
                <a16:creationId xmlns:a16="http://schemas.microsoft.com/office/drawing/2014/main" id="{12832AF1-75E7-4A37-A380-1BFE4C3F23EA}"/>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62D6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39C053A-CBC2-49AC-91C1-0BE36FA33F97}"/>
              </a:ext>
            </a:extLst>
          </p:cNvPr>
          <p:cNvSpPr>
            <a:spLocks xmlns:a="http://schemas.openxmlformats.org/drawingml/2006/main" noGrp="1"/>
          </p:cNvSpPr>
          <p:nvPr/>
        </p:nvSpPr>
        <p:spPr>
          <a:xfrm xmlns:a="http://schemas.openxmlformats.org/drawingml/2006/main">
            <a:off x="704850" y="1162050"/>
            <a:ext cx="1078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B8C6D9"/>
                </a:solidFill>
                <a:latin typeface="Inter"/>
                <a:ea typeface="Inter"/>
                <a:cs typeface="Inter"/>
              </a:defRPr>
            </a:defPPr>
          </a:lstStyle>
          <a:p xmlns:a="http://schemas.openxmlformats.org/drawingml/2006/main">
            <a:pPr algn="l">
              <a:lnSpc>
                <a:spcPct val="108000"/>
              </a:lnSpc>
              <a:buNone/>
              <a:defRPr sz="1275" b="0" i="0">
                <a:solidFill>
                  <a:srgbClr val="B8C6D9"/>
                </a:solidFill>
                <a:latin typeface="Inter"/>
                <a:ea typeface="Inter"/>
                <a:cs typeface="Inter"/>
              </a:defRPr>
            </a:pPr>
            <a:r>
              <a:rPr sz="1275" b="0" i="0">
                <a:solidFill>
                  <a:srgbClr val="B8C6D9"/>
                </a:solidFill>
                <a:latin typeface="Inter"/>
                <a:ea typeface="Inter"/>
                <a:cs typeface="Inter"/>
              </a:rPr>
              <a:t>Literature survey: search, amplitude amplification, and game-tree pruning</a:t>
            </a:r>
          </a:p>
        </p:txBody>
      </p:sp>
      <p:graphicFrame>
        <p:nvGraphicFramePr>
          <p:cNvPr id="4" name="">
            <a:extLst xmlns:a="http://schemas.openxmlformats.org/drawingml/2006/main">
              <a:ext uri="{FF2B5EF4-FFF2-40B4-BE49-F238E27FC236}">
                <a16:creationId xmlns:a16="http://schemas.microsoft.com/office/drawing/2014/main" id="{452E9F45-1BF9-408B-BF82-988994EAB371}"/>
              </a:ext>
            </a:extLst>
          </p:cNvPr>
          <p:cNvGraphicFramePr/>
          <p:nvPr/>
        </p:nvGraphicFramePr>
        <p:xfrm>
          <a:off xmlns:a="http://schemas.openxmlformats.org/drawingml/2006/main" x="704850" y="1657350"/>
          <a:ext xmlns:a="http://schemas.openxmlformats.org/drawingml/2006/main" cx="10782300" cy="3390900"/>
        </p:xfrm>
        <a:graphic xmlns:a="http://schemas.openxmlformats.org/drawingml/2006/main">
          <a:graphicData uri="http://schemas.openxmlformats.org/drawingml/2006/table">
            <a:tbl>
              <a:tblPr/>
              <a:tblGrid>
                <a:gridCol w="2238375"/>
                <a:gridCol w="4286250"/>
                <a:gridCol w="4257675"/>
              </a:tblGrid>
              <a:tr h="847725">
                <a:tc>
                  <a:txBody>
                    <a:bodyPr/>
                    <a:lstStyle/>
                    <a:p>
                      <a:pPr algn="l"/>
                      <a:r>
                        <a:rPr sz="1350" b="1">
                          <a:solidFill>
                            <a:srgbClr val="F4F7FB"/>
                          </a:solidFill>
                          <a:latin typeface="Inter"/>
                          <a:ea typeface="Inter"/>
                          <a:cs typeface="Inter"/>
                        </a:rPr>
                        <a:t>Work</a:t>
                      </a:r>
                    </a:p>
                  </a:txBody>
                  <a:tcPr marL="95250" marR="95250" marT="47625" marB="47625" anchor="ctr">
                    <a:lnL w="9525">
                      <a:solidFill>
                        <a:srgbClr val="354861"/>
                      </a:solidFill>
                      <a:prstDash val="solid"/>
                    </a:lnL>
                    <a:lnR w="9525">
                      <a:solidFill>
                        <a:srgbClr val="354861"/>
                      </a:solidFill>
                      <a:prstDash val="solid"/>
                    </a:lnR>
                    <a:lnT w="9525">
                      <a:solidFill>
                        <a:srgbClr val="354861"/>
                      </a:solidFill>
                      <a:prstDash val="solid"/>
                    </a:lnT>
                    <a:lnB w="9525">
                      <a:solidFill>
                        <a:srgbClr val="354861"/>
                      </a:solidFill>
                      <a:prstDash val="solid"/>
                    </a:lnB>
                    <a:solidFill>
                      <a:srgbClr val="164153"/>
                    </a:solidFill>
                  </a:tcPr>
                </a:tc>
                <a:tc>
                  <a:txBody>
                    <a:bodyPr/>
                    <a:lstStyle/>
                    <a:p>
                      <a:pPr algn="l"/>
                      <a:r>
                        <a:rPr sz="1350" b="1">
                          <a:solidFill>
                            <a:srgbClr val="F4F7FB"/>
                          </a:solidFill>
                          <a:latin typeface="Inter"/>
                          <a:ea typeface="Inter"/>
                          <a:cs typeface="Inter"/>
                        </a:rPr>
                        <a:t>Main result</a:t>
                      </a:r>
                    </a:p>
                  </a:txBody>
                  <a:tcPr marL="95250" marR="95250" marT="47625" marB="47625" anchor="ctr">
                    <a:lnR w="9525">
                      <a:solidFill>
                        <a:srgbClr val="354861"/>
                      </a:solidFill>
                      <a:prstDash val="solid"/>
                    </a:lnR>
                    <a:lnT w="9525">
                      <a:solidFill>
                        <a:srgbClr val="354861"/>
                      </a:solidFill>
                      <a:prstDash val="solid"/>
                    </a:lnT>
                    <a:lnB w="9525">
                      <a:solidFill>
                        <a:srgbClr val="354861"/>
                      </a:solidFill>
                      <a:prstDash val="solid"/>
                    </a:lnB>
                    <a:solidFill>
                      <a:srgbClr val="164153"/>
                    </a:solidFill>
                  </a:tcPr>
                </a:tc>
                <a:tc>
                  <a:txBody>
                    <a:bodyPr/>
                    <a:lstStyle/>
                    <a:p>
                      <a:pPr algn="l"/>
                      <a:r>
                        <a:rPr sz="1350" b="1">
                          <a:solidFill>
                            <a:srgbClr val="F4F7FB"/>
                          </a:solidFill>
                          <a:latin typeface="Inter"/>
                          <a:ea typeface="Inter"/>
                          <a:cs typeface="Inter"/>
                        </a:rPr>
                        <a:t>Connection to this project</a:t>
                      </a:r>
                    </a:p>
                  </a:txBody>
                  <a:tcPr marL="95250" marR="95250" marT="47625" marB="47625" anchor="ctr">
                    <a:lnR w="9525">
                      <a:solidFill>
                        <a:srgbClr val="354861"/>
                      </a:solidFill>
                      <a:prstDash val="solid"/>
                    </a:lnR>
                    <a:lnT w="9525">
                      <a:solidFill>
                        <a:srgbClr val="354861"/>
                      </a:solidFill>
                      <a:prstDash val="solid"/>
                    </a:lnT>
                    <a:lnB w="9525">
                      <a:solidFill>
                        <a:srgbClr val="354861"/>
                      </a:solidFill>
                      <a:prstDash val="solid"/>
                    </a:lnB>
                    <a:solidFill>
                      <a:srgbClr val="164153"/>
                    </a:solidFill>
                  </a:tcPr>
                </a:tc>
              </a:tr>
              <a:tr h="847725">
                <a:tc>
                  <a:txBody>
                    <a:bodyPr/>
                    <a:lstStyle/>
                    <a:p>
                      <a:pPr algn="l"/>
                      <a:r>
                        <a:rPr sz="1350">
                          <a:solidFill>
                            <a:srgbClr val="F4F7FB"/>
                          </a:solidFill>
                          <a:latin typeface="Inter"/>
                          <a:ea typeface="Inter"/>
                          <a:cs typeface="Inter"/>
                        </a:rPr>
                        <a:t>Grover (1996)</a:t>
                      </a:r>
                    </a:p>
                    <a:p>
                      <a:pPr algn="l"/>
                      <a:r>
                        <a:rPr sz="1350">
                          <a:solidFill>
                            <a:srgbClr val="F4F7FB"/>
                          </a:solidFill>
                          <a:latin typeface="Inter"/>
                          <a:ea typeface="Inter"/>
                          <a:cs typeface="Inter"/>
                        </a:rPr>
                        <a:t>Database search</a:t>
                      </a:r>
                    </a:p>
                  </a:txBody>
                  <a:tcPr marL="95250" marR="95250" marT="47625" marB="47625" anchor="ctr">
                    <a:lnL w="9525">
                      <a:solidFill>
                        <a:srgbClr val="354861"/>
                      </a:solidFill>
                      <a:prstDash val="solid"/>
                    </a:lnL>
                    <a:lnR w="9525">
                      <a:solidFill>
                        <a:srgbClr val="354861"/>
                      </a:solidFill>
                      <a:prstDash val="solid"/>
                    </a:lnR>
                    <a:lnB w="9525">
                      <a:solidFill>
                        <a:srgbClr val="354861"/>
                      </a:solidFill>
                      <a:prstDash val="solid"/>
                    </a:lnB>
                    <a:solidFill>
                      <a:srgbClr val="13243D"/>
                    </a:solidFill>
                  </a:tcPr>
                </a:tc>
                <a:tc>
                  <a:txBody>
                    <a:bodyPr/>
                    <a:lstStyle/>
                    <a:p>
                      <a:pPr algn="l"/>
                      <a:r>
                        <a:rPr sz="1350">
                          <a:solidFill>
                            <a:srgbClr val="F4F7FB"/>
                          </a:solidFill>
                          <a:latin typeface="Inter"/>
                          <a:ea typeface="Inter"/>
                          <a:cs typeface="Inter"/>
                        </a:rPr>
                        <a:t>Unstructured search can find a marked item with O(√N) oracle queries.</a:t>
                      </a:r>
                    </a:p>
                  </a:txBody>
                  <a:tcPr marL="95250" marR="95250" marT="47625" marB="47625" anchor="ctr">
                    <a:lnR w="9525">
                      <a:solidFill>
                        <a:srgbClr val="354861"/>
                      </a:solidFill>
                      <a:prstDash val="solid"/>
                    </a:lnR>
                    <a:lnB w="9525">
                      <a:solidFill>
                        <a:srgbClr val="354861"/>
                      </a:solidFill>
                      <a:prstDash val="solid"/>
                    </a:lnB>
                    <a:solidFill>
                      <a:srgbClr val="13243D"/>
                    </a:solidFill>
                  </a:tcPr>
                </a:tc>
                <a:tc>
                  <a:txBody>
                    <a:bodyPr/>
                    <a:lstStyle/>
                    <a:p>
                      <a:pPr algn="l"/>
                      <a:r>
                        <a:rPr sz="1350">
                          <a:solidFill>
                            <a:srgbClr val="F4F7FB"/>
                          </a:solidFill>
                          <a:latin typeface="Inter"/>
                          <a:ea typeface="Inter"/>
                          <a:cs typeface="Inter"/>
                        </a:rPr>
                        <a:t>Motivates an oracle plus diffuser over move indices.</a:t>
                      </a:r>
                    </a:p>
                  </a:txBody>
                  <a:tcPr marL="95250" marR="95250" marT="47625" marB="47625" anchor="ctr">
                    <a:lnR w="9525">
                      <a:solidFill>
                        <a:srgbClr val="354861"/>
                      </a:solidFill>
                      <a:prstDash val="solid"/>
                    </a:lnR>
                    <a:lnB w="9525">
                      <a:solidFill>
                        <a:srgbClr val="354861"/>
                      </a:solidFill>
                      <a:prstDash val="solid"/>
                    </a:lnB>
                    <a:solidFill>
                      <a:srgbClr val="13243D"/>
                    </a:solidFill>
                  </a:tcPr>
                </a:tc>
              </a:tr>
              <a:tr h="847725">
                <a:tc>
                  <a:txBody>
                    <a:bodyPr/>
                    <a:lstStyle/>
                    <a:p>
                      <a:pPr algn="l"/>
                      <a:r>
                        <a:rPr sz="1350">
                          <a:solidFill>
                            <a:srgbClr val="F4F7FB"/>
                          </a:solidFill>
                          <a:latin typeface="Inter"/>
                          <a:ea typeface="Inter"/>
                          <a:cs typeface="Inter"/>
                        </a:rPr>
                        <a:t>Brassard et al. (2002)</a:t>
                      </a:r>
                    </a:p>
                    <a:p>
                      <a:pPr algn="l"/>
                      <a:r>
                        <a:rPr sz="1350">
                          <a:solidFill>
                            <a:srgbClr val="F4F7FB"/>
                          </a:solidFill>
                          <a:latin typeface="Inter"/>
                          <a:ea typeface="Inter"/>
                          <a:cs typeface="Inter"/>
                        </a:rPr>
                        <a:t>Amplitude amplification</a:t>
                      </a:r>
                    </a:p>
                  </a:txBody>
                  <a:tcPr marL="95250" marR="95250" marT="47625" marB="47625" anchor="ctr">
                    <a:lnL w="9525">
                      <a:solidFill>
                        <a:srgbClr val="354861"/>
                      </a:solidFill>
                      <a:prstDash val="solid"/>
                    </a:lnL>
                    <a:lnR w="9525">
                      <a:solidFill>
                        <a:srgbClr val="354861"/>
                      </a:solidFill>
                      <a:prstDash val="solid"/>
                    </a:lnR>
                    <a:lnB w="9525">
                      <a:solidFill>
                        <a:srgbClr val="354861"/>
                      </a:solidFill>
                      <a:prstDash val="solid"/>
                    </a:lnB>
                    <a:solidFill>
                      <a:srgbClr val="0E1B30"/>
                    </a:solidFill>
                  </a:tcPr>
                </a:tc>
                <a:tc>
                  <a:txBody>
                    <a:bodyPr/>
                    <a:lstStyle/>
                    <a:p>
                      <a:pPr algn="l"/>
                      <a:r>
                        <a:rPr sz="1350">
                          <a:solidFill>
                            <a:srgbClr val="F4F7FB"/>
                          </a:solidFill>
                          <a:latin typeface="Inter"/>
                          <a:ea typeface="Inter"/>
                          <a:cs typeface="Inter"/>
                        </a:rPr>
                        <a:t>Generalizes Grover’s probability amplification to broader state-preparation procedures.</a:t>
                      </a:r>
                    </a:p>
                  </a:txBody>
                  <a:tcPr marL="95250" marR="95250" marT="47625" marB="47625" anchor="ctr">
                    <a:lnR w="9525">
                      <a:solidFill>
                        <a:srgbClr val="354861"/>
                      </a:solidFill>
                      <a:prstDash val="solid"/>
                    </a:lnR>
                    <a:lnB w="9525">
                      <a:solidFill>
                        <a:srgbClr val="354861"/>
                      </a:solidFill>
                      <a:prstDash val="solid"/>
                    </a:lnB>
                    <a:solidFill>
                      <a:srgbClr val="0E1B30"/>
                    </a:solidFill>
                  </a:tcPr>
                </a:tc>
                <a:tc>
                  <a:txBody>
                    <a:bodyPr/>
                    <a:lstStyle/>
                    <a:p>
                      <a:pPr algn="l"/>
                      <a:r>
                        <a:rPr sz="1350">
                          <a:solidFill>
                            <a:srgbClr val="F4F7FB"/>
                          </a:solidFill>
                          <a:latin typeface="Inter"/>
                          <a:ea typeface="Inter"/>
                          <a:cs typeface="Inter"/>
                        </a:rPr>
                        <a:t>Explains why the phase mark needs a reflection step to change measurement probability.</a:t>
                      </a:r>
                    </a:p>
                  </a:txBody>
                  <a:tcPr marL="95250" marR="95250" marT="47625" marB="47625" anchor="ctr">
                    <a:lnR w="9525">
                      <a:solidFill>
                        <a:srgbClr val="354861"/>
                      </a:solidFill>
                      <a:prstDash val="solid"/>
                    </a:lnR>
                    <a:lnB w="9525">
                      <a:solidFill>
                        <a:srgbClr val="354861"/>
                      </a:solidFill>
                      <a:prstDash val="solid"/>
                    </a:lnB>
                    <a:solidFill>
                      <a:srgbClr val="0E1B30"/>
                    </a:solidFill>
                  </a:tcPr>
                </a:tc>
              </a:tr>
              <a:tr h="847725">
                <a:tc>
                  <a:txBody>
                    <a:bodyPr/>
                    <a:lstStyle/>
                    <a:p>
                      <a:pPr algn="l"/>
                      <a:r>
                        <a:rPr sz="1350">
                          <a:solidFill>
                            <a:srgbClr val="F4F7FB"/>
                          </a:solidFill>
                          <a:latin typeface="Inter"/>
                          <a:ea typeface="Inter"/>
                          <a:cs typeface="Inter"/>
                        </a:rPr>
                        <a:t>Knuth &amp; Moore (1975)</a:t>
                      </a:r>
                    </a:p>
                    <a:p>
                      <a:pPr algn="l"/>
                      <a:r>
                        <a:rPr sz="1350">
                          <a:solidFill>
                            <a:srgbClr val="F4F7FB"/>
                          </a:solidFill>
                          <a:latin typeface="Inter"/>
                          <a:ea typeface="Inter"/>
                          <a:cs typeface="Inter"/>
                        </a:rPr>
                        <a:t>Alpha-beta pruning</a:t>
                      </a:r>
                    </a:p>
                  </a:txBody>
                  <a:tcPr marL="95250" marR="95250" marT="47625" marB="47625" anchor="ctr">
                    <a:lnL w="9525">
                      <a:solidFill>
                        <a:srgbClr val="354861"/>
                      </a:solidFill>
                      <a:prstDash val="solid"/>
                    </a:lnL>
                    <a:lnR w="9525">
                      <a:solidFill>
                        <a:srgbClr val="354861"/>
                      </a:solidFill>
                      <a:prstDash val="solid"/>
                    </a:lnR>
                    <a:lnB w="9525">
                      <a:solidFill>
                        <a:srgbClr val="354861"/>
                      </a:solidFill>
                      <a:prstDash val="solid"/>
                    </a:lnB>
                    <a:solidFill>
                      <a:srgbClr val="13243D"/>
                    </a:solidFill>
                  </a:tcPr>
                </a:tc>
                <a:tc>
                  <a:txBody>
                    <a:bodyPr/>
                    <a:lstStyle/>
                    <a:p>
                      <a:pPr algn="l"/>
                      <a:r>
                        <a:rPr sz="1350">
                          <a:solidFill>
                            <a:srgbClr val="F4F7FB"/>
                          </a:solidFill>
                          <a:latin typeface="Inter"/>
                          <a:ea typeface="Inter"/>
                          <a:cs typeface="Inter"/>
                        </a:rPr>
                        <a:t>Analyzes pruning that preserves the Minimax result while avoiding branches that cannot affect it.</a:t>
                      </a:r>
                    </a:p>
                  </a:txBody>
                  <a:tcPr marL="95250" marR="95250" marT="47625" marB="47625" anchor="ctr">
                    <a:lnR w="9525">
                      <a:solidFill>
                        <a:srgbClr val="354861"/>
                      </a:solidFill>
                      <a:prstDash val="solid"/>
                    </a:lnR>
                    <a:lnB w="9525">
                      <a:solidFill>
                        <a:srgbClr val="354861"/>
                      </a:solidFill>
                      <a:prstDash val="solid"/>
                    </a:lnB>
                    <a:solidFill>
                      <a:srgbClr val="13243D"/>
                    </a:solidFill>
                  </a:tcPr>
                </a:tc>
                <a:tc>
                  <a:txBody>
                    <a:bodyPr/>
                    <a:lstStyle/>
                    <a:p>
                      <a:pPr algn="l"/>
                      <a:r>
                        <a:rPr sz="1350">
                          <a:solidFill>
                            <a:srgbClr val="F4F7FB"/>
                          </a:solidFill>
                          <a:latin typeface="Inter"/>
                          <a:ea typeface="Inter"/>
                          <a:cs typeface="Inter"/>
                        </a:rPr>
                        <a:t>Supports the classical 3×3 opponent-aware baseline and fallback.</a:t>
                      </a:r>
                    </a:p>
                  </a:txBody>
                  <a:tcPr marL="95250" marR="95250" marT="47625" marB="47625" anchor="ctr">
                    <a:lnR w="9525">
                      <a:solidFill>
                        <a:srgbClr val="354861"/>
                      </a:solidFill>
                      <a:prstDash val="solid"/>
                    </a:lnR>
                    <a:lnB w="9525">
                      <a:solidFill>
                        <a:srgbClr val="354861"/>
                      </a:solidFill>
                      <a:prstDash val="solid"/>
                    </a:lnB>
                    <a:solidFill>
                      <a:srgbClr val="13243D"/>
                    </a:solidFill>
                  </a:tcPr>
                </a:tc>
              </a:tr>
            </a:tbl>
          </a:graphicData>
        </a:graphic>
      </p:graphicFrame>
      <p:sp>
        <p:nvSpPr>
          <p:cNvPr id="5" name="">
            <a:extLst xmlns:a="http://schemas.openxmlformats.org/drawingml/2006/main">
              <a:ext uri="{FF2B5EF4-FFF2-40B4-BE49-F238E27FC236}">
                <a16:creationId xmlns:a16="http://schemas.microsoft.com/office/drawing/2014/main" id="{BE389CC5-8F0F-49D8-BF5D-70025A0F38C6}"/>
              </a:ext>
            </a:extLst>
          </p:cNvPr>
          <p:cNvSpPr>
            <a:spLocks xmlns:a="http://schemas.openxmlformats.org/drawingml/2006/main" noGrp="1"/>
          </p:cNvSpPr>
          <p:nvPr/>
        </p:nvSpPr>
        <p:spPr>
          <a:xfrm xmlns:a="http://schemas.openxmlformats.org/drawingml/2006/main">
            <a:off x="781050" y="528637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i="0">
                <a:solidFill>
                  <a:srgbClr val="62D6C7"/>
                </a:solidFill>
                <a:latin typeface="Inter"/>
                <a:ea typeface="Inter"/>
                <a:cs typeface="Inter"/>
              </a:defRPr>
            </a:defPPr>
          </a:lstStyle>
          <a:p xmlns:a="http://schemas.openxmlformats.org/drawingml/2006/main">
            <a:pPr algn="l">
              <a:lnSpc>
                <a:spcPct val="108000"/>
              </a:lnSpc>
              <a:buNone/>
              <a:defRPr sz="1200" b="1" i="0">
                <a:solidFill>
                  <a:srgbClr val="62D6C7"/>
                </a:solidFill>
                <a:latin typeface="Inter"/>
                <a:ea typeface="Inter"/>
                <a:cs typeface="Inter"/>
              </a:defRPr>
            </a:pPr>
            <a:r>
              <a:rPr sz="1200" b="1" i="0">
                <a:solidFill>
                  <a:srgbClr val="62D6C7"/>
                </a:solidFill>
                <a:latin typeface="Inter"/>
                <a:ea typeface="Inter"/>
                <a:cs typeface="Inter"/>
              </a:rPr>
              <a:t>Project question</a:t>
            </a:r>
          </a:p>
        </p:txBody>
      </p:sp>
      <p:sp>
        <p:nvSpPr>
          <p:cNvPr id="6" name="">
            <a:extLst xmlns:a="http://schemas.openxmlformats.org/drawingml/2006/main">
              <a:ext uri="{FF2B5EF4-FFF2-40B4-BE49-F238E27FC236}">
                <a16:creationId xmlns:a16="http://schemas.microsoft.com/office/drawing/2014/main" id="{6DA6F9AA-FD13-472F-9732-AC0DFA4AD7FA}"/>
              </a:ext>
            </a:extLst>
          </p:cNvPr>
          <p:cNvSpPr>
            <a:spLocks xmlns:a="http://schemas.openxmlformats.org/drawingml/2006/main" noGrp="1"/>
          </p:cNvSpPr>
          <p:nvPr/>
        </p:nvSpPr>
        <p:spPr>
          <a:xfrm xmlns:a="http://schemas.openxmlformats.org/drawingml/2006/main">
            <a:off x="781050" y="56197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89"/>
          </a:bodyPr>
          <a:lstStyle xmlns:a="http://schemas.openxmlformats.org/drawingml/2006/main">
            <a:defPPr algn="l">
              <a:defRPr sz="1725" b="0" i="0">
                <a:solidFill>
                  <a:srgbClr val="F4F7FB"/>
                </a:solidFill>
                <a:latin typeface="Inter"/>
                <a:ea typeface="Inter"/>
                <a:cs typeface="Inter"/>
              </a:defRPr>
            </a:defPPr>
          </a:lstStyle>
          <a:p xmlns:a="http://schemas.openxmlformats.org/drawingml/2006/main">
            <a:pPr algn="l">
              <a:lnSpc>
                <a:spcPct val="108000"/>
              </a:lnSpc>
              <a:buNone/>
              <a:defRPr sz="1725" b="0" i="0">
                <a:solidFill>
                  <a:srgbClr val="F4F7FB"/>
                </a:solidFill>
                <a:latin typeface="Inter"/>
                <a:ea typeface="Inter"/>
                <a:cs typeface="Inter"/>
              </a:defRPr>
            </a:pPr>
            <a:r>
              <a:rPr sz="1725" b="0" i="0">
                <a:solidFill>
                  <a:srgbClr val="F4F7FB"/>
                </a:solidFill>
                <a:latin typeface="Inter"/>
                <a:ea typeface="Inter"/>
                <a:cs typeface="Inter"/>
              </a:rPr>
              <a:t>Can we connect a chess move pipeline to these methods clearly, then measure what the simulator actually does?</a:t>
            </a:r>
          </a:p>
        </p:txBody>
      </p:sp>
      <p:sp>
        <p:nvSpPr>
          <p:cNvPr id="7" name="">
            <a:extLst xmlns:a="http://schemas.openxmlformats.org/drawingml/2006/main">
              <a:ext uri="{FF2B5EF4-FFF2-40B4-BE49-F238E27FC236}">
                <a16:creationId xmlns:a16="http://schemas.microsoft.com/office/drawing/2014/main" id="{E93CF50E-D02C-4015-8DB0-358F6B4392F8}"/>
              </a:ext>
            </a:extLst>
          </p:cNvPr>
          <p:cNvSpPr>
            <a:spLocks xmlns:a="http://schemas.openxmlformats.org/drawingml/2006/main" noGrp="1"/>
          </p:cNvSpPr>
          <p:nvPr/>
        </p:nvSpPr>
        <p:spPr>
          <a:xfrm xmlns:a="http://schemas.openxmlformats.org/drawingml/2006/main">
            <a:off x="781050" y="62865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i="0">
                <a:solidFill>
                  <a:srgbClr val="91A3BB"/>
                </a:solidFill>
                <a:latin typeface="Inter"/>
                <a:ea typeface="Inter"/>
                <a:cs typeface="Inter"/>
              </a:defRPr>
            </a:defPPr>
          </a:lstStyle>
          <a:p xmlns:a="http://schemas.openxmlformats.org/drawingml/2006/main">
            <a:pPr algn="l">
              <a:lnSpc>
                <a:spcPct val="108000"/>
              </a:lnSpc>
              <a:buNone/>
              <a:defRPr sz="975" b="0" i="0">
                <a:solidFill>
                  <a:srgbClr val="91A3BB"/>
                </a:solidFill>
                <a:latin typeface="Inter"/>
                <a:ea typeface="Inter"/>
                <a:cs typeface="Inter"/>
              </a:defRPr>
            </a:pPr>
            <a:r>
              <a:rPr sz="975" b="0" i="0">
                <a:solidFill>
                  <a:srgbClr val="91A3BB"/>
                </a:solidFill>
                <a:latin typeface="Inter"/>
                <a:ea typeface="Inter"/>
                <a:cs typeface="Inter"/>
              </a:rPr>
              <a:t>Sources: Grover, STOC 1996, DOI 10.1145/237814.237866  ·  Brassard et al., Contemp. Math. 305 (2002)  ·  Knuth &amp; Moore, Artificial Intelligence 6(4) (1975)</a:t>
            </a:r>
          </a:p>
        </p:txBody>
      </p:sp>
    </p:spTree>
    <p:extLst>
      <p:ext uri="{BB962C8B-B14F-4D97-AF65-F5344CB8AC3E}">
        <p14:creationId xmlns:p14="http://schemas.microsoft.com/office/powerpoint/2010/main" val="960378446"/>
      </p:ext>
    </p:extLst>
  </p:cSld>
</p:sld>
</file>

<file path=ppt/slides/slide4.xml><?xml version="1.0" encoding="utf-8"?>
<p:sld xmlns:p="http://schemas.openxmlformats.org/presentationml/2006/main">
  <p:cSld>
    <p:bg>
      <p:bgPr>
        <a:solidFill xmlns:a="http://schemas.openxmlformats.org/drawingml/2006/main">
          <a:srgbClr val="0B1426"/>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8E34073-C3BC-4997-95C9-154729DE4ADB}"/>
              </a:ext>
            </a:extLst>
          </p:cNvPr>
          <p:cNvSpPr>
            <a:spLocks xmlns:a="http://schemas.openxmlformats.org/drawingml/2006/main" noGrp="1"/>
          </p:cNvSpPr>
          <p:nvPr/>
        </p:nvSpPr>
        <p:spPr>
          <a:xfrm xmlns:a="http://schemas.openxmlformats.org/drawingml/2006/main">
            <a:off x="685800" y="4000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75" b="1" i="0">
                <a:solidFill>
                  <a:srgbClr val="F4F7FB"/>
                </a:solidFill>
                <a:latin typeface="Inter"/>
                <a:ea typeface="Inter"/>
                <a:cs typeface="Inter"/>
              </a:defRPr>
            </a:defPPr>
          </a:lstStyle>
          <a:p xmlns:a="http://schemas.openxmlformats.org/drawingml/2006/main">
            <a:pPr algn="l">
              <a:lnSpc>
                <a:spcPct val="108000"/>
              </a:lnSpc>
              <a:buNone/>
              <a:defRPr sz="2775" b="1" i="0">
                <a:solidFill>
                  <a:srgbClr val="F4F7FB"/>
                </a:solidFill>
                <a:latin typeface="Inter"/>
                <a:ea typeface="Inter"/>
                <a:cs typeface="Inter"/>
              </a:defRPr>
            </a:pPr>
            <a:r>
              <a:rPr sz="2775" b="1" i="0">
                <a:solidFill>
                  <a:srgbClr val="F4F7FB"/>
                </a:solidFill>
                <a:latin typeface="Inter"/>
                <a:ea typeface="Inter"/>
                <a:cs typeface="Inter"/>
              </a:rPr>
              <a:t>The architecture has three distinct decision paths</a:t>
            </a:r>
          </a:p>
        </p:txBody>
      </p:sp>
      <p:sp>
        <p:nvSpPr>
          <p:cNvPr id="2" name="">
            <a:extLst xmlns:a="http://schemas.openxmlformats.org/drawingml/2006/main">
              <a:ext uri="{FF2B5EF4-FFF2-40B4-BE49-F238E27FC236}">
                <a16:creationId xmlns:a16="http://schemas.microsoft.com/office/drawing/2014/main" id="{912FBCEB-4134-4F7A-AA64-B91C13C74161}"/>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62D6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860F00B-5F9E-4274-B8DE-EF43DF5A657B}"/>
              </a:ext>
            </a:extLst>
          </p:cNvPr>
          <p:cNvSpPr>
            <a:spLocks xmlns:a="http://schemas.openxmlformats.org/drawingml/2006/main" noGrp="1"/>
          </p:cNvSpPr>
          <p:nvPr/>
        </p:nvSpPr>
        <p:spPr>
          <a:xfrm xmlns:a="http://schemas.openxmlformats.org/drawingml/2006/main">
            <a:off x="704850" y="1162050"/>
            <a:ext cx="1078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B8C6D9"/>
                </a:solidFill>
                <a:latin typeface="Inter"/>
                <a:ea typeface="Inter"/>
                <a:cs typeface="Inter"/>
              </a:defRPr>
            </a:defPPr>
          </a:lstStyle>
          <a:p xmlns:a="http://schemas.openxmlformats.org/drawingml/2006/main">
            <a:pPr algn="l">
              <a:lnSpc>
                <a:spcPct val="108000"/>
              </a:lnSpc>
              <a:buNone/>
              <a:defRPr sz="1275" b="0" i="0">
                <a:solidFill>
                  <a:srgbClr val="B8C6D9"/>
                </a:solidFill>
                <a:latin typeface="Inter"/>
                <a:ea typeface="Inter"/>
                <a:cs typeface="Inter"/>
              </a:defRPr>
            </a:pPr>
            <a:r>
              <a:rPr sz="1275" b="0" i="0">
                <a:solidFill>
                  <a:srgbClr val="B8C6D9"/>
                </a:solidFill>
                <a:latin typeface="Inter"/>
                <a:ea typeface="Inter"/>
                <a:cs typeface="Inter"/>
              </a:rPr>
              <a:t>Shared classical game state feeds separate demonstration and selection routes</a:t>
            </a:r>
          </a:p>
        </p:txBody>
      </p:sp>
      <p:sp>
        <p:nvSpPr>
          <p:cNvPr id="4" name="">
            <a:extLst xmlns:a="http://schemas.openxmlformats.org/drawingml/2006/main">
              <a:ext uri="{FF2B5EF4-FFF2-40B4-BE49-F238E27FC236}">
                <a16:creationId xmlns:a16="http://schemas.microsoft.com/office/drawing/2014/main" id="{10F201B3-8CEB-43F7-ACD9-7EF3D07F125A}"/>
              </a:ext>
            </a:extLst>
          </p:cNvPr>
          <p:cNvSpPr>
            <a:spLocks xmlns:a="http://schemas.openxmlformats.org/drawingml/2006/main" noGrp="1"/>
          </p:cNvSpPr>
          <p:nvPr/>
        </p:nvSpPr>
        <p:spPr>
          <a:xfrm xmlns:a="http://schemas.openxmlformats.org/drawingml/2006/main">
            <a:off x="2667000" y="1581150"/>
            <a:ext cx="6858000" cy="666750"/>
          </a:xfrm>
          <a:prstGeom xmlns:a="http://schemas.openxmlformats.org/drawingml/2006/main" prst="roundRect">
            <a:avLst>
              <a:gd name="adj" fmla="val 11429"/>
            </a:avLst>
          </a:prstGeom>
          <a:solidFill xmlns:a="http://schemas.openxmlformats.org/drawingml/2006/main">
            <a:srgbClr val="0D1C31"/>
          </a:solidFill>
          <a:ln xmlns:a="http://schemas.openxmlformats.org/drawingml/2006/main" w="14288">
            <a:solidFill>
              <a:srgbClr val="62D6C7"/>
            </a:solidFill>
            <a:prstDash val="solid"/>
          </a:ln>
        </p:spPr>
        <p:txBody>
          <a:bodyPr xmlns:a="http://schemas.openxmlformats.org/drawingml/2006/main" wrap="square" lIns="95250" tIns="57150" rIns="95250" bIns="57150" anchor="ctr">
            <a:normAutofit fontScale="100000"/>
          </a:bodyPr>
          <a:lstStyle xmlns:a="http://schemas.openxmlformats.org/drawingml/2006/main">
            <a:defPPr algn="ctr">
              <a:defRPr sz="1575" b="0">
                <a:solidFill>
                  <a:srgbClr val="F4F7FB"/>
                </a:solidFill>
                <a:latin typeface="Inter"/>
                <a:ea typeface="Inter"/>
                <a:cs typeface="Inter"/>
              </a:defRPr>
            </a:defPPr>
          </a:lstStyle>
          <a:p xmlns:a="http://schemas.openxmlformats.org/drawingml/2006/main">
            <a:pPr algn="ctr">
              <a:lnSpc>
                <a:spcPct val="100000"/>
              </a:lnSpc>
              <a:buNone/>
              <a:defRPr sz="1575" b="0">
                <a:solidFill>
                  <a:srgbClr val="F4F7FB"/>
                </a:solidFill>
                <a:latin typeface="Inter"/>
                <a:ea typeface="Inter"/>
                <a:cs typeface="Inter"/>
              </a:defRPr>
            </a:pPr>
            <a:r>
              <a:rPr sz="1575" b="0">
                <a:solidFill>
                  <a:srgbClr val="F4F7FB"/>
                </a:solidFill>
                <a:latin typeface="Inter"/>
                <a:ea typeface="Inter"/>
                <a:cs typeface="Inter"/>
              </a:rPr>
              <a:t>Shared classical core</a:t>
            </a:r>
          </a:p>
          <a:p xmlns:a="http://schemas.openxmlformats.org/drawingml/2006/main">
            <a:pPr algn="ctr">
              <a:lnSpc>
                <a:spcPct val="100000"/>
              </a:lnSpc>
              <a:buNone/>
              <a:defRPr sz="1575" b="0">
                <a:solidFill>
                  <a:srgbClr val="F4F7FB"/>
                </a:solidFill>
                <a:latin typeface="Inter"/>
                <a:ea typeface="Inter"/>
                <a:cs typeface="Inter"/>
              </a:defRPr>
            </a:pPr>
            <a:r>
              <a:rPr sz="1575" b="0">
                <a:solidFill>
                  <a:srgbClr val="F4F7FB"/>
                </a:solidFill>
                <a:latin typeface="Inter"/>
                <a:ea typeface="Inter"/>
                <a:cs typeface="Inter"/>
              </a:rPr>
              <a:t>GameState · board rules · legal Move objects</a:t>
            </a:r>
          </a:p>
        </p:txBody>
      </p:sp>
      <p:sp>
        <p:nvSpPr>
          <p:cNvPr id="5" name="">
            <a:extLst xmlns:a="http://schemas.openxmlformats.org/drawingml/2006/main">
              <a:ext uri="{FF2B5EF4-FFF2-40B4-BE49-F238E27FC236}">
                <a16:creationId xmlns:a16="http://schemas.microsoft.com/office/drawing/2014/main" id="{0D28A11E-D872-4062-95CD-82439C059696}"/>
              </a:ext>
            </a:extLst>
          </p:cNvPr>
          <p:cNvSpPr>
            <a:spLocks xmlns:a="http://schemas.openxmlformats.org/drawingml/2006/main" noGrp="1"/>
          </p:cNvSpPr>
          <p:nvPr/>
        </p:nvSpPr>
        <p:spPr>
          <a:xfrm xmlns:a="http://schemas.openxmlformats.org/drawingml/2006/main">
            <a:off x="771525" y="23812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i="0">
                <a:solidFill>
                  <a:srgbClr val="62D6C7"/>
                </a:solidFill>
                <a:latin typeface="Inter"/>
                <a:ea typeface="Inter"/>
                <a:cs typeface="Inter"/>
              </a:defRPr>
            </a:defPPr>
          </a:lstStyle>
          <a:p xmlns:a="http://schemas.openxmlformats.org/drawingml/2006/main">
            <a:pPr algn="l">
              <a:lnSpc>
                <a:spcPct val="108000"/>
              </a:lnSpc>
              <a:buNone/>
              <a:defRPr sz="1200" b="1" i="0">
                <a:solidFill>
                  <a:srgbClr val="62D6C7"/>
                </a:solidFill>
                <a:latin typeface="Inter"/>
                <a:ea typeface="Inter"/>
                <a:cs typeface="Inter"/>
              </a:defRPr>
            </a:pPr>
            <a:r>
              <a:rPr sz="1200" b="1" i="0">
                <a:solidFill>
                  <a:srgbClr val="62D6C7"/>
                </a:solidFill>
                <a:latin typeface="Inter"/>
                <a:ea typeface="Inter"/>
                <a:cs typeface="Inter"/>
              </a:rPr>
              <a:t>2×2 / 3×3 circuit demo</a:t>
            </a:r>
          </a:p>
        </p:txBody>
      </p:sp>
      <p:sp>
        <p:nvSpPr>
          <p:cNvPr id="6" name="">
            <a:extLst xmlns:a="http://schemas.openxmlformats.org/drawingml/2006/main">
              <a:ext uri="{FF2B5EF4-FFF2-40B4-BE49-F238E27FC236}">
                <a16:creationId xmlns:a16="http://schemas.microsoft.com/office/drawing/2014/main" id="{7B81E7AB-1346-4F31-A81F-B150D08BF480}"/>
              </a:ext>
            </a:extLst>
          </p:cNvPr>
          <p:cNvSpPr>
            <a:spLocks xmlns:a="http://schemas.openxmlformats.org/drawingml/2006/main" noGrp="1"/>
          </p:cNvSpPr>
          <p:nvPr/>
        </p:nvSpPr>
        <p:spPr>
          <a:xfrm xmlns:a="http://schemas.openxmlformats.org/drawingml/2006/main">
            <a:off x="838200" y="2705100"/>
            <a:ext cx="2476500" cy="628650"/>
          </a:xfrm>
          <a:prstGeom xmlns:a="http://schemas.openxmlformats.org/drawingml/2006/main" prst="roundRect">
            <a:avLst>
              <a:gd name="adj" fmla="val 12121"/>
            </a:avLst>
          </a:prstGeom>
          <a:solidFill xmlns:a="http://schemas.openxmlformats.org/drawingml/2006/main">
            <a:srgbClr val="0D1C31"/>
          </a:solidFill>
          <a:ln xmlns:a="http://schemas.openxmlformats.org/drawingml/2006/main" w="14288">
            <a:solidFill>
              <a:srgbClr val="62D6C7"/>
            </a:solidFill>
            <a:prstDash val="solid"/>
          </a:ln>
        </p:spPr>
        <p:txBody>
          <a:bodyPr xmlns:a="http://schemas.openxmlformats.org/drawingml/2006/main" wrap="square" lIns="95250" tIns="57150" rIns="95250" bIns="57150" anchor="ctr">
            <a:normAutofit fontScale="100000"/>
          </a:bodyPr>
          <a:lstStyle xmlns:a="http://schemas.openxmlformats.org/drawingml/2006/main">
            <a:defPPr algn="ctr">
              <a:defRPr sz="1425" b="0">
                <a:solidFill>
                  <a:srgbClr val="F4F7FB"/>
                </a:solidFill>
                <a:latin typeface="Inter"/>
                <a:ea typeface="Inter"/>
                <a:cs typeface="Inter"/>
              </a:defRPr>
            </a:defPPr>
          </a:lstStyle>
          <a:p xmlns:a="http://schemas.openxmlformats.org/drawingml/2006/main">
            <a:pPr algn="ctr">
              <a:lnSpc>
                <a:spcPct val="100000"/>
              </a:lnSpc>
              <a:buNone/>
              <a:defRPr sz="1425" b="0">
                <a:solidFill>
                  <a:srgbClr val="F4F7FB"/>
                </a:solidFill>
                <a:latin typeface="Inter"/>
                <a:ea typeface="Inter"/>
                <a:cs typeface="Inter"/>
              </a:defRPr>
            </a:pPr>
            <a:r>
              <a:rPr sz="1425" b="0">
                <a:solidFill>
                  <a:srgbClr val="F4F7FB"/>
                </a:solidFill>
                <a:latin typeface="Inter"/>
                <a:ea typeface="Inter"/>
                <a:cs typeface="Inter"/>
              </a:rPr>
              <a:t>Supplied move</a:t>
            </a:r>
          </a:p>
          <a:p xmlns:a="http://schemas.openxmlformats.org/drawingml/2006/main">
            <a:pPr algn="ctr">
              <a:lnSpc>
                <a:spcPct val="100000"/>
              </a:lnSpc>
              <a:buNone/>
              <a:defRPr sz="1425" b="0">
                <a:solidFill>
                  <a:srgbClr val="F4F7FB"/>
                </a:solidFill>
                <a:latin typeface="Inter"/>
                <a:ea typeface="Inter"/>
                <a:cs typeface="Inter"/>
              </a:defRPr>
            </a:pPr>
            <a:r>
              <a:rPr sz="1425" b="0">
                <a:solidFill>
                  <a:srgbClr val="F4F7FB"/>
                </a:solidFill>
                <a:latin typeface="Inter"/>
                <a:ea typeface="Inter"/>
                <a:cs typeface="Inter"/>
              </a:rPr>
              <a:t>coordinates</a:t>
            </a:r>
          </a:p>
        </p:txBody>
      </p:sp>
      <p:sp>
        <p:nvSpPr>
          <p:cNvPr id="7" name="">
            <a:extLst xmlns:a="http://schemas.openxmlformats.org/drawingml/2006/main">
              <a:ext uri="{FF2B5EF4-FFF2-40B4-BE49-F238E27FC236}">
                <a16:creationId xmlns:a16="http://schemas.microsoft.com/office/drawing/2014/main" id="{2010D60B-B22A-49F7-8CB9-7D92C7900CD9}"/>
              </a:ext>
            </a:extLst>
          </p:cNvPr>
          <p:cNvSpPr>
            <a:spLocks xmlns:a="http://schemas.openxmlformats.org/drawingml/2006/main" noGrp="1"/>
          </p:cNvSpPr>
          <p:nvPr/>
        </p:nvSpPr>
        <p:spPr>
          <a:xfrm xmlns:a="http://schemas.openxmlformats.org/drawingml/2006/main">
            <a:off x="4533900" y="2705100"/>
            <a:ext cx="2762250" cy="628650"/>
          </a:xfrm>
          <a:prstGeom xmlns:a="http://schemas.openxmlformats.org/drawingml/2006/main" prst="roundRect">
            <a:avLst>
              <a:gd name="adj" fmla="val 12121"/>
            </a:avLst>
          </a:prstGeom>
          <a:solidFill xmlns:a="http://schemas.openxmlformats.org/drawingml/2006/main">
            <a:srgbClr val="0D1C31"/>
          </a:solidFill>
          <a:ln xmlns:a="http://schemas.openxmlformats.org/drawingml/2006/main" w="14288">
            <a:solidFill>
              <a:srgbClr val="62D6C7"/>
            </a:solidFill>
            <a:prstDash val="solid"/>
          </a:ln>
        </p:spPr>
        <p:txBody>
          <a:bodyPr xmlns:a="http://schemas.openxmlformats.org/drawingml/2006/main" wrap="square" lIns="95250" tIns="57150" rIns="95250" bIns="57150" anchor="ctr">
            <a:normAutofit fontScale="100000"/>
          </a:bodyPr>
          <a:lstStyle xmlns:a="http://schemas.openxmlformats.org/drawingml/2006/main">
            <a:defPPr algn="ctr">
              <a:defRPr sz="1425" b="0">
                <a:solidFill>
                  <a:srgbClr val="F4F7FB"/>
                </a:solidFill>
                <a:latin typeface="Inter"/>
                <a:ea typeface="Inter"/>
                <a:cs typeface="Inter"/>
              </a:defRPr>
            </a:defPPr>
          </a:lstStyle>
          <a:p xmlns:a="http://schemas.openxmlformats.org/drawingml/2006/main">
            <a:pPr algn="ctr">
              <a:lnSpc>
                <a:spcPct val="100000"/>
              </a:lnSpc>
              <a:buNone/>
              <a:defRPr sz="1425" b="0">
                <a:solidFill>
                  <a:srgbClr val="F4F7FB"/>
                </a:solidFill>
                <a:latin typeface="Inter"/>
                <a:ea typeface="Inter"/>
                <a:cs typeface="Inter"/>
              </a:defRPr>
            </a:pPr>
            <a:r>
              <a:rPr sz="1425" b="0">
                <a:solidFill>
                  <a:srgbClr val="F4F7FB"/>
                </a:solidFill>
                <a:latin typeface="Inter"/>
                <a:ea typeface="Inter"/>
                <a:cs typeface="Inter"/>
              </a:rPr>
              <a:t>Coordinate + status</a:t>
            </a:r>
          </a:p>
          <a:p xmlns:a="http://schemas.openxmlformats.org/drawingml/2006/main">
            <a:pPr algn="ctr">
              <a:lnSpc>
                <a:spcPct val="100000"/>
              </a:lnSpc>
              <a:buNone/>
              <a:defRPr sz="1425" b="0">
                <a:solidFill>
                  <a:srgbClr val="F4F7FB"/>
                </a:solidFill>
                <a:latin typeface="Inter"/>
                <a:ea typeface="Inter"/>
                <a:cs typeface="Inter"/>
              </a:defRPr>
            </a:pPr>
            <a:r>
              <a:rPr sz="1425" b="0">
                <a:solidFill>
                  <a:srgbClr val="F4F7FB"/>
                </a:solidFill>
                <a:latin typeface="Inter"/>
                <a:ea typeface="Inter"/>
                <a:cs typeface="Inter"/>
              </a:rPr>
              <a:t>quantum circuit</a:t>
            </a:r>
          </a:p>
        </p:txBody>
      </p:sp>
      <p:sp>
        <p:nvSpPr>
          <p:cNvPr id="8" name="">
            <a:extLst xmlns:a="http://schemas.openxmlformats.org/drawingml/2006/main">
              <a:ext uri="{FF2B5EF4-FFF2-40B4-BE49-F238E27FC236}">
                <a16:creationId xmlns:a16="http://schemas.microsoft.com/office/drawing/2014/main" id="{D0A6C666-0A59-46D5-A789-509E2527FADB}"/>
              </a:ext>
            </a:extLst>
          </p:cNvPr>
          <p:cNvSpPr>
            <a:spLocks xmlns:a="http://schemas.openxmlformats.org/drawingml/2006/main" noGrp="1"/>
          </p:cNvSpPr>
          <p:nvPr/>
        </p:nvSpPr>
        <p:spPr>
          <a:xfrm xmlns:a="http://schemas.openxmlformats.org/drawingml/2006/main">
            <a:off x="8305800" y="2705100"/>
            <a:ext cx="3028950" cy="628650"/>
          </a:xfrm>
          <a:prstGeom xmlns:a="http://schemas.openxmlformats.org/drawingml/2006/main" prst="roundRect">
            <a:avLst>
              <a:gd name="adj" fmla="val 12121"/>
            </a:avLst>
          </a:prstGeom>
          <a:solidFill xmlns:a="http://schemas.openxmlformats.org/drawingml/2006/main">
            <a:srgbClr val="0D1C31"/>
          </a:solidFill>
          <a:ln xmlns:a="http://schemas.openxmlformats.org/drawingml/2006/main" w="14288">
            <a:solidFill>
              <a:srgbClr val="62D6C7"/>
            </a:solidFill>
            <a:prstDash val="solid"/>
          </a:ln>
        </p:spPr>
        <p:txBody>
          <a:bodyPr xmlns:a="http://schemas.openxmlformats.org/drawingml/2006/main" wrap="square" lIns="95250" tIns="57150" rIns="95250" bIns="57150" anchor="ctr">
            <a:normAutofit fontScale="100000"/>
          </a:bodyPr>
          <a:lstStyle xmlns:a="http://schemas.openxmlformats.org/drawingml/2006/main">
            <a:defPPr algn="ctr">
              <a:defRPr sz="1425" b="0">
                <a:solidFill>
                  <a:srgbClr val="F4F7FB"/>
                </a:solidFill>
                <a:latin typeface="Inter"/>
                <a:ea typeface="Inter"/>
                <a:cs typeface="Inter"/>
              </a:defRPr>
            </a:defPPr>
          </a:lstStyle>
          <a:p xmlns:a="http://schemas.openxmlformats.org/drawingml/2006/main">
            <a:pPr algn="ctr">
              <a:lnSpc>
                <a:spcPct val="100000"/>
              </a:lnSpc>
              <a:buNone/>
              <a:defRPr sz="1425" b="0">
                <a:solidFill>
                  <a:srgbClr val="F4F7FB"/>
                </a:solidFill>
                <a:latin typeface="Inter"/>
                <a:ea typeface="Inter"/>
                <a:cs typeface="Inter"/>
              </a:defRPr>
            </a:pPr>
            <a:r>
              <a:rPr sz="1425" b="0">
                <a:solidFill>
                  <a:srgbClr val="F4F7FB"/>
                </a:solidFill>
                <a:latin typeface="Inter"/>
                <a:ea typeface="Inter"/>
                <a:cs typeface="Inter"/>
              </a:rPr>
              <a:t>Measured diagnostic</a:t>
            </a:r>
          </a:p>
          <a:p xmlns:a="http://schemas.openxmlformats.org/drawingml/2006/main">
            <a:pPr algn="ctr">
              <a:lnSpc>
                <a:spcPct val="100000"/>
              </a:lnSpc>
              <a:buNone/>
              <a:defRPr sz="1425" b="0">
                <a:solidFill>
                  <a:srgbClr val="F4F7FB"/>
                </a:solidFill>
                <a:latin typeface="Inter"/>
                <a:ea typeface="Inter"/>
                <a:cs typeface="Inter"/>
              </a:defRPr>
            </a:pPr>
            <a:r>
              <a:rPr sz="1425" b="0">
                <a:solidFill>
                  <a:srgbClr val="F4F7FB"/>
                </a:solidFill>
                <a:latin typeface="Inter"/>
                <a:ea typeface="Inter"/>
                <a:cs typeface="Inter"/>
              </a:rPr>
              <a:t>bits</a:t>
            </a:r>
          </a:p>
        </p:txBody>
      </p:sp>
      <p:cxnSp>
        <p:nvCxnSpPr>
          <p:cNvPr id="9" name="">
            <a:extLst xmlns:a="http://schemas.openxmlformats.org/drawingml/2006/main">
              <a:ext uri="{FF2B5EF4-FFF2-40B4-BE49-F238E27FC236}">
                <a16:creationId xmlns:a16="http://schemas.microsoft.com/office/drawing/2014/main" id="{AAA35416-B189-468C-AA6D-7570AE7E03E4}"/>
              </a:ext>
            </a:extLst>
          </p:cNvPr>
          <p:cNvCxnSpPr/>
          <p:nvPr/>
        </p:nvCxnSpPr>
        <p:spPr>
          <a:xfrm xmlns:a="http://schemas.openxmlformats.org/drawingml/2006/main">
            <a:off x="3409950" y="3019425"/>
            <a:ext cx="990600" cy="0"/>
          </a:xfrm>
          <a:prstGeom xmlns:a="http://schemas.openxmlformats.org/drawingml/2006/main" prst="straightConnector1">
            <a:avLst/>
          </a:prstGeom>
          <a:ln xmlns:a="http://schemas.openxmlformats.org/drawingml/2006/main" w="19050">
            <a:solidFill>
              <a:srgbClr val="62D6C7"/>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D2B160FB-C419-40F3-8D81-44B1CEE2BDE3}"/>
              </a:ext>
            </a:extLst>
          </p:cNvPr>
          <p:cNvCxnSpPr/>
          <p:nvPr/>
        </p:nvCxnSpPr>
        <p:spPr>
          <a:xfrm xmlns:a="http://schemas.openxmlformats.org/drawingml/2006/main">
            <a:off x="7391400" y="3019425"/>
            <a:ext cx="781050" cy="0"/>
          </a:xfrm>
          <a:prstGeom xmlns:a="http://schemas.openxmlformats.org/drawingml/2006/main" prst="straightConnector1">
            <a:avLst/>
          </a:prstGeom>
          <a:ln xmlns:a="http://schemas.openxmlformats.org/drawingml/2006/main" w="19050">
            <a:solidFill>
              <a:srgbClr val="62D6C7"/>
            </a:solidFill>
            <a:prstDash val="solid"/>
            <a:tailEnd type="arrow" w="med" len="med"/>
          </a:ln>
        </p:spPr>
      </p:cxnSp>
      <p:sp>
        <p:nvSpPr>
          <p:cNvPr id="11" name="">
            <a:extLst xmlns:a="http://schemas.openxmlformats.org/drawingml/2006/main">
              <a:ext uri="{FF2B5EF4-FFF2-40B4-BE49-F238E27FC236}">
                <a16:creationId xmlns:a16="http://schemas.microsoft.com/office/drawing/2014/main" id="{48D2F755-0FAF-43C1-9EA8-29B9317687D9}"/>
              </a:ext>
            </a:extLst>
          </p:cNvPr>
          <p:cNvSpPr>
            <a:spLocks xmlns:a="http://schemas.openxmlformats.org/drawingml/2006/main" noGrp="1"/>
          </p:cNvSpPr>
          <p:nvPr/>
        </p:nvSpPr>
        <p:spPr>
          <a:xfrm xmlns:a="http://schemas.openxmlformats.org/drawingml/2006/main">
            <a:off x="771525" y="3657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i="0">
                <a:solidFill>
                  <a:srgbClr val="F2C66D"/>
                </a:solidFill>
                <a:latin typeface="Inter"/>
                <a:ea typeface="Inter"/>
                <a:cs typeface="Inter"/>
              </a:defRPr>
            </a:defPPr>
          </a:lstStyle>
          <a:p xmlns:a="http://schemas.openxmlformats.org/drawingml/2006/main">
            <a:pPr algn="l">
              <a:lnSpc>
                <a:spcPct val="108000"/>
              </a:lnSpc>
              <a:buNone/>
              <a:defRPr sz="1200" b="1" i="0">
                <a:solidFill>
                  <a:srgbClr val="F2C66D"/>
                </a:solidFill>
                <a:latin typeface="Inter"/>
                <a:ea typeface="Inter"/>
                <a:cs typeface="Inter"/>
              </a:defRPr>
            </a:pPr>
            <a:r>
              <a:rPr sz="1200" b="1" i="0">
                <a:solidFill>
                  <a:srgbClr val="F2C66D"/>
                </a:solidFill>
                <a:latin typeface="Inter"/>
                <a:ea typeface="Inter"/>
                <a:cs typeface="Inter"/>
              </a:rPr>
              <a:t>3×3 AI game</a:t>
            </a:r>
          </a:p>
        </p:txBody>
      </p:sp>
      <p:sp>
        <p:nvSpPr>
          <p:cNvPr id="12" name="">
            <a:extLst xmlns:a="http://schemas.openxmlformats.org/drawingml/2006/main">
              <a:ext uri="{FF2B5EF4-FFF2-40B4-BE49-F238E27FC236}">
                <a16:creationId xmlns:a16="http://schemas.microsoft.com/office/drawing/2014/main" id="{E3FD67D2-6148-467E-A17D-541C9A97B6A9}"/>
              </a:ext>
            </a:extLst>
          </p:cNvPr>
          <p:cNvSpPr>
            <a:spLocks xmlns:a="http://schemas.openxmlformats.org/drawingml/2006/main" noGrp="1"/>
          </p:cNvSpPr>
          <p:nvPr/>
        </p:nvSpPr>
        <p:spPr>
          <a:xfrm xmlns:a="http://schemas.openxmlformats.org/drawingml/2006/main">
            <a:off x="838200" y="3981450"/>
            <a:ext cx="2476500" cy="628650"/>
          </a:xfrm>
          <a:prstGeom xmlns:a="http://schemas.openxmlformats.org/drawingml/2006/main" prst="roundRect">
            <a:avLst>
              <a:gd name="adj" fmla="val 12121"/>
            </a:avLst>
          </a:prstGeom>
          <a:solidFill xmlns:a="http://schemas.openxmlformats.org/drawingml/2006/main">
            <a:srgbClr val="0D1C31"/>
          </a:solidFill>
          <a:ln xmlns:a="http://schemas.openxmlformats.org/drawingml/2006/main" w="14288">
            <a:solidFill>
              <a:srgbClr val="F2C66D"/>
            </a:solidFill>
            <a:prstDash val="solid"/>
          </a:ln>
        </p:spPr>
        <p:txBody>
          <a:bodyPr xmlns:a="http://schemas.openxmlformats.org/drawingml/2006/main" wrap="square" lIns="95250" tIns="57150" rIns="95250" bIns="57150" anchor="ctr">
            <a:normAutofit fontScale="100000"/>
          </a:bodyPr>
          <a:lstStyle xmlns:a="http://schemas.openxmlformats.org/drawingml/2006/main">
            <a:defPPr algn="ctr">
              <a:defRPr sz="1425" b="0">
                <a:solidFill>
                  <a:srgbClr val="F4F7FB"/>
                </a:solidFill>
                <a:latin typeface="Inter"/>
                <a:ea typeface="Inter"/>
                <a:cs typeface="Inter"/>
              </a:defRPr>
            </a:defPPr>
          </a:lstStyle>
          <a:p xmlns:a="http://schemas.openxmlformats.org/drawingml/2006/main">
            <a:pPr algn="ctr">
              <a:lnSpc>
                <a:spcPct val="100000"/>
              </a:lnSpc>
              <a:buNone/>
              <a:defRPr sz="1425" b="0">
                <a:solidFill>
                  <a:srgbClr val="F4F7FB"/>
                </a:solidFill>
                <a:latin typeface="Inter"/>
                <a:ea typeface="Inter"/>
                <a:cs typeface="Inter"/>
              </a:defRPr>
            </a:pPr>
            <a:r>
              <a:rPr sz="1425" b="0">
                <a:solidFill>
                  <a:srgbClr val="F4F7FB"/>
                </a:solidFill>
                <a:latin typeface="Inter"/>
                <a:ea typeface="Inter"/>
                <a:cs typeface="Inter"/>
              </a:rPr>
              <a:t>Legal move</a:t>
            </a:r>
          </a:p>
          <a:p xmlns:a="http://schemas.openxmlformats.org/drawingml/2006/main">
            <a:pPr algn="ctr">
              <a:lnSpc>
                <a:spcPct val="100000"/>
              </a:lnSpc>
              <a:buNone/>
              <a:defRPr sz="1425" b="0">
                <a:solidFill>
                  <a:srgbClr val="F4F7FB"/>
                </a:solidFill>
                <a:latin typeface="Inter"/>
                <a:ea typeface="Inter"/>
                <a:cs typeface="Inter"/>
              </a:defRPr>
            </a:pPr>
            <a:r>
              <a:rPr sz="1425" b="0">
                <a:solidFill>
                  <a:srgbClr val="F4F7FB"/>
                </a:solidFill>
                <a:latin typeface="Inter"/>
                <a:ea typeface="Inter"/>
                <a:cs typeface="Inter"/>
              </a:rPr>
              <a:t>list</a:t>
            </a:r>
          </a:p>
        </p:txBody>
      </p:sp>
      <p:sp>
        <p:nvSpPr>
          <p:cNvPr id="13" name="">
            <a:extLst xmlns:a="http://schemas.openxmlformats.org/drawingml/2006/main">
              <a:ext uri="{FF2B5EF4-FFF2-40B4-BE49-F238E27FC236}">
                <a16:creationId xmlns:a16="http://schemas.microsoft.com/office/drawing/2014/main" id="{BA32EE26-473C-4BC0-A256-4E6B6C920984}"/>
              </a:ext>
            </a:extLst>
          </p:cNvPr>
          <p:cNvSpPr>
            <a:spLocks xmlns:a="http://schemas.openxmlformats.org/drawingml/2006/main" noGrp="1"/>
          </p:cNvSpPr>
          <p:nvPr/>
        </p:nvSpPr>
        <p:spPr>
          <a:xfrm xmlns:a="http://schemas.openxmlformats.org/drawingml/2006/main">
            <a:off x="4533900" y="3981450"/>
            <a:ext cx="2762250" cy="628650"/>
          </a:xfrm>
          <a:prstGeom xmlns:a="http://schemas.openxmlformats.org/drawingml/2006/main" prst="roundRect">
            <a:avLst>
              <a:gd name="adj" fmla="val 12121"/>
            </a:avLst>
          </a:prstGeom>
          <a:solidFill xmlns:a="http://schemas.openxmlformats.org/drawingml/2006/main">
            <a:srgbClr val="0D1C31"/>
          </a:solidFill>
          <a:ln xmlns:a="http://schemas.openxmlformats.org/drawingml/2006/main" w="14288">
            <a:solidFill>
              <a:srgbClr val="F2C66D"/>
            </a:solidFill>
            <a:prstDash val="solid"/>
          </a:ln>
        </p:spPr>
        <p:txBody>
          <a:bodyPr xmlns:a="http://schemas.openxmlformats.org/drawingml/2006/main" wrap="square" lIns="95250" tIns="57150" rIns="95250" bIns="57150" anchor="ctr">
            <a:normAutofit fontScale="100000"/>
          </a:bodyPr>
          <a:lstStyle xmlns:a="http://schemas.openxmlformats.org/drawingml/2006/main">
            <a:defPPr algn="ctr">
              <a:defRPr sz="1425" b="0">
                <a:solidFill>
                  <a:srgbClr val="F4F7FB"/>
                </a:solidFill>
                <a:latin typeface="Inter"/>
                <a:ea typeface="Inter"/>
                <a:cs typeface="Inter"/>
              </a:defRPr>
            </a:defPPr>
          </a:lstStyle>
          <a:p xmlns:a="http://schemas.openxmlformats.org/drawingml/2006/main">
            <a:pPr algn="ctr">
              <a:lnSpc>
                <a:spcPct val="100000"/>
              </a:lnSpc>
              <a:buNone/>
              <a:defRPr sz="1425" b="0">
                <a:solidFill>
                  <a:srgbClr val="F4F7FB"/>
                </a:solidFill>
                <a:latin typeface="Inter"/>
                <a:ea typeface="Inter"/>
                <a:cs typeface="Inter"/>
              </a:defRPr>
            </a:pPr>
            <a:r>
              <a:rPr sz="1425" b="0">
                <a:solidFill>
                  <a:srgbClr val="F4F7FB"/>
                </a:solidFill>
                <a:latin typeface="Inter"/>
                <a:ea typeface="Inter"/>
                <a:cs typeface="Inter"/>
              </a:rPr>
              <a:t>Classical Minimax</a:t>
            </a:r>
          </a:p>
          <a:p xmlns:a="http://schemas.openxmlformats.org/drawingml/2006/main">
            <a:pPr algn="ctr">
              <a:lnSpc>
                <a:spcPct val="100000"/>
              </a:lnSpc>
              <a:buNone/>
              <a:defRPr sz="1425" b="0">
                <a:solidFill>
                  <a:srgbClr val="F4F7FB"/>
                </a:solidFill>
                <a:latin typeface="Inter"/>
                <a:ea typeface="Inter"/>
                <a:cs typeface="Inter"/>
              </a:defRPr>
            </a:pPr>
            <a:r>
              <a:rPr sz="1425" b="0">
                <a:solidFill>
                  <a:srgbClr val="F4F7FB"/>
                </a:solidFill>
                <a:latin typeface="Inter"/>
                <a:ea typeface="Inter"/>
                <a:cs typeface="Inter"/>
              </a:rPr>
              <a:t>depth 3</a:t>
            </a:r>
          </a:p>
        </p:txBody>
      </p:sp>
      <p:sp>
        <p:nvSpPr>
          <p:cNvPr id="14" name="">
            <a:extLst xmlns:a="http://schemas.openxmlformats.org/drawingml/2006/main">
              <a:ext uri="{FF2B5EF4-FFF2-40B4-BE49-F238E27FC236}">
                <a16:creationId xmlns:a16="http://schemas.microsoft.com/office/drawing/2014/main" id="{82C04D9F-FDF9-4A70-B433-6F67612422AE}"/>
              </a:ext>
            </a:extLst>
          </p:cNvPr>
          <p:cNvSpPr>
            <a:spLocks xmlns:a="http://schemas.openxmlformats.org/drawingml/2006/main" noGrp="1"/>
          </p:cNvSpPr>
          <p:nvPr/>
        </p:nvSpPr>
        <p:spPr>
          <a:xfrm xmlns:a="http://schemas.openxmlformats.org/drawingml/2006/main">
            <a:off x="8305800" y="3981450"/>
            <a:ext cx="3028950" cy="628650"/>
          </a:xfrm>
          <a:prstGeom xmlns:a="http://schemas.openxmlformats.org/drawingml/2006/main" prst="roundRect">
            <a:avLst>
              <a:gd name="adj" fmla="val 12121"/>
            </a:avLst>
          </a:prstGeom>
          <a:solidFill xmlns:a="http://schemas.openxmlformats.org/drawingml/2006/main">
            <a:srgbClr val="0D1C31"/>
          </a:solidFill>
          <a:ln xmlns:a="http://schemas.openxmlformats.org/drawingml/2006/main" w="14288">
            <a:solidFill>
              <a:srgbClr val="F2C66D"/>
            </a:solidFill>
            <a:prstDash val="solid"/>
          </a:ln>
        </p:spPr>
        <p:txBody>
          <a:bodyPr xmlns:a="http://schemas.openxmlformats.org/drawingml/2006/main" wrap="square" lIns="95250" tIns="57150" rIns="95250" bIns="57150" anchor="ctr">
            <a:normAutofit fontScale="100000"/>
          </a:bodyPr>
          <a:lstStyle xmlns:a="http://schemas.openxmlformats.org/drawingml/2006/main">
            <a:defPPr algn="ctr">
              <a:defRPr sz="1425" b="0">
                <a:solidFill>
                  <a:srgbClr val="F4F7FB"/>
                </a:solidFill>
                <a:latin typeface="Inter"/>
                <a:ea typeface="Inter"/>
                <a:cs typeface="Inter"/>
              </a:defRPr>
            </a:defPPr>
          </a:lstStyle>
          <a:p xmlns:a="http://schemas.openxmlformats.org/drawingml/2006/main">
            <a:pPr algn="ctr">
              <a:lnSpc>
                <a:spcPct val="100000"/>
              </a:lnSpc>
              <a:buNone/>
              <a:defRPr sz="1425" b="0">
                <a:solidFill>
                  <a:srgbClr val="F4F7FB"/>
                </a:solidFill>
                <a:latin typeface="Inter"/>
                <a:ea typeface="Inter"/>
                <a:cs typeface="Inter"/>
              </a:defRPr>
            </a:pPr>
            <a:r>
              <a:rPr sz="1425" b="0">
                <a:solidFill>
                  <a:srgbClr val="F4F7FB"/>
                </a:solidFill>
                <a:latin typeface="Inter"/>
                <a:ea typeface="Inter"/>
                <a:cs typeface="Inter"/>
              </a:rPr>
              <a:t>Selected Move</a:t>
            </a:r>
          </a:p>
          <a:p xmlns:a="http://schemas.openxmlformats.org/drawingml/2006/main">
            <a:pPr algn="ctr">
              <a:lnSpc>
                <a:spcPct val="100000"/>
              </a:lnSpc>
              <a:buNone/>
              <a:defRPr sz="1425" b="0">
                <a:solidFill>
                  <a:srgbClr val="F4F7FB"/>
                </a:solidFill>
                <a:latin typeface="Inter"/>
                <a:ea typeface="Inter"/>
                <a:cs typeface="Inter"/>
              </a:defRPr>
            </a:pPr>
            <a:r>
              <a:rPr sz="1425" b="0">
                <a:solidFill>
                  <a:srgbClr val="F4F7FB"/>
                </a:solidFill>
                <a:latin typeface="Inter"/>
                <a:ea typeface="Inter"/>
                <a:cs typeface="Inter"/>
              </a:rPr>
              <a:t>classical apply</a:t>
            </a:r>
          </a:p>
        </p:txBody>
      </p:sp>
      <p:cxnSp>
        <p:nvCxnSpPr>
          <p:cNvPr id="15" name="">
            <a:extLst xmlns:a="http://schemas.openxmlformats.org/drawingml/2006/main">
              <a:ext uri="{FF2B5EF4-FFF2-40B4-BE49-F238E27FC236}">
                <a16:creationId xmlns:a16="http://schemas.microsoft.com/office/drawing/2014/main" id="{AA30FBD2-A6F6-4157-9A37-62C19AB398A4}"/>
              </a:ext>
            </a:extLst>
          </p:cNvPr>
          <p:cNvCxnSpPr/>
          <p:nvPr/>
        </p:nvCxnSpPr>
        <p:spPr>
          <a:xfrm xmlns:a="http://schemas.openxmlformats.org/drawingml/2006/main">
            <a:off x="3409950" y="4295775"/>
            <a:ext cx="990600" cy="0"/>
          </a:xfrm>
          <a:prstGeom xmlns:a="http://schemas.openxmlformats.org/drawingml/2006/main" prst="straightConnector1">
            <a:avLst/>
          </a:prstGeom>
          <a:ln xmlns:a="http://schemas.openxmlformats.org/drawingml/2006/main" w="19050">
            <a:solidFill>
              <a:srgbClr val="F2C66D"/>
            </a:solidFill>
            <a:prstDash val="solid"/>
            <a:tailEnd type="arrow" w="med" len="med"/>
          </a:ln>
        </p:spPr>
      </p:cxnSp>
      <p:cxnSp>
        <p:nvCxnSpPr>
          <p:cNvPr id="16" name="">
            <a:extLst xmlns:a="http://schemas.openxmlformats.org/drawingml/2006/main">
              <a:ext uri="{FF2B5EF4-FFF2-40B4-BE49-F238E27FC236}">
                <a16:creationId xmlns:a16="http://schemas.microsoft.com/office/drawing/2014/main" id="{AB3E9C33-5BE8-4AC5-8320-16711E6BC87D}"/>
              </a:ext>
            </a:extLst>
          </p:cNvPr>
          <p:cNvCxnSpPr/>
          <p:nvPr/>
        </p:nvCxnSpPr>
        <p:spPr>
          <a:xfrm xmlns:a="http://schemas.openxmlformats.org/drawingml/2006/main">
            <a:off x="7391400" y="4295775"/>
            <a:ext cx="781050" cy="0"/>
          </a:xfrm>
          <a:prstGeom xmlns:a="http://schemas.openxmlformats.org/drawingml/2006/main" prst="straightConnector1">
            <a:avLst/>
          </a:prstGeom>
          <a:ln xmlns:a="http://schemas.openxmlformats.org/drawingml/2006/main" w="19050">
            <a:solidFill>
              <a:srgbClr val="F2C66D"/>
            </a:solidFill>
            <a:prstDash val="solid"/>
            <a:tailEnd type="arrow" w="med" len="med"/>
          </a:ln>
        </p:spPr>
      </p:cxnSp>
      <p:sp>
        <p:nvSpPr>
          <p:cNvPr id="17" name="">
            <a:extLst xmlns:a="http://schemas.openxmlformats.org/drawingml/2006/main">
              <a:ext uri="{FF2B5EF4-FFF2-40B4-BE49-F238E27FC236}">
                <a16:creationId xmlns:a16="http://schemas.microsoft.com/office/drawing/2014/main" id="{C2D5C2F4-CE51-44CE-A0EE-BF0E7736B169}"/>
              </a:ext>
            </a:extLst>
          </p:cNvPr>
          <p:cNvSpPr>
            <a:spLocks xmlns:a="http://schemas.openxmlformats.org/drawingml/2006/main" noGrp="1"/>
          </p:cNvSpPr>
          <p:nvPr/>
        </p:nvSpPr>
        <p:spPr>
          <a:xfrm xmlns:a="http://schemas.openxmlformats.org/drawingml/2006/main">
            <a:off x="771525" y="49339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i="0">
                <a:solidFill>
                  <a:srgbClr val="FF8278"/>
                </a:solidFill>
                <a:latin typeface="Inter"/>
                <a:ea typeface="Inter"/>
                <a:cs typeface="Inter"/>
              </a:defRPr>
            </a:defPPr>
          </a:lstStyle>
          <a:p xmlns:a="http://schemas.openxmlformats.org/drawingml/2006/main">
            <a:pPr algn="l">
              <a:lnSpc>
                <a:spcPct val="108000"/>
              </a:lnSpc>
              <a:buNone/>
              <a:defRPr sz="1200" b="1" i="0">
                <a:solidFill>
                  <a:srgbClr val="FF8278"/>
                </a:solidFill>
                <a:latin typeface="Inter"/>
                <a:ea typeface="Inter"/>
                <a:cs typeface="Inter"/>
              </a:defRPr>
            </a:pPr>
            <a:r>
              <a:rPr sz="1200" b="1" i="0">
                <a:solidFill>
                  <a:srgbClr val="FF8278"/>
                </a:solidFill>
                <a:latin typeface="Inter"/>
                <a:ea typeface="Inter"/>
                <a:cs typeface="Inter"/>
              </a:rPr>
              <a:t>8×8 hybrid AI</a:t>
            </a:r>
          </a:p>
        </p:txBody>
      </p:sp>
      <p:sp>
        <p:nvSpPr>
          <p:cNvPr id="18" name="">
            <a:extLst xmlns:a="http://schemas.openxmlformats.org/drawingml/2006/main">
              <a:ext uri="{FF2B5EF4-FFF2-40B4-BE49-F238E27FC236}">
                <a16:creationId xmlns:a16="http://schemas.microsoft.com/office/drawing/2014/main" id="{9CD061C0-ABF3-4BF3-820A-DCFFFF23B3E4}"/>
              </a:ext>
            </a:extLst>
          </p:cNvPr>
          <p:cNvSpPr>
            <a:spLocks xmlns:a="http://schemas.openxmlformats.org/drawingml/2006/main" noGrp="1"/>
          </p:cNvSpPr>
          <p:nvPr/>
        </p:nvSpPr>
        <p:spPr>
          <a:xfrm xmlns:a="http://schemas.openxmlformats.org/drawingml/2006/main">
            <a:off x="838200" y="5257800"/>
            <a:ext cx="2476500" cy="628650"/>
          </a:xfrm>
          <a:prstGeom xmlns:a="http://schemas.openxmlformats.org/drawingml/2006/main" prst="roundRect">
            <a:avLst>
              <a:gd name="adj" fmla="val 12121"/>
            </a:avLst>
          </a:prstGeom>
          <a:solidFill xmlns:a="http://schemas.openxmlformats.org/drawingml/2006/main">
            <a:srgbClr val="0D1C31"/>
          </a:solidFill>
          <a:ln xmlns:a="http://schemas.openxmlformats.org/drawingml/2006/main" w="14288">
            <a:solidFill>
              <a:srgbClr val="FF8278"/>
            </a:solidFill>
            <a:prstDash val="solid"/>
          </a:ln>
        </p:spPr>
        <p:txBody>
          <a:bodyPr xmlns:a="http://schemas.openxmlformats.org/drawingml/2006/main" wrap="square" lIns="95250" tIns="57150" rIns="95250" bIns="57150" anchor="ctr">
            <a:normAutofit fontScale="100000"/>
          </a:bodyPr>
          <a:lstStyle xmlns:a="http://schemas.openxmlformats.org/drawingml/2006/main">
            <a:defPPr algn="ctr">
              <a:defRPr sz="1425" b="0">
                <a:solidFill>
                  <a:srgbClr val="F4F7FB"/>
                </a:solidFill>
                <a:latin typeface="Inter"/>
                <a:ea typeface="Inter"/>
                <a:cs typeface="Inter"/>
              </a:defRPr>
            </a:defPPr>
          </a:lstStyle>
          <a:p xmlns:a="http://schemas.openxmlformats.org/drawingml/2006/main">
            <a:pPr algn="ctr">
              <a:lnSpc>
                <a:spcPct val="100000"/>
              </a:lnSpc>
              <a:buNone/>
              <a:defRPr sz="1425" b="0">
                <a:solidFill>
                  <a:srgbClr val="F4F7FB"/>
                </a:solidFill>
                <a:latin typeface="Inter"/>
                <a:ea typeface="Inter"/>
                <a:cs typeface="Inter"/>
              </a:defRPr>
            </a:pPr>
            <a:r>
              <a:rPr sz="1425" b="0">
                <a:solidFill>
                  <a:srgbClr val="F4F7FB"/>
                </a:solidFill>
                <a:latin typeface="Inter"/>
                <a:ea typeface="Inter"/>
                <a:cs typeface="Inter"/>
              </a:rPr>
              <a:t>Legal moves +</a:t>
            </a:r>
          </a:p>
          <a:p xmlns:a="http://schemas.openxmlformats.org/drawingml/2006/main">
            <a:pPr algn="ctr">
              <a:lnSpc>
                <a:spcPct val="100000"/>
              </a:lnSpc>
              <a:buNone/>
              <a:defRPr sz="1425" b="0">
                <a:solidFill>
                  <a:srgbClr val="F4F7FB"/>
                </a:solidFill>
                <a:latin typeface="Inter"/>
                <a:ea typeface="Inter"/>
                <a:cs typeface="Inter"/>
              </a:defRPr>
            </a:pPr>
            <a:r>
              <a:rPr sz="1425" b="0">
                <a:solidFill>
                  <a:srgbClr val="F4F7FB"/>
                </a:solidFill>
                <a:latin typeface="Inter"/>
                <a:ea typeface="Inter"/>
                <a:cs typeface="Inter"/>
              </a:rPr>
              <a:t>heuristic scores</a:t>
            </a:r>
          </a:p>
        </p:txBody>
      </p:sp>
      <p:sp>
        <p:nvSpPr>
          <p:cNvPr id="19" name="">
            <a:extLst xmlns:a="http://schemas.openxmlformats.org/drawingml/2006/main">
              <a:ext uri="{FF2B5EF4-FFF2-40B4-BE49-F238E27FC236}">
                <a16:creationId xmlns:a16="http://schemas.microsoft.com/office/drawing/2014/main" id="{FA387075-A032-42F1-9DFF-A5379196F3BC}"/>
              </a:ext>
            </a:extLst>
          </p:cNvPr>
          <p:cNvSpPr>
            <a:spLocks xmlns:a="http://schemas.openxmlformats.org/drawingml/2006/main" noGrp="1"/>
          </p:cNvSpPr>
          <p:nvPr/>
        </p:nvSpPr>
        <p:spPr>
          <a:xfrm xmlns:a="http://schemas.openxmlformats.org/drawingml/2006/main">
            <a:off x="4533900" y="5257800"/>
            <a:ext cx="2762250" cy="628650"/>
          </a:xfrm>
          <a:prstGeom xmlns:a="http://schemas.openxmlformats.org/drawingml/2006/main" prst="roundRect">
            <a:avLst>
              <a:gd name="adj" fmla="val 12121"/>
            </a:avLst>
          </a:prstGeom>
          <a:solidFill xmlns:a="http://schemas.openxmlformats.org/drawingml/2006/main">
            <a:srgbClr val="0D1C31"/>
          </a:solidFill>
          <a:ln xmlns:a="http://schemas.openxmlformats.org/drawingml/2006/main" w="14288">
            <a:solidFill>
              <a:srgbClr val="FF8278"/>
            </a:solidFill>
            <a:prstDash val="solid"/>
          </a:ln>
        </p:spPr>
        <p:txBody>
          <a:bodyPr xmlns:a="http://schemas.openxmlformats.org/drawingml/2006/main" wrap="square" lIns="95250" tIns="57150" rIns="95250" bIns="57150" anchor="ctr">
            <a:normAutofit fontScale="100000"/>
          </a:bodyPr>
          <a:lstStyle xmlns:a="http://schemas.openxmlformats.org/drawingml/2006/main">
            <a:defPPr algn="ctr">
              <a:defRPr sz="1425" b="0">
                <a:solidFill>
                  <a:srgbClr val="F4F7FB"/>
                </a:solidFill>
                <a:latin typeface="Inter"/>
                <a:ea typeface="Inter"/>
                <a:cs typeface="Inter"/>
              </a:defRPr>
            </a:defPPr>
          </a:lstStyle>
          <a:p xmlns:a="http://schemas.openxmlformats.org/drawingml/2006/main">
            <a:pPr algn="ctr">
              <a:lnSpc>
                <a:spcPct val="100000"/>
              </a:lnSpc>
              <a:buNone/>
              <a:defRPr sz="1425" b="0">
                <a:solidFill>
                  <a:srgbClr val="F4F7FB"/>
                </a:solidFill>
                <a:latin typeface="Inter"/>
                <a:ea typeface="Inter"/>
                <a:cs typeface="Inter"/>
              </a:defRPr>
            </a:pPr>
            <a:r>
              <a:rPr sz="1425" b="0">
                <a:solidFill>
                  <a:srgbClr val="F4F7FB"/>
                </a:solidFill>
                <a:latin typeface="Inter"/>
                <a:ea typeface="Inter"/>
                <a:cs typeface="Inter"/>
              </a:rPr>
              <a:t>Grover over</a:t>
            </a:r>
          </a:p>
          <a:p xmlns:a="http://schemas.openxmlformats.org/drawingml/2006/main">
            <a:pPr algn="ctr">
              <a:lnSpc>
                <a:spcPct val="100000"/>
              </a:lnSpc>
              <a:buNone/>
              <a:defRPr sz="1425" b="0">
                <a:solidFill>
                  <a:srgbClr val="F4F7FB"/>
                </a:solidFill>
                <a:latin typeface="Inter"/>
                <a:ea typeface="Inter"/>
                <a:cs typeface="Inter"/>
              </a:defRPr>
            </a:pPr>
            <a:r>
              <a:rPr sz="1425" b="0">
                <a:solidFill>
                  <a:srgbClr val="F4F7FB"/>
                </a:solidFill>
                <a:latin typeface="Inter"/>
                <a:ea typeface="Inter"/>
                <a:cs typeface="Inter"/>
              </a:rPr>
              <a:t>move indices</a:t>
            </a:r>
          </a:p>
        </p:txBody>
      </p:sp>
      <p:sp>
        <p:nvSpPr>
          <p:cNvPr id="20" name="">
            <a:extLst xmlns:a="http://schemas.openxmlformats.org/drawingml/2006/main">
              <a:ext uri="{FF2B5EF4-FFF2-40B4-BE49-F238E27FC236}">
                <a16:creationId xmlns:a16="http://schemas.microsoft.com/office/drawing/2014/main" id="{741AAA13-AA18-4A19-8AD2-704EE2234A20}"/>
              </a:ext>
            </a:extLst>
          </p:cNvPr>
          <p:cNvSpPr>
            <a:spLocks xmlns:a="http://schemas.openxmlformats.org/drawingml/2006/main" noGrp="1"/>
          </p:cNvSpPr>
          <p:nvPr/>
        </p:nvSpPr>
        <p:spPr>
          <a:xfrm xmlns:a="http://schemas.openxmlformats.org/drawingml/2006/main">
            <a:off x="8305800" y="5257800"/>
            <a:ext cx="3028950" cy="628650"/>
          </a:xfrm>
          <a:prstGeom xmlns:a="http://schemas.openxmlformats.org/drawingml/2006/main" prst="roundRect">
            <a:avLst>
              <a:gd name="adj" fmla="val 12121"/>
            </a:avLst>
          </a:prstGeom>
          <a:solidFill xmlns:a="http://schemas.openxmlformats.org/drawingml/2006/main">
            <a:srgbClr val="0D1C31"/>
          </a:solidFill>
          <a:ln xmlns:a="http://schemas.openxmlformats.org/drawingml/2006/main" w="14288">
            <a:solidFill>
              <a:srgbClr val="FF8278"/>
            </a:solidFill>
            <a:prstDash val="solid"/>
          </a:ln>
        </p:spPr>
        <p:txBody>
          <a:bodyPr xmlns:a="http://schemas.openxmlformats.org/drawingml/2006/main" wrap="square" lIns="95250" tIns="57150" rIns="95250" bIns="57150" anchor="ctr">
            <a:normAutofit fontScale="100000"/>
          </a:bodyPr>
          <a:lstStyle xmlns:a="http://schemas.openxmlformats.org/drawingml/2006/main">
            <a:defPPr algn="ctr">
              <a:defRPr sz="1425" b="0">
                <a:solidFill>
                  <a:srgbClr val="F4F7FB"/>
                </a:solidFill>
                <a:latin typeface="Inter"/>
                <a:ea typeface="Inter"/>
                <a:cs typeface="Inter"/>
              </a:defRPr>
            </a:defPPr>
          </a:lstStyle>
          <a:p xmlns:a="http://schemas.openxmlformats.org/drawingml/2006/main">
            <a:pPr algn="ctr">
              <a:lnSpc>
                <a:spcPct val="100000"/>
              </a:lnSpc>
              <a:buNone/>
              <a:defRPr sz="1425" b="0">
                <a:solidFill>
                  <a:srgbClr val="F4F7FB"/>
                </a:solidFill>
                <a:latin typeface="Inter"/>
                <a:ea typeface="Inter"/>
                <a:cs typeface="Inter"/>
              </a:defRPr>
            </a:pPr>
            <a:r>
              <a:rPr sz="1425" b="0">
                <a:solidFill>
                  <a:srgbClr val="F4F7FB"/>
                </a:solidFill>
                <a:latin typeface="Inter"/>
                <a:ea typeface="Inter"/>
                <a:cs typeface="Inter"/>
              </a:rPr>
              <a:t>Decode, validate,</a:t>
            </a:r>
          </a:p>
          <a:p xmlns:a="http://schemas.openxmlformats.org/drawingml/2006/main">
            <a:pPr algn="ctr">
              <a:lnSpc>
                <a:spcPct val="100000"/>
              </a:lnSpc>
              <a:buNone/>
              <a:defRPr sz="1425" b="0">
                <a:solidFill>
                  <a:srgbClr val="F4F7FB"/>
                </a:solidFill>
                <a:latin typeface="Inter"/>
                <a:ea typeface="Inter"/>
                <a:cs typeface="Inter"/>
              </a:defRPr>
            </a:pPr>
            <a:r>
              <a:rPr sz="1425" b="0">
                <a:solidFill>
                  <a:srgbClr val="F4F7FB"/>
                </a:solidFill>
                <a:latin typeface="Inter"/>
                <a:ea typeface="Inter"/>
                <a:cs typeface="Inter"/>
              </a:rPr>
              <a:t>fallback, apply</a:t>
            </a:r>
          </a:p>
        </p:txBody>
      </p:sp>
      <p:cxnSp>
        <p:nvCxnSpPr>
          <p:cNvPr id="21" name="">
            <a:extLst xmlns:a="http://schemas.openxmlformats.org/drawingml/2006/main">
              <a:ext uri="{FF2B5EF4-FFF2-40B4-BE49-F238E27FC236}">
                <a16:creationId xmlns:a16="http://schemas.microsoft.com/office/drawing/2014/main" id="{64902CB5-4697-4157-BB8A-63AF1DE6921A}"/>
              </a:ext>
            </a:extLst>
          </p:cNvPr>
          <p:cNvCxnSpPr/>
          <p:nvPr/>
        </p:nvCxnSpPr>
        <p:spPr>
          <a:xfrm xmlns:a="http://schemas.openxmlformats.org/drawingml/2006/main">
            <a:off x="3409950" y="5572125"/>
            <a:ext cx="990600" cy="0"/>
          </a:xfrm>
          <a:prstGeom xmlns:a="http://schemas.openxmlformats.org/drawingml/2006/main" prst="straightConnector1">
            <a:avLst/>
          </a:prstGeom>
          <a:ln xmlns:a="http://schemas.openxmlformats.org/drawingml/2006/main" w="19050">
            <a:solidFill>
              <a:srgbClr val="FF8278"/>
            </a:solidFill>
            <a:prstDash val="solid"/>
            <a:tailEnd type="arrow" w="med" len="med"/>
          </a:ln>
        </p:spPr>
      </p:cxnSp>
      <p:cxnSp>
        <p:nvCxnSpPr>
          <p:cNvPr id="22" name="">
            <a:extLst xmlns:a="http://schemas.openxmlformats.org/drawingml/2006/main">
              <a:ext uri="{FF2B5EF4-FFF2-40B4-BE49-F238E27FC236}">
                <a16:creationId xmlns:a16="http://schemas.microsoft.com/office/drawing/2014/main" id="{29CCF0E2-F2A5-406E-8A27-70313085120C}"/>
              </a:ext>
            </a:extLst>
          </p:cNvPr>
          <p:cNvCxnSpPr/>
          <p:nvPr/>
        </p:nvCxnSpPr>
        <p:spPr>
          <a:xfrm xmlns:a="http://schemas.openxmlformats.org/drawingml/2006/main">
            <a:off x="7391400" y="5572125"/>
            <a:ext cx="781050" cy="0"/>
          </a:xfrm>
          <a:prstGeom xmlns:a="http://schemas.openxmlformats.org/drawingml/2006/main" prst="straightConnector1">
            <a:avLst/>
          </a:prstGeom>
          <a:ln xmlns:a="http://schemas.openxmlformats.org/drawingml/2006/main" w="19050">
            <a:solidFill>
              <a:srgbClr val="FF8278"/>
            </a:solidFill>
            <a:prstDash val="solid"/>
            <a:tailEnd type="arrow" w="med" len="med"/>
          </a:ln>
        </p:spPr>
      </p:cxnSp>
      <p:sp>
        <p:nvSpPr>
          <p:cNvPr id="23" name="">
            <a:extLst xmlns:a="http://schemas.openxmlformats.org/drawingml/2006/main">
              <a:ext uri="{FF2B5EF4-FFF2-40B4-BE49-F238E27FC236}">
                <a16:creationId xmlns:a16="http://schemas.microsoft.com/office/drawing/2014/main" id="{C9A50448-DB82-4003-85B9-8F5A20D46CDA}"/>
              </a:ext>
            </a:extLst>
          </p:cNvPr>
          <p:cNvSpPr>
            <a:spLocks xmlns:a="http://schemas.openxmlformats.org/drawingml/2006/main" noGrp="1"/>
          </p:cNvSpPr>
          <p:nvPr/>
        </p:nvSpPr>
        <p:spPr>
          <a:xfrm xmlns:a="http://schemas.openxmlformats.org/drawingml/2006/main">
            <a:off x="781050" y="6219825"/>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B8C6D9"/>
                </a:solidFill>
                <a:latin typeface="Inter"/>
                <a:ea typeface="Inter"/>
                <a:cs typeface="Inter"/>
              </a:defRPr>
            </a:defPPr>
          </a:lstStyle>
          <a:p xmlns:a="http://schemas.openxmlformats.org/drawingml/2006/main">
            <a:pPr algn="l">
              <a:lnSpc>
                <a:spcPct val="108000"/>
              </a:lnSpc>
              <a:buNone/>
              <a:defRPr sz="1350" b="0" i="0">
                <a:solidFill>
                  <a:srgbClr val="B8C6D9"/>
                </a:solidFill>
                <a:latin typeface="Inter"/>
                <a:ea typeface="Inter"/>
                <a:cs typeface="Inter"/>
              </a:defRPr>
            </a:pPr>
            <a:r>
              <a:rPr sz="1350" b="0" i="0">
                <a:solidFill>
                  <a:srgbClr val="B8C6D9"/>
                </a:solidFill>
                <a:latin typeface="Inter"/>
                <a:ea typeface="Inter"/>
                <a:cs typeface="Inter"/>
              </a:rPr>
              <a:t>The pure coordinate/status circuit and Grover index circuit do not feed one another’s measurement bits.</a:t>
            </a:r>
          </a:p>
        </p:txBody>
      </p:sp>
    </p:spTree>
    <p:extLst>
      <p:ext uri="{BB962C8B-B14F-4D97-AF65-F5344CB8AC3E}">
        <p14:creationId xmlns:p14="http://schemas.microsoft.com/office/powerpoint/2010/main" val="1347917660"/>
      </p:ext>
    </p:extLst>
  </p:cSld>
</p:sld>
</file>

<file path=ppt/slides/slide5.xml><?xml version="1.0" encoding="utf-8"?>
<p:sld xmlns:p="http://schemas.openxmlformats.org/presentationml/2006/main">
  <p:cSld>
    <p:bg>
      <p:bgPr>
        <a:solidFill xmlns:a="http://schemas.openxmlformats.org/drawingml/2006/main">
          <a:srgbClr val="0B142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5D101D3-D3D6-4DD8-9B7E-622379A2B51B}"/>
              </a:ext>
            </a:extLst>
          </p:cNvPr>
          <p:cNvSpPr>
            <a:spLocks xmlns:a="http://schemas.openxmlformats.org/drawingml/2006/main" noGrp="1"/>
          </p:cNvSpPr>
          <p:nvPr/>
        </p:nvSpPr>
        <p:spPr>
          <a:xfrm xmlns:a="http://schemas.openxmlformats.org/drawingml/2006/main">
            <a:off x="685800" y="4000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75" b="1" i="0">
                <a:solidFill>
                  <a:srgbClr val="F4F7FB"/>
                </a:solidFill>
                <a:latin typeface="Inter"/>
                <a:ea typeface="Inter"/>
                <a:cs typeface="Inter"/>
              </a:defRPr>
            </a:defPPr>
          </a:lstStyle>
          <a:p xmlns:a="http://schemas.openxmlformats.org/drawingml/2006/main">
            <a:pPr algn="l">
              <a:lnSpc>
                <a:spcPct val="108000"/>
              </a:lnSpc>
              <a:buNone/>
              <a:defRPr sz="2775" b="1" i="0">
                <a:solidFill>
                  <a:srgbClr val="F4F7FB"/>
                </a:solidFill>
                <a:latin typeface="Inter"/>
                <a:ea typeface="Inter"/>
                <a:cs typeface="Inter"/>
              </a:defRPr>
            </a:pPr>
            <a:r>
              <a:rPr sz="2775" b="1" i="0">
                <a:solidFill>
                  <a:srgbClr val="F4F7FB"/>
                </a:solidFill>
                <a:latin typeface="Inter"/>
                <a:ea typeface="Inter"/>
                <a:cs typeface="Inter"/>
              </a:rPr>
              <a:t>2×2 example: one pawn and one legal move</a:t>
            </a:r>
          </a:p>
        </p:txBody>
      </p:sp>
      <p:sp>
        <p:nvSpPr>
          <p:cNvPr id="2" name="">
            <a:extLst xmlns:a="http://schemas.openxmlformats.org/drawingml/2006/main">
              <a:ext uri="{FF2B5EF4-FFF2-40B4-BE49-F238E27FC236}">
                <a16:creationId xmlns:a16="http://schemas.microsoft.com/office/drawing/2014/main" id="{424E78EB-236C-4EB2-AF94-F80891E0EF74}"/>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62D6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BA3553C-653B-4482-A974-966797D4DAA0}"/>
              </a:ext>
            </a:extLst>
          </p:cNvPr>
          <p:cNvSpPr>
            <a:spLocks xmlns:a="http://schemas.openxmlformats.org/drawingml/2006/main" noGrp="1"/>
          </p:cNvSpPr>
          <p:nvPr/>
        </p:nvSpPr>
        <p:spPr>
          <a:xfrm xmlns:a="http://schemas.openxmlformats.org/drawingml/2006/main">
            <a:off x="704850" y="1162050"/>
            <a:ext cx="1078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B8C6D9"/>
                </a:solidFill>
                <a:latin typeface="Inter"/>
                <a:ea typeface="Inter"/>
                <a:cs typeface="Inter"/>
              </a:defRPr>
            </a:defPPr>
          </a:lstStyle>
          <a:p xmlns:a="http://schemas.openxmlformats.org/drawingml/2006/main">
            <a:pPr algn="l">
              <a:lnSpc>
                <a:spcPct val="108000"/>
              </a:lnSpc>
              <a:buNone/>
              <a:defRPr sz="1275" b="0" i="0">
                <a:solidFill>
                  <a:srgbClr val="B8C6D9"/>
                </a:solidFill>
                <a:latin typeface="Inter"/>
                <a:ea typeface="Inter"/>
                <a:cs typeface="Inter"/>
              </a:defRPr>
            </a:pPr>
            <a:r>
              <a:rPr sz="1275" b="0" i="0">
                <a:solidFill>
                  <a:srgbClr val="B8C6D9"/>
                </a:solidFill>
                <a:latin typeface="Inter"/>
                <a:ea typeface="Inter"/>
                <a:cs typeface="Inter"/>
              </a:rPr>
              <a:t>Black Pawn at (row 0, col 0) moves to (row 1, col 0)</a:t>
            </a:r>
          </a:p>
        </p:txBody>
      </p:sp>
      <p:sp>
        <p:nvSpPr>
          <p:cNvPr id="4" name="">
            <a:extLst xmlns:a="http://schemas.openxmlformats.org/drawingml/2006/main">
              <a:ext uri="{FF2B5EF4-FFF2-40B4-BE49-F238E27FC236}">
                <a16:creationId xmlns:a16="http://schemas.microsoft.com/office/drawing/2014/main" id="{27226B5A-E2E0-44FB-8C6C-A8E2C60B0512}"/>
              </a:ext>
            </a:extLst>
          </p:cNvPr>
          <p:cNvSpPr>
            <a:spLocks xmlns:a="http://schemas.openxmlformats.org/drawingml/2006/main" noGrp="1"/>
          </p:cNvSpPr>
          <p:nvPr/>
        </p:nvSpPr>
        <p:spPr>
          <a:xfrm xmlns:a="http://schemas.openxmlformats.org/drawingml/2006/main">
            <a:off x="781050" y="1533525"/>
            <a:ext cx="1028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i="0">
                <a:solidFill>
                  <a:srgbClr val="F2C66D"/>
                </a:solidFill>
                <a:latin typeface="Inter"/>
                <a:ea typeface="Inter"/>
                <a:cs typeface="Inter"/>
              </a:defRPr>
            </a:defPPr>
          </a:lstStyle>
          <a:p xmlns:a="http://schemas.openxmlformats.org/drawingml/2006/main">
            <a:pPr algn="l">
              <a:lnSpc>
                <a:spcPct val="108000"/>
              </a:lnSpc>
              <a:buNone/>
              <a:defRPr sz="1800" b="1" i="0">
                <a:solidFill>
                  <a:srgbClr val="F2C66D"/>
                </a:solidFill>
                <a:latin typeface="Inter"/>
                <a:ea typeface="Inter"/>
                <a:cs typeface="Inter"/>
              </a:defRPr>
            </a:pPr>
            <a:r>
              <a:rPr sz="1800" b="1" i="0">
                <a:solidFill>
                  <a:srgbClr val="F2C66D"/>
                </a:solidFill>
                <a:latin typeface="Inter"/>
                <a:ea typeface="Inter"/>
                <a:cs typeface="Inter"/>
              </a:rPr>
              <a:t>The move is selected before the circuit runs.</a:t>
            </a:r>
          </a:p>
        </p:txBody>
      </p:sp>
      <p:graphicFrame>
        <p:nvGraphicFramePr>
          <p:cNvPr id="5" name="">
            <a:extLst xmlns:a="http://schemas.openxmlformats.org/drawingml/2006/main">
              <a:ext uri="{FF2B5EF4-FFF2-40B4-BE49-F238E27FC236}">
                <a16:creationId xmlns:a16="http://schemas.microsoft.com/office/drawing/2014/main" id="{4A5F18E7-98C1-4B1E-8DED-CD56DC20A73F}"/>
              </a:ext>
            </a:extLst>
          </p:cNvPr>
          <p:cNvGraphicFramePr/>
          <p:nvPr/>
        </p:nvGraphicFramePr>
        <p:xfrm>
          <a:off xmlns:a="http://schemas.openxmlformats.org/drawingml/2006/main" x="723900" y="2076450"/>
          <a:ext xmlns:a="http://schemas.openxmlformats.org/drawingml/2006/main" cx="10744200" cy="3600450"/>
        </p:xfrm>
        <a:graphic xmlns:a="http://schemas.openxmlformats.org/drawingml/2006/main">
          <a:graphicData uri="http://schemas.openxmlformats.org/drawingml/2006/table">
            <a:tbl>
              <a:tblPr/>
              <a:tblGrid>
                <a:gridCol w="1381125"/>
                <a:gridCol w="904875"/>
                <a:gridCol w="3524250"/>
                <a:gridCol w="4933950"/>
              </a:tblGrid>
              <a:tr h="514350">
                <a:tc>
                  <a:txBody>
                    <a:bodyPr/>
                    <a:lstStyle/>
                    <a:p>
                      <a:pPr algn="l"/>
                      <a:r>
                        <a:rPr sz="1350" b="1">
                          <a:solidFill>
                            <a:srgbClr val="F4F7FB"/>
                          </a:solidFill>
                          <a:latin typeface="Inter"/>
                          <a:ea typeface="Inter"/>
                          <a:cs typeface="Inter"/>
                        </a:rPr>
                        <a:t>Register</a:t>
                      </a:r>
                    </a:p>
                  </a:txBody>
                  <a:tcPr marL="95250" marR="95250" marT="47625" marB="47625" anchor="ctr">
                    <a:lnL w="9525">
                      <a:solidFill>
                        <a:srgbClr val="354861"/>
                      </a:solidFill>
                      <a:prstDash val="solid"/>
                    </a:lnL>
                    <a:lnR w="9525">
                      <a:solidFill>
                        <a:srgbClr val="354861"/>
                      </a:solidFill>
                      <a:prstDash val="solid"/>
                    </a:lnR>
                    <a:lnT w="9525">
                      <a:solidFill>
                        <a:srgbClr val="354861"/>
                      </a:solidFill>
                      <a:prstDash val="solid"/>
                    </a:lnT>
                    <a:lnB w="9525">
                      <a:solidFill>
                        <a:srgbClr val="354861"/>
                      </a:solidFill>
                      <a:prstDash val="solid"/>
                    </a:lnB>
                    <a:solidFill>
                      <a:srgbClr val="164153"/>
                    </a:solidFill>
                  </a:tcPr>
                </a:tc>
                <a:tc>
                  <a:txBody>
                    <a:bodyPr/>
                    <a:lstStyle/>
                    <a:p>
                      <a:pPr algn="l"/>
                      <a:r>
                        <a:rPr sz="1350" b="1">
                          <a:solidFill>
                            <a:srgbClr val="F4F7FB"/>
                          </a:solidFill>
                          <a:latin typeface="Inter"/>
                          <a:ea typeface="Inter"/>
                          <a:cs typeface="Inter"/>
                        </a:rPr>
                        <a:t>Qubits</a:t>
                      </a:r>
                    </a:p>
                  </a:txBody>
                  <a:tcPr marL="95250" marR="95250" marT="47625" marB="47625" anchor="ctr">
                    <a:lnR w="9525">
                      <a:solidFill>
                        <a:srgbClr val="354861"/>
                      </a:solidFill>
                      <a:prstDash val="solid"/>
                    </a:lnR>
                    <a:lnT w="9525">
                      <a:solidFill>
                        <a:srgbClr val="354861"/>
                      </a:solidFill>
                      <a:prstDash val="solid"/>
                    </a:lnT>
                    <a:lnB w="9525">
                      <a:solidFill>
                        <a:srgbClr val="354861"/>
                      </a:solidFill>
                      <a:prstDash val="solid"/>
                    </a:lnB>
                    <a:solidFill>
                      <a:srgbClr val="164153"/>
                    </a:solidFill>
                  </a:tcPr>
                </a:tc>
                <a:tc>
                  <a:txBody>
                    <a:bodyPr/>
                    <a:lstStyle/>
                    <a:p>
                      <a:pPr algn="l"/>
                      <a:r>
                        <a:rPr sz="1350" b="1">
                          <a:solidFill>
                            <a:srgbClr val="F4F7FB"/>
                          </a:solidFill>
                          <a:latin typeface="Inter"/>
                          <a:ea typeface="Inter"/>
                          <a:cs typeface="Inter"/>
                        </a:rPr>
                        <a:t>Input / expected value</a:t>
                      </a:r>
                    </a:p>
                  </a:txBody>
                  <a:tcPr marL="95250" marR="95250" marT="47625" marB="47625" anchor="ctr">
                    <a:lnR w="9525">
                      <a:solidFill>
                        <a:srgbClr val="354861"/>
                      </a:solidFill>
                      <a:prstDash val="solid"/>
                    </a:lnR>
                    <a:lnT w="9525">
                      <a:solidFill>
                        <a:srgbClr val="354861"/>
                      </a:solidFill>
                      <a:prstDash val="solid"/>
                    </a:lnT>
                    <a:lnB w="9525">
                      <a:solidFill>
                        <a:srgbClr val="354861"/>
                      </a:solidFill>
                      <a:prstDash val="solid"/>
                    </a:lnB>
                    <a:solidFill>
                      <a:srgbClr val="164153"/>
                    </a:solidFill>
                  </a:tcPr>
                </a:tc>
                <a:tc>
                  <a:txBody>
                    <a:bodyPr/>
                    <a:lstStyle/>
                    <a:p>
                      <a:pPr algn="l"/>
                      <a:r>
                        <a:rPr sz="1350" b="1">
                          <a:solidFill>
                            <a:srgbClr val="F4F7FB"/>
                          </a:solidFill>
                          <a:latin typeface="Inter"/>
                          <a:ea typeface="Inter"/>
                          <a:cs typeface="Inter"/>
                        </a:rPr>
                        <a:t>Role in the circuit</a:t>
                      </a:r>
                    </a:p>
                  </a:txBody>
                  <a:tcPr marL="95250" marR="95250" marT="47625" marB="47625" anchor="ctr">
                    <a:lnR w="9525">
                      <a:solidFill>
                        <a:srgbClr val="354861"/>
                      </a:solidFill>
                      <a:prstDash val="solid"/>
                    </a:lnR>
                    <a:lnT w="9525">
                      <a:solidFill>
                        <a:srgbClr val="354861"/>
                      </a:solidFill>
                      <a:prstDash val="solid"/>
                    </a:lnT>
                    <a:lnB w="9525">
                      <a:solidFill>
                        <a:srgbClr val="354861"/>
                      </a:solidFill>
                      <a:prstDash val="solid"/>
                    </a:lnB>
                    <a:solidFill>
                      <a:srgbClr val="164153"/>
                    </a:solidFill>
                  </a:tcPr>
                </a:tc>
              </a:tr>
              <a:tr h="514350">
                <a:tc>
                  <a:txBody>
                    <a:bodyPr/>
                    <a:lstStyle/>
                    <a:p>
                      <a:pPr algn="l"/>
                      <a:r>
                        <a:rPr sz="1350">
                          <a:solidFill>
                            <a:srgbClr val="F4F7FB"/>
                          </a:solidFill>
                          <a:latin typeface="Inter"/>
                          <a:ea typeface="Inter"/>
                          <a:cs typeface="Inter"/>
                        </a:rPr>
                        <a:t>cur</a:t>
                      </a:r>
                    </a:p>
                  </a:txBody>
                  <a:tcPr marL="95250" marR="95250" marT="47625" marB="47625" anchor="ctr">
                    <a:lnL w="9525">
                      <a:solidFill>
                        <a:srgbClr val="354861"/>
                      </a:solidFill>
                      <a:prstDash val="solid"/>
                    </a:lnL>
                    <a:lnR w="9525">
                      <a:solidFill>
                        <a:srgbClr val="354861"/>
                      </a:solidFill>
                      <a:prstDash val="solid"/>
                    </a:lnR>
                    <a:lnB w="9525">
                      <a:solidFill>
                        <a:srgbClr val="354861"/>
                      </a:solidFill>
                      <a:prstDash val="solid"/>
                    </a:lnB>
                    <a:solidFill>
                      <a:srgbClr val="13243D"/>
                    </a:solidFill>
                  </a:tcPr>
                </a:tc>
                <a:tc>
                  <a:txBody>
                    <a:bodyPr/>
                    <a:lstStyle/>
                    <a:p>
                      <a:pPr algn="l"/>
                      <a:r>
                        <a:rPr sz="1350">
                          <a:solidFill>
                            <a:srgbClr val="F4F7FB"/>
                          </a:solidFill>
                          <a:latin typeface="Inter"/>
                          <a:ea typeface="Inter"/>
                          <a:cs typeface="Inter"/>
                        </a:rPr>
                        <a:t>4</a:t>
                      </a:r>
                    </a:p>
                  </a:txBody>
                  <a:tcPr marL="95250" marR="95250" marT="47625" marB="47625" anchor="ctr">
                    <a:lnR w="9525">
                      <a:solidFill>
                        <a:srgbClr val="354861"/>
                      </a:solidFill>
                      <a:prstDash val="solid"/>
                    </a:lnR>
                    <a:lnB w="9525">
                      <a:solidFill>
                        <a:srgbClr val="354861"/>
                      </a:solidFill>
                      <a:prstDash val="solid"/>
                    </a:lnB>
                    <a:solidFill>
                      <a:srgbClr val="13243D"/>
                    </a:solidFill>
                  </a:tcPr>
                </a:tc>
                <a:tc>
                  <a:txBody>
                    <a:bodyPr/>
                    <a:lstStyle/>
                    <a:p>
                      <a:pPr algn="l"/>
                      <a:r>
                        <a:rPr sz="1350">
                          <a:solidFill>
                            <a:srgbClr val="F4F7FB"/>
                          </a:solidFill>
                          <a:latin typeface="Inter"/>
                          <a:ea typeface="Inter"/>
                          <a:cs typeface="Inter"/>
                        </a:rPr>
                        <a:t>0000  ·  source (0,0)</a:t>
                      </a:r>
                    </a:p>
                  </a:txBody>
                  <a:tcPr marL="95250" marR="95250" marT="47625" marB="47625" anchor="ctr">
                    <a:lnR w="9525">
                      <a:solidFill>
                        <a:srgbClr val="354861"/>
                      </a:solidFill>
                      <a:prstDash val="solid"/>
                    </a:lnR>
                    <a:lnB w="9525">
                      <a:solidFill>
                        <a:srgbClr val="354861"/>
                      </a:solidFill>
                      <a:prstDash val="solid"/>
                    </a:lnB>
                    <a:solidFill>
                      <a:srgbClr val="13243D"/>
                    </a:solidFill>
                  </a:tcPr>
                </a:tc>
                <a:tc>
                  <a:txBody>
                    <a:bodyPr/>
                    <a:lstStyle/>
                    <a:p>
                      <a:pPr algn="l"/>
                      <a:r>
                        <a:rPr sz="1350">
                          <a:solidFill>
                            <a:srgbClr val="F4F7FB"/>
                          </a:solidFill>
                          <a:latin typeface="Inter"/>
                          <a:ea typeface="Inter"/>
                          <a:cs typeface="Inter"/>
                        </a:rPr>
                        <a:t>Source coordinate</a:t>
                      </a:r>
                    </a:p>
                  </a:txBody>
                  <a:tcPr marL="95250" marR="95250" marT="47625" marB="47625" anchor="ctr">
                    <a:lnR w="9525">
                      <a:solidFill>
                        <a:srgbClr val="354861"/>
                      </a:solidFill>
                      <a:prstDash val="solid"/>
                    </a:lnR>
                    <a:lnB w="9525">
                      <a:solidFill>
                        <a:srgbClr val="354861"/>
                      </a:solidFill>
                      <a:prstDash val="solid"/>
                    </a:lnB>
                    <a:solidFill>
                      <a:srgbClr val="13243D"/>
                    </a:solidFill>
                  </a:tcPr>
                </a:tc>
              </a:tr>
              <a:tr h="514350">
                <a:tc>
                  <a:txBody>
                    <a:bodyPr/>
                    <a:lstStyle/>
                    <a:p>
                      <a:pPr algn="l"/>
                      <a:r>
                        <a:rPr sz="1350">
                          <a:solidFill>
                            <a:srgbClr val="F4F7FB"/>
                          </a:solidFill>
                          <a:latin typeface="Inter"/>
                          <a:ea typeface="Inter"/>
                          <a:cs typeface="Inter"/>
                        </a:rPr>
                        <a:t>tgt</a:t>
                      </a:r>
                    </a:p>
                  </a:txBody>
                  <a:tcPr marL="95250" marR="95250" marT="47625" marB="47625" anchor="ctr">
                    <a:lnL w="9525">
                      <a:solidFill>
                        <a:srgbClr val="354861"/>
                      </a:solidFill>
                      <a:prstDash val="solid"/>
                    </a:lnL>
                    <a:lnR w="9525">
                      <a:solidFill>
                        <a:srgbClr val="354861"/>
                      </a:solidFill>
                      <a:prstDash val="solid"/>
                    </a:lnR>
                    <a:lnB w="9525">
                      <a:solidFill>
                        <a:srgbClr val="354861"/>
                      </a:solidFill>
                      <a:prstDash val="solid"/>
                    </a:lnB>
                    <a:solidFill>
                      <a:srgbClr val="0E1B30"/>
                    </a:solidFill>
                  </a:tcPr>
                </a:tc>
                <a:tc>
                  <a:txBody>
                    <a:bodyPr/>
                    <a:lstStyle/>
                    <a:p>
                      <a:pPr algn="l"/>
                      <a:r>
                        <a:rPr sz="1350">
                          <a:solidFill>
                            <a:srgbClr val="F4F7FB"/>
                          </a:solidFill>
                          <a:latin typeface="Inter"/>
                          <a:ea typeface="Inter"/>
                          <a:cs typeface="Inter"/>
                        </a:rPr>
                        <a:t>4</a:t>
                      </a:r>
                    </a:p>
                  </a:txBody>
                  <a:tcPr marL="95250" marR="95250" marT="47625" marB="47625" anchor="ctr">
                    <a:lnR w="9525">
                      <a:solidFill>
                        <a:srgbClr val="354861"/>
                      </a:solidFill>
                      <a:prstDash val="solid"/>
                    </a:lnR>
                    <a:lnB w="9525">
                      <a:solidFill>
                        <a:srgbClr val="354861"/>
                      </a:solidFill>
                      <a:prstDash val="solid"/>
                    </a:lnB>
                    <a:solidFill>
                      <a:srgbClr val="0E1B30"/>
                    </a:solidFill>
                  </a:tcPr>
                </a:tc>
                <a:tc>
                  <a:txBody>
                    <a:bodyPr/>
                    <a:lstStyle/>
                    <a:p>
                      <a:pPr algn="l"/>
                      <a:r>
                        <a:rPr sz="1350">
                          <a:solidFill>
                            <a:srgbClr val="F4F7FB"/>
                          </a:solidFill>
                          <a:latin typeface="Inter"/>
                          <a:ea typeface="Inter"/>
                          <a:cs typeface="Inter"/>
                        </a:rPr>
                        <a:t>0001  ·  target (1,0)</a:t>
                      </a:r>
                    </a:p>
                  </a:txBody>
                  <a:tcPr marL="95250" marR="95250" marT="47625" marB="47625" anchor="ctr">
                    <a:lnR w="9525">
                      <a:solidFill>
                        <a:srgbClr val="354861"/>
                      </a:solidFill>
                      <a:prstDash val="solid"/>
                    </a:lnR>
                    <a:lnB w="9525">
                      <a:solidFill>
                        <a:srgbClr val="354861"/>
                      </a:solidFill>
                      <a:prstDash val="solid"/>
                    </a:lnB>
                    <a:solidFill>
                      <a:srgbClr val="0E1B30"/>
                    </a:solidFill>
                  </a:tcPr>
                </a:tc>
                <a:tc>
                  <a:txBody>
                    <a:bodyPr/>
                    <a:lstStyle/>
                    <a:p>
                      <a:pPr algn="l"/>
                      <a:r>
                        <a:rPr sz="1350">
                          <a:solidFill>
                            <a:srgbClr val="F4F7FB"/>
                          </a:solidFill>
                          <a:latin typeface="Inter"/>
                          <a:ea typeface="Inter"/>
                          <a:cs typeface="Inter"/>
                        </a:rPr>
                        <a:t>Destination coordinate</a:t>
                      </a:r>
                    </a:p>
                  </a:txBody>
                  <a:tcPr marL="95250" marR="95250" marT="47625" marB="47625" anchor="ctr">
                    <a:lnR w="9525">
                      <a:solidFill>
                        <a:srgbClr val="354861"/>
                      </a:solidFill>
                      <a:prstDash val="solid"/>
                    </a:lnR>
                    <a:lnB w="9525">
                      <a:solidFill>
                        <a:srgbClr val="354861"/>
                      </a:solidFill>
                      <a:prstDash val="solid"/>
                    </a:lnB>
                    <a:solidFill>
                      <a:srgbClr val="0E1B30"/>
                    </a:solidFill>
                  </a:tcPr>
                </a:tc>
              </a:tr>
              <a:tr h="514350">
                <a:tc>
                  <a:txBody>
                    <a:bodyPr/>
                    <a:lstStyle/>
                    <a:p>
                      <a:pPr algn="l"/>
                      <a:r>
                        <a:rPr sz="1350">
                          <a:solidFill>
                            <a:srgbClr val="F4F7FB"/>
                          </a:solidFill>
                          <a:latin typeface="Inter"/>
                          <a:ea typeface="Inter"/>
                          <a:cs typeface="Inter"/>
                        </a:rPr>
                        <a:t>dir</a:t>
                      </a:r>
                    </a:p>
                  </a:txBody>
                  <a:tcPr marL="95250" marR="95250" marT="47625" marB="47625" anchor="ctr">
                    <a:lnL w="9525">
                      <a:solidFill>
                        <a:srgbClr val="354861"/>
                      </a:solidFill>
                      <a:prstDash val="solid"/>
                    </a:lnL>
                    <a:lnR w="9525">
                      <a:solidFill>
                        <a:srgbClr val="354861"/>
                      </a:solidFill>
                      <a:prstDash val="solid"/>
                    </a:lnR>
                    <a:lnB w="9525">
                      <a:solidFill>
                        <a:srgbClr val="354861"/>
                      </a:solidFill>
                      <a:prstDash val="solid"/>
                    </a:lnB>
                    <a:solidFill>
                      <a:srgbClr val="13243D"/>
                    </a:solidFill>
                  </a:tcPr>
                </a:tc>
                <a:tc>
                  <a:txBody>
                    <a:bodyPr/>
                    <a:lstStyle/>
                    <a:p>
                      <a:pPr algn="l"/>
                      <a:r>
                        <a:rPr sz="1350">
                          <a:solidFill>
                            <a:srgbClr val="F4F7FB"/>
                          </a:solidFill>
                          <a:latin typeface="Inter"/>
                          <a:ea typeface="Inter"/>
                          <a:cs typeface="Inter"/>
                        </a:rPr>
                        <a:t>4</a:t>
                      </a:r>
                    </a:p>
                  </a:txBody>
                  <a:tcPr marL="95250" marR="95250" marT="47625" marB="47625" anchor="ctr">
                    <a:lnR w="9525">
                      <a:solidFill>
                        <a:srgbClr val="354861"/>
                      </a:solidFill>
                      <a:prstDash val="solid"/>
                    </a:lnR>
                    <a:lnB w="9525">
                      <a:solidFill>
                        <a:srgbClr val="354861"/>
                      </a:solidFill>
                      <a:prstDash val="solid"/>
                    </a:lnB>
                    <a:solidFill>
                      <a:srgbClr val="13243D"/>
                    </a:solidFill>
                  </a:tcPr>
                </a:tc>
                <a:tc>
                  <a:txBody>
                    <a:bodyPr/>
                    <a:lstStyle/>
                    <a:p>
                      <a:pPr algn="l"/>
                      <a:r>
                        <a:rPr sz="1350">
                          <a:solidFill>
                            <a:srgbClr val="F4F7FB"/>
                          </a:solidFill>
                          <a:latin typeface="Inter"/>
                          <a:ea typeface="Inter"/>
                          <a:cs typeface="Inter"/>
                        </a:rPr>
                        <a:t>0000  ·  stays zero here</a:t>
                      </a:r>
                    </a:p>
                  </a:txBody>
                  <a:tcPr marL="95250" marR="95250" marT="47625" marB="47625" anchor="ctr">
                    <a:lnR w="9525">
                      <a:solidFill>
                        <a:srgbClr val="354861"/>
                      </a:solidFill>
                      <a:prstDash val="solid"/>
                    </a:lnR>
                    <a:lnB w="9525">
                      <a:solidFill>
                        <a:srgbClr val="354861"/>
                      </a:solidFill>
                      <a:prstDash val="solid"/>
                    </a:lnB>
                    <a:solidFill>
                      <a:srgbClr val="13243D"/>
                    </a:solidFill>
                  </a:tcPr>
                </a:tc>
                <a:tc>
                  <a:txBody>
                    <a:bodyPr/>
                    <a:lstStyle/>
                    <a:p>
                      <a:pPr algn="l"/>
                      <a:r>
                        <a:rPr sz="1350">
                          <a:solidFill>
                            <a:srgbClr val="F4F7FB"/>
                          </a:solidFill>
                          <a:latin typeface="Inter"/>
                          <a:ea typeface="Inter"/>
                          <a:cs typeface="Inter"/>
                        </a:rPr>
                        <a:t>Direction workspace</a:t>
                      </a:r>
                    </a:p>
                  </a:txBody>
                  <a:tcPr marL="95250" marR="95250" marT="47625" marB="47625" anchor="ctr">
                    <a:lnR w="9525">
                      <a:solidFill>
                        <a:srgbClr val="354861"/>
                      </a:solidFill>
                      <a:prstDash val="solid"/>
                    </a:lnR>
                    <a:lnB w="9525">
                      <a:solidFill>
                        <a:srgbClr val="354861"/>
                      </a:solidFill>
                      <a:prstDash val="solid"/>
                    </a:lnB>
                    <a:solidFill>
                      <a:srgbClr val="13243D"/>
                    </a:solidFill>
                  </a:tcPr>
                </a:tc>
              </a:tr>
              <a:tr h="514350">
                <a:tc>
                  <a:txBody>
                    <a:bodyPr/>
                    <a:lstStyle/>
                    <a:p>
                      <a:pPr algn="l"/>
                      <a:r>
                        <a:rPr sz="1350">
                          <a:solidFill>
                            <a:srgbClr val="F4F7FB"/>
                          </a:solidFill>
                          <a:latin typeface="Inter"/>
                          <a:ea typeface="Inter"/>
                          <a:cs typeface="Inter"/>
                        </a:rPr>
                        <a:t>src</a:t>
                      </a:r>
                    </a:p>
                  </a:txBody>
                  <a:tcPr marL="95250" marR="95250" marT="47625" marB="47625" anchor="ctr">
                    <a:lnL w="9525">
                      <a:solidFill>
                        <a:srgbClr val="354861"/>
                      </a:solidFill>
                      <a:prstDash val="solid"/>
                    </a:lnL>
                    <a:lnR w="9525">
                      <a:solidFill>
                        <a:srgbClr val="354861"/>
                      </a:solidFill>
                      <a:prstDash val="solid"/>
                    </a:lnR>
                    <a:lnB w="9525">
                      <a:solidFill>
                        <a:srgbClr val="354861"/>
                      </a:solidFill>
                      <a:prstDash val="solid"/>
                    </a:lnB>
                    <a:solidFill>
                      <a:srgbClr val="0E1B30"/>
                    </a:solidFill>
                  </a:tcPr>
                </a:tc>
                <a:tc>
                  <a:txBody>
                    <a:bodyPr/>
                    <a:lstStyle/>
                    <a:p>
                      <a:pPr algn="l"/>
                      <a:r>
                        <a:rPr sz="1350">
                          <a:solidFill>
                            <a:srgbClr val="F4F7FB"/>
                          </a:solidFill>
                          <a:latin typeface="Inter"/>
                          <a:ea typeface="Inter"/>
                          <a:cs typeface="Inter"/>
                        </a:rPr>
                        <a:t>3</a:t>
                      </a:r>
                    </a:p>
                  </a:txBody>
                  <a:tcPr marL="95250" marR="95250" marT="47625" marB="47625" anchor="ctr">
                    <a:lnR w="9525">
                      <a:solidFill>
                        <a:srgbClr val="354861"/>
                      </a:solidFill>
                      <a:prstDash val="solid"/>
                    </a:lnR>
                    <a:lnB w="9525">
                      <a:solidFill>
                        <a:srgbClr val="354861"/>
                      </a:solidFill>
                      <a:prstDash val="solid"/>
                    </a:lnB>
                    <a:solidFill>
                      <a:srgbClr val="0E1B30"/>
                    </a:solidFill>
                  </a:tcPr>
                </a:tc>
                <a:tc>
                  <a:txBody>
                    <a:bodyPr/>
                    <a:lstStyle/>
                    <a:p>
                      <a:pPr algn="l"/>
                      <a:r>
                        <a:rPr sz="1350">
                          <a:solidFill>
                            <a:srgbClr val="F4F7FB"/>
                          </a:solidFill>
                          <a:latin typeface="Inter"/>
                          <a:ea typeface="Inter"/>
                          <a:cs typeface="Inter"/>
                        </a:rPr>
                        <a:t>001  ·  Black Pawn</a:t>
                      </a:r>
                    </a:p>
                  </a:txBody>
                  <a:tcPr marL="95250" marR="95250" marT="47625" marB="47625" anchor="ctr">
                    <a:lnR w="9525">
                      <a:solidFill>
                        <a:srgbClr val="354861"/>
                      </a:solidFill>
                      <a:prstDash val="solid"/>
                    </a:lnR>
                    <a:lnB w="9525">
                      <a:solidFill>
                        <a:srgbClr val="354861"/>
                      </a:solidFill>
                      <a:prstDash val="solid"/>
                    </a:lnB>
                    <a:solidFill>
                      <a:srgbClr val="0E1B30"/>
                    </a:solidFill>
                  </a:tcPr>
                </a:tc>
                <a:tc>
                  <a:txBody>
                    <a:bodyPr/>
                    <a:lstStyle/>
                    <a:p>
                      <a:pPr algn="l"/>
                      <a:r>
                        <a:rPr sz="1350">
                          <a:solidFill>
                            <a:srgbClr val="F4F7FB"/>
                          </a:solidFill>
                          <a:latin typeface="Inter"/>
                          <a:ea typeface="Inter"/>
                          <a:cs typeface="Inter"/>
                        </a:rPr>
                        <a:t>Source square status</a:t>
                      </a:r>
                    </a:p>
                  </a:txBody>
                  <a:tcPr marL="95250" marR="95250" marT="47625" marB="47625" anchor="ctr">
                    <a:lnR w="9525">
                      <a:solidFill>
                        <a:srgbClr val="354861"/>
                      </a:solidFill>
                      <a:prstDash val="solid"/>
                    </a:lnR>
                    <a:lnB w="9525">
                      <a:solidFill>
                        <a:srgbClr val="354861"/>
                      </a:solidFill>
                      <a:prstDash val="solid"/>
                    </a:lnB>
                    <a:solidFill>
                      <a:srgbClr val="0E1B30"/>
                    </a:solidFill>
                  </a:tcPr>
                </a:tc>
              </a:tr>
              <a:tr h="514350">
                <a:tc>
                  <a:txBody>
                    <a:bodyPr/>
                    <a:lstStyle/>
                    <a:p>
                      <a:pPr algn="l"/>
                      <a:r>
                        <a:rPr sz="1350">
                          <a:solidFill>
                            <a:srgbClr val="F4F7FB"/>
                          </a:solidFill>
                          <a:latin typeface="Inter"/>
                          <a:ea typeface="Inter"/>
                          <a:cs typeface="Inter"/>
                        </a:rPr>
                        <a:t>dst</a:t>
                      </a:r>
                    </a:p>
                  </a:txBody>
                  <a:tcPr marL="95250" marR="95250" marT="47625" marB="47625" anchor="ctr">
                    <a:lnL w="9525">
                      <a:solidFill>
                        <a:srgbClr val="354861"/>
                      </a:solidFill>
                      <a:prstDash val="solid"/>
                    </a:lnL>
                    <a:lnR w="9525">
                      <a:solidFill>
                        <a:srgbClr val="354861"/>
                      </a:solidFill>
                      <a:prstDash val="solid"/>
                    </a:lnR>
                    <a:lnB w="9525">
                      <a:solidFill>
                        <a:srgbClr val="354861"/>
                      </a:solidFill>
                      <a:prstDash val="solid"/>
                    </a:lnB>
                    <a:solidFill>
                      <a:srgbClr val="13243D"/>
                    </a:solidFill>
                  </a:tcPr>
                </a:tc>
                <a:tc>
                  <a:txBody>
                    <a:bodyPr/>
                    <a:lstStyle/>
                    <a:p>
                      <a:pPr algn="l"/>
                      <a:r>
                        <a:rPr sz="1350">
                          <a:solidFill>
                            <a:srgbClr val="F4F7FB"/>
                          </a:solidFill>
                          <a:latin typeface="Inter"/>
                          <a:ea typeface="Inter"/>
                          <a:cs typeface="Inter"/>
                        </a:rPr>
                        <a:t>3</a:t>
                      </a:r>
                    </a:p>
                  </a:txBody>
                  <a:tcPr marL="95250" marR="95250" marT="47625" marB="47625" anchor="ctr">
                    <a:lnR w="9525">
                      <a:solidFill>
                        <a:srgbClr val="354861"/>
                      </a:solidFill>
                      <a:prstDash val="solid"/>
                    </a:lnR>
                    <a:lnB w="9525">
                      <a:solidFill>
                        <a:srgbClr val="354861"/>
                      </a:solidFill>
                      <a:prstDash val="solid"/>
                    </a:lnB>
                    <a:solidFill>
                      <a:srgbClr val="13243D"/>
                    </a:solidFill>
                  </a:tcPr>
                </a:tc>
                <a:tc>
                  <a:txBody>
                    <a:bodyPr/>
                    <a:lstStyle/>
                    <a:p>
                      <a:pPr algn="l"/>
                      <a:r>
                        <a:rPr sz="1350">
                          <a:solidFill>
                            <a:srgbClr val="F4F7FB"/>
                          </a:solidFill>
                          <a:latin typeface="Inter"/>
                          <a:ea typeface="Inter"/>
                          <a:cs typeface="Inter"/>
                        </a:rPr>
                        <a:t>000  ·  empty</a:t>
                      </a:r>
                    </a:p>
                  </a:txBody>
                  <a:tcPr marL="95250" marR="95250" marT="47625" marB="47625" anchor="ctr">
                    <a:lnR w="9525">
                      <a:solidFill>
                        <a:srgbClr val="354861"/>
                      </a:solidFill>
                      <a:prstDash val="solid"/>
                    </a:lnR>
                    <a:lnB w="9525">
                      <a:solidFill>
                        <a:srgbClr val="354861"/>
                      </a:solidFill>
                      <a:prstDash val="solid"/>
                    </a:lnB>
                    <a:solidFill>
                      <a:srgbClr val="13243D"/>
                    </a:solidFill>
                  </a:tcPr>
                </a:tc>
                <a:tc>
                  <a:txBody>
                    <a:bodyPr/>
                    <a:lstStyle/>
                    <a:p>
                      <a:pPr algn="l"/>
                      <a:r>
                        <a:rPr sz="1350">
                          <a:solidFill>
                            <a:srgbClr val="F4F7FB"/>
                          </a:solidFill>
                          <a:latin typeface="Inter"/>
                          <a:ea typeface="Inter"/>
                          <a:cs typeface="Inter"/>
                        </a:rPr>
                        <a:t>Destination square status</a:t>
                      </a:r>
                    </a:p>
                  </a:txBody>
                  <a:tcPr marL="95250" marR="95250" marT="47625" marB="47625" anchor="ctr">
                    <a:lnR w="9525">
                      <a:solidFill>
                        <a:srgbClr val="354861"/>
                      </a:solidFill>
                      <a:prstDash val="solid"/>
                    </a:lnR>
                    <a:lnB w="9525">
                      <a:solidFill>
                        <a:srgbClr val="354861"/>
                      </a:solidFill>
                      <a:prstDash val="solid"/>
                    </a:lnB>
                    <a:solidFill>
                      <a:srgbClr val="13243D"/>
                    </a:solidFill>
                  </a:tcPr>
                </a:tc>
              </a:tr>
              <a:tr h="514350">
                <a:tc>
                  <a:txBody>
                    <a:bodyPr/>
                    <a:lstStyle/>
                    <a:p>
                      <a:pPr algn="l"/>
                      <a:r>
                        <a:rPr sz="1350">
                          <a:solidFill>
                            <a:srgbClr val="F4F7FB"/>
                          </a:solidFill>
                          <a:latin typeface="Inter"/>
                          <a:ea typeface="Inter"/>
                          <a:cs typeface="Inter"/>
                        </a:rPr>
                        <a:t>anc</a:t>
                      </a:r>
                    </a:p>
                  </a:txBody>
                  <a:tcPr marL="95250" marR="95250" marT="47625" marB="47625" anchor="ctr">
                    <a:lnL w="9525">
                      <a:solidFill>
                        <a:srgbClr val="354861"/>
                      </a:solidFill>
                      <a:prstDash val="solid"/>
                    </a:lnL>
                    <a:lnR w="9525">
                      <a:solidFill>
                        <a:srgbClr val="354861"/>
                      </a:solidFill>
                      <a:prstDash val="solid"/>
                    </a:lnR>
                    <a:lnB w="9525">
                      <a:solidFill>
                        <a:srgbClr val="354861"/>
                      </a:solidFill>
                      <a:prstDash val="solid"/>
                    </a:lnB>
                    <a:solidFill>
                      <a:srgbClr val="0E1B30"/>
                    </a:solidFill>
                  </a:tcPr>
                </a:tc>
                <a:tc>
                  <a:txBody>
                    <a:bodyPr/>
                    <a:lstStyle/>
                    <a:p>
                      <a:pPr algn="l"/>
                      <a:r>
                        <a:rPr sz="1350">
                          <a:solidFill>
                            <a:srgbClr val="F4F7FB"/>
                          </a:solidFill>
                          <a:latin typeface="Inter"/>
                          <a:ea typeface="Inter"/>
                          <a:cs typeface="Inter"/>
                        </a:rPr>
                        <a:t>5</a:t>
                      </a:r>
                    </a:p>
                  </a:txBody>
                  <a:tcPr marL="95250" marR="95250" marT="47625" marB="47625" anchor="ctr">
                    <a:lnR w="9525">
                      <a:solidFill>
                        <a:srgbClr val="354861"/>
                      </a:solidFill>
                      <a:prstDash val="solid"/>
                    </a:lnR>
                    <a:lnB w="9525">
                      <a:solidFill>
                        <a:srgbClr val="354861"/>
                      </a:solidFill>
                      <a:prstDash val="solid"/>
                    </a:lnB>
                    <a:solidFill>
                      <a:srgbClr val="0E1B30"/>
                    </a:solidFill>
                  </a:tcPr>
                </a:tc>
                <a:tc>
                  <a:txBody>
                    <a:bodyPr/>
                    <a:lstStyle/>
                    <a:p>
                      <a:pPr algn="l"/>
                      <a:r>
                        <a:rPr sz="1350">
                          <a:solidFill>
                            <a:srgbClr val="F4F7FB"/>
                          </a:solidFill>
                          <a:latin typeface="Inter"/>
                          <a:ea typeface="Inter"/>
                          <a:cs typeface="Inter"/>
                        </a:rPr>
                        <a:t>00000  ·  scratch</a:t>
                      </a:r>
                    </a:p>
                  </a:txBody>
                  <a:tcPr marL="95250" marR="95250" marT="47625" marB="47625" anchor="ctr">
                    <a:lnR w="9525">
                      <a:solidFill>
                        <a:srgbClr val="354861"/>
                      </a:solidFill>
                      <a:prstDash val="solid"/>
                    </a:lnR>
                    <a:lnB w="9525">
                      <a:solidFill>
                        <a:srgbClr val="354861"/>
                      </a:solidFill>
                      <a:prstDash val="solid"/>
                    </a:lnB>
                    <a:solidFill>
                      <a:srgbClr val="0E1B30"/>
                    </a:solidFill>
                  </a:tcPr>
                </a:tc>
                <a:tc>
                  <a:txBody>
                    <a:bodyPr/>
                    <a:lstStyle/>
                    <a:p>
                      <a:pPr algn="l"/>
                      <a:r>
                        <a:rPr sz="1350">
                          <a:solidFill>
                            <a:srgbClr val="F4F7FB"/>
                          </a:solidFill>
                          <a:latin typeface="Inter"/>
                          <a:ea typeface="Inter"/>
                          <a:cs typeface="Inter"/>
                        </a:rPr>
                        <a:t>Temporary comparison logic</a:t>
                      </a:r>
                    </a:p>
                  </a:txBody>
                  <a:tcPr marL="95250" marR="95250" marT="47625" marB="47625" anchor="ctr">
                    <a:lnR w="9525">
                      <a:solidFill>
                        <a:srgbClr val="354861"/>
                      </a:solidFill>
                      <a:prstDash val="solid"/>
                    </a:lnR>
                    <a:lnB w="9525">
                      <a:solidFill>
                        <a:srgbClr val="354861"/>
                      </a:solidFill>
                      <a:prstDash val="solid"/>
                    </a:lnB>
                    <a:solidFill>
                      <a:srgbClr val="0E1B30"/>
                    </a:solidFill>
                  </a:tcPr>
                </a:tc>
              </a:tr>
            </a:tbl>
          </a:graphicData>
        </a:graphic>
      </p:graphicFrame>
      <p:sp>
        <p:nvSpPr>
          <p:cNvPr id="6" name="">
            <a:extLst xmlns:a="http://schemas.openxmlformats.org/drawingml/2006/main">
              <a:ext uri="{FF2B5EF4-FFF2-40B4-BE49-F238E27FC236}">
                <a16:creationId xmlns:a16="http://schemas.microsoft.com/office/drawing/2014/main" id="{1A3C077E-9D03-4E58-B550-969EC24B7EA8}"/>
              </a:ext>
            </a:extLst>
          </p:cNvPr>
          <p:cNvSpPr>
            <a:spLocks xmlns:a="http://schemas.openxmlformats.org/drawingml/2006/main" noGrp="1"/>
          </p:cNvSpPr>
          <p:nvPr/>
        </p:nvSpPr>
        <p:spPr>
          <a:xfrm xmlns:a="http://schemas.openxmlformats.org/drawingml/2006/main">
            <a:off x="781050" y="5943600"/>
            <a:ext cx="10629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B8C6D9"/>
                </a:solidFill>
                <a:latin typeface="Inter"/>
                <a:ea typeface="Inter"/>
                <a:cs typeface="Inter"/>
              </a:defRPr>
            </a:defPPr>
          </a:lstStyle>
          <a:p xmlns:a="http://schemas.openxmlformats.org/drawingml/2006/main">
            <a:pPr algn="l">
              <a:lnSpc>
                <a:spcPct val="108000"/>
              </a:lnSpc>
              <a:buNone/>
              <a:defRPr sz="1425" b="0" i="0">
                <a:solidFill>
                  <a:srgbClr val="B8C6D9"/>
                </a:solidFill>
                <a:latin typeface="Inter"/>
                <a:ea typeface="Inter"/>
                <a:cs typeface="Inter"/>
              </a:defRPr>
            </a:pPr>
            <a:r>
              <a:rPr sz="1425" b="0" i="0">
                <a:solidFill>
                  <a:srgbClr val="B8C6D9"/>
                </a:solidFill>
                <a:latin typeface="Inter"/>
                <a:ea typeface="Inter"/>
                <a:cs typeface="Inter"/>
              </a:rPr>
              <a:t>Total: 23 qubits  |  2 bits per axis  |  coordinates store column bits then row bits (Qiskit q₀ is the rightmost bit)</a:t>
            </a:r>
          </a:p>
        </p:txBody>
      </p:sp>
    </p:spTree>
    <p:extLst>
      <p:ext uri="{BB962C8B-B14F-4D97-AF65-F5344CB8AC3E}">
        <p14:creationId xmlns:p14="http://schemas.microsoft.com/office/powerpoint/2010/main" val="831971761"/>
      </p:ext>
    </p:extLst>
  </p:cSld>
</p:sld>
</file>

<file path=ppt/slides/slide6.xml><?xml version="1.0" encoding="utf-8"?>
<p:sld xmlns:p="http://schemas.openxmlformats.org/presentationml/2006/main">
  <p:cSld>
    <p:bg>
      <p:bgPr>
        <a:solidFill xmlns:a="http://schemas.openxmlformats.org/drawingml/2006/main">
          <a:srgbClr val="0B142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101FE9F-78BD-42A0-A21F-F2F87916E3EB}"/>
              </a:ext>
            </a:extLst>
          </p:cNvPr>
          <p:cNvSpPr>
            <a:spLocks xmlns:a="http://schemas.openxmlformats.org/drawingml/2006/main" noGrp="1"/>
          </p:cNvSpPr>
          <p:nvPr/>
        </p:nvSpPr>
        <p:spPr>
          <a:xfrm xmlns:a="http://schemas.openxmlformats.org/drawingml/2006/main">
            <a:off x="685800" y="4000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75" b="1" i="0">
                <a:solidFill>
                  <a:srgbClr val="F4F7FB"/>
                </a:solidFill>
                <a:latin typeface="Inter"/>
                <a:ea typeface="Inter"/>
                <a:cs typeface="Inter"/>
              </a:defRPr>
            </a:defPPr>
          </a:lstStyle>
          <a:p xmlns:a="http://schemas.openxmlformats.org/drawingml/2006/main">
            <a:pPr algn="l">
              <a:lnSpc>
                <a:spcPct val="108000"/>
              </a:lnSpc>
              <a:buNone/>
              <a:defRPr sz="2775" b="1" i="0">
                <a:solidFill>
                  <a:srgbClr val="F4F7FB"/>
                </a:solidFill>
                <a:latin typeface="Inter"/>
                <a:ea typeface="Inter"/>
                <a:cs typeface="Inter"/>
              </a:defRPr>
            </a:pPr>
            <a:r>
              <a:rPr sz="2775" b="1" i="0">
                <a:solidFill>
                  <a:srgbClr val="F4F7FB"/>
                </a:solidFill>
                <a:latin typeface="Inter"/>
                <a:ea typeface="Inter"/>
                <a:cs typeface="Inter"/>
              </a:rPr>
              <a:t>The 2×2 implementation is a seven-stage gate pipeline</a:t>
            </a:r>
          </a:p>
        </p:txBody>
      </p:sp>
      <p:sp>
        <p:nvSpPr>
          <p:cNvPr id="2" name="">
            <a:extLst xmlns:a="http://schemas.openxmlformats.org/drawingml/2006/main">
              <a:ext uri="{FF2B5EF4-FFF2-40B4-BE49-F238E27FC236}">
                <a16:creationId xmlns:a16="http://schemas.microsoft.com/office/drawing/2014/main" id="{ADA3FBBD-A246-4523-9EF0-412B8C4AB9E8}"/>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62D6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55BC211-497F-46DD-8609-96FB46898D04}"/>
              </a:ext>
            </a:extLst>
          </p:cNvPr>
          <p:cNvSpPr>
            <a:spLocks xmlns:a="http://schemas.openxmlformats.org/drawingml/2006/main" noGrp="1"/>
          </p:cNvSpPr>
          <p:nvPr/>
        </p:nvSpPr>
        <p:spPr>
          <a:xfrm xmlns:a="http://schemas.openxmlformats.org/drawingml/2006/main">
            <a:off x="704850" y="1162050"/>
            <a:ext cx="1078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B8C6D9"/>
                </a:solidFill>
                <a:latin typeface="Inter"/>
                <a:ea typeface="Inter"/>
                <a:cs typeface="Inter"/>
              </a:defRPr>
            </a:defPPr>
          </a:lstStyle>
          <a:p xmlns:a="http://schemas.openxmlformats.org/drawingml/2006/main">
            <a:pPr algn="l">
              <a:lnSpc>
                <a:spcPct val="108000"/>
              </a:lnSpc>
              <a:buNone/>
              <a:defRPr sz="1275" b="0" i="0">
                <a:solidFill>
                  <a:srgbClr val="B8C6D9"/>
                </a:solidFill>
                <a:latin typeface="Inter"/>
                <a:ea typeface="Inter"/>
                <a:cs typeface="Inter"/>
              </a:defRPr>
            </a:pPr>
            <a:r>
              <a:rPr sz="1275" b="0" i="0">
                <a:solidFill>
                  <a:srgbClr val="B8C6D9"/>
                </a:solidFill>
                <a:latin typeface="Inter"/>
                <a:ea typeface="Inter"/>
                <a:cs typeface="Inter"/>
              </a:rPr>
              <a:t>Each output becomes the next stage’s input; current output reveals where the prototype stops</a:t>
            </a:r>
          </a:p>
        </p:txBody>
      </p:sp>
      <p:graphicFrame>
        <p:nvGraphicFramePr>
          <p:cNvPr id="4" name="">
            <a:extLst xmlns:a="http://schemas.openxmlformats.org/drawingml/2006/main">
              <a:ext uri="{FF2B5EF4-FFF2-40B4-BE49-F238E27FC236}">
                <a16:creationId xmlns:a16="http://schemas.microsoft.com/office/drawing/2014/main" id="{9965678D-FAB0-475F-8B75-1EF7DE123B65}"/>
              </a:ext>
            </a:extLst>
          </p:cNvPr>
          <p:cNvGraphicFramePr/>
          <p:nvPr/>
        </p:nvGraphicFramePr>
        <p:xfrm>
          <a:off xmlns:a="http://schemas.openxmlformats.org/drawingml/2006/main" x="685800" y="1495425"/>
          <a:ext xmlns:a="http://schemas.openxmlformats.org/drawingml/2006/main" cx="10820400" cy="4953000"/>
        </p:xfrm>
        <a:graphic xmlns:a="http://schemas.openxmlformats.org/drawingml/2006/main">
          <a:graphicData uri="http://schemas.openxmlformats.org/drawingml/2006/table">
            <a:tbl>
              <a:tblPr/>
              <a:tblGrid>
                <a:gridCol w="2286000"/>
                <a:gridCol w="3524250"/>
                <a:gridCol w="1952625"/>
                <a:gridCol w="3057525"/>
              </a:tblGrid>
              <a:tr h="619125">
                <a:tc>
                  <a:txBody>
                    <a:bodyPr/>
                    <a:lstStyle/>
                    <a:p>
                      <a:pPr algn="l"/>
                      <a:r>
                        <a:rPr sz="1200" b="1">
                          <a:solidFill>
                            <a:srgbClr val="F4F7FB"/>
                          </a:solidFill>
                          <a:latin typeface="Inter"/>
                          <a:ea typeface="Inter"/>
                          <a:cs typeface="Inter"/>
                        </a:rPr>
                        <a:t>Stage / method</a:t>
                      </a:r>
                    </a:p>
                  </a:txBody>
                  <a:tcPr marL="95250" marR="95250" marT="47625" marB="47625" anchor="ctr">
                    <a:lnL w="9525">
                      <a:solidFill>
                        <a:srgbClr val="354861"/>
                      </a:solidFill>
                      <a:prstDash val="solid"/>
                    </a:lnL>
                    <a:lnR w="9525">
                      <a:solidFill>
                        <a:srgbClr val="354861"/>
                      </a:solidFill>
                      <a:prstDash val="solid"/>
                    </a:lnR>
                    <a:lnT w="9525">
                      <a:solidFill>
                        <a:srgbClr val="354861"/>
                      </a:solidFill>
                      <a:prstDash val="solid"/>
                    </a:lnT>
                    <a:lnB w="9525">
                      <a:solidFill>
                        <a:srgbClr val="354861"/>
                      </a:solidFill>
                      <a:prstDash val="solid"/>
                    </a:lnB>
                    <a:solidFill>
                      <a:srgbClr val="164153"/>
                    </a:solidFill>
                  </a:tcPr>
                </a:tc>
                <a:tc>
                  <a:txBody>
                    <a:bodyPr/>
                    <a:lstStyle/>
                    <a:p>
                      <a:pPr algn="l"/>
                      <a:r>
                        <a:rPr sz="1200" b="1">
                          <a:solidFill>
                            <a:srgbClr val="F4F7FB"/>
                          </a:solidFill>
                          <a:latin typeface="Inter"/>
                          <a:ea typeface="Inter"/>
                          <a:cs typeface="Inter"/>
                        </a:rPr>
                        <a:t>Input and gate action</a:t>
                      </a:r>
                    </a:p>
                  </a:txBody>
                  <a:tcPr marL="95250" marR="95250" marT="47625" marB="47625" anchor="ctr">
                    <a:lnR w="9525">
                      <a:solidFill>
                        <a:srgbClr val="354861"/>
                      </a:solidFill>
                      <a:prstDash val="solid"/>
                    </a:lnR>
                    <a:lnT w="9525">
                      <a:solidFill>
                        <a:srgbClr val="354861"/>
                      </a:solidFill>
                      <a:prstDash val="solid"/>
                    </a:lnT>
                    <a:lnB w="9525">
                      <a:solidFill>
                        <a:srgbClr val="354861"/>
                      </a:solidFill>
                      <a:prstDash val="solid"/>
                    </a:lnB>
                    <a:solidFill>
                      <a:srgbClr val="164153"/>
                    </a:solidFill>
                  </a:tcPr>
                </a:tc>
                <a:tc>
                  <a:txBody>
                    <a:bodyPr/>
                    <a:lstStyle/>
                    <a:p>
                      <a:pPr algn="l"/>
                      <a:r>
                        <a:rPr sz="1200" b="1">
                          <a:solidFill>
                            <a:srgbClr val="F4F7FB"/>
                          </a:solidFill>
                          <a:latin typeface="Inter"/>
                          <a:ea typeface="Inter"/>
                          <a:cs typeface="Inter"/>
                        </a:rPr>
                        <a:t>Output in this example</a:t>
                      </a:r>
                    </a:p>
                  </a:txBody>
                  <a:tcPr marL="95250" marR="95250" marT="47625" marB="47625" anchor="ctr">
                    <a:lnR w="9525">
                      <a:solidFill>
                        <a:srgbClr val="354861"/>
                      </a:solidFill>
                      <a:prstDash val="solid"/>
                    </a:lnR>
                    <a:lnT w="9525">
                      <a:solidFill>
                        <a:srgbClr val="354861"/>
                      </a:solidFill>
                      <a:prstDash val="solid"/>
                    </a:lnT>
                    <a:lnB w="9525">
                      <a:solidFill>
                        <a:srgbClr val="354861"/>
                      </a:solidFill>
                      <a:prstDash val="solid"/>
                    </a:lnB>
                    <a:solidFill>
                      <a:srgbClr val="164153"/>
                    </a:solidFill>
                  </a:tcPr>
                </a:tc>
                <a:tc>
                  <a:txBody>
                    <a:bodyPr/>
                    <a:lstStyle/>
                    <a:p>
                      <a:pPr algn="l"/>
                      <a:r>
                        <a:rPr sz="1200" b="1">
                          <a:solidFill>
                            <a:srgbClr val="F4F7FB"/>
                          </a:solidFill>
                          <a:latin typeface="Inter"/>
                          <a:ea typeface="Inter"/>
                          <a:cs typeface="Inter"/>
                        </a:rPr>
                        <a:t>Why it is used</a:t>
                      </a:r>
                    </a:p>
                  </a:txBody>
                  <a:tcPr marL="95250" marR="95250" marT="47625" marB="47625" anchor="ctr">
                    <a:lnR w="9525">
                      <a:solidFill>
                        <a:srgbClr val="354861"/>
                      </a:solidFill>
                      <a:prstDash val="solid"/>
                    </a:lnR>
                    <a:lnT w="9525">
                      <a:solidFill>
                        <a:srgbClr val="354861"/>
                      </a:solidFill>
                      <a:prstDash val="solid"/>
                    </a:lnT>
                    <a:lnB w="9525">
                      <a:solidFill>
                        <a:srgbClr val="354861"/>
                      </a:solidFill>
                      <a:prstDash val="solid"/>
                    </a:lnB>
                    <a:solidFill>
                      <a:srgbClr val="164153"/>
                    </a:solidFill>
                  </a:tcPr>
                </a:tc>
              </a:tr>
              <a:tr h="619125">
                <a:tc>
                  <a:txBody>
                    <a:bodyPr/>
                    <a:lstStyle/>
                    <a:p>
                      <a:pPr algn="l"/>
                      <a:r>
                        <a:rPr sz="1200">
                          <a:solidFill>
                            <a:srgbClr val="F4F7FB"/>
                          </a:solidFill>
                          <a:latin typeface="Inter"/>
                          <a:ea typeface="Inter"/>
                          <a:cs typeface="Inter"/>
                        </a:rPr>
                        <a:t>1 · Build</a:t>
                      </a:r>
                    </a:p>
                    <a:p>
                      <a:pPr algn="l"/>
                      <a:r>
                        <a:rPr sz="1200">
                          <a:solidFill>
                            <a:srgbClr val="F4F7FB"/>
                          </a:solidFill>
                          <a:latin typeface="Inter"/>
                          <a:ea typeface="Inter"/>
                          <a:cs typeface="Inter"/>
                        </a:rPr>
                        <a:t>`build_full_chess_circuit`</a:t>
                      </a:r>
                    </a:p>
                  </a:txBody>
                  <a:tcPr marL="95250" marR="95250" marT="47625" marB="47625" anchor="ctr">
                    <a:lnL w="9525">
                      <a:solidFill>
                        <a:srgbClr val="354861"/>
                      </a:solidFill>
                      <a:prstDash val="solid"/>
                    </a:lnL>
                    <a:lnR w="9525">
                      <a:solidFill>
                        <a:srgbClr val="354861"/>
                      </a:solidFill>
                      <a:prstDash val="solid"/>
                    </a:lnR>
                    <a:lnB w="9525">
                      <a:solidFill>
                        <a:srgbClr val="354861"/>
                      </a:solidFill>
                      <a:prstDash val="solid"/>
                    </a:lnB>
                    <a:solidFill>
                      <a:srgbClr val="13243D"/>
                    </a:solidFill>
                  </a:tcPr>
                </a:tc>
                <a:tc>
                  <a:txBody>
                    <a:bodyPr/>
                    <a:lstStyle/>
                    <a:p>
                      <a:pPr algn="l"/>
                      <a:r>
                        <a:rPr sz="1200">
                          <a:solidFill>
                            <a:srgbClr val="F4F7FB"/>
                          </a:solidFill>
                          <a:latin typeface="Inter"/>
                          <a:ea typeface="Inter"/>
                          <a:cs typeface="Inter"/>
                        </a:rPr>
                        <a:t>Python supplies state, source, target, and color.</a:t>
                      </a:r>
                    </a:p>
                  </a:txBody>
                  <a:tcPr marL="95250" marR="95250" marT="47625" marB="47625" anchor="ctr">
                    <a:lnR w="9525">
                      <a:solidFill>
                        <a:srgbClr val="354861"/>
                      </a:solidFill>
                      <a:prstDash val="solid"/>
                    </a:lnR>
                    <a:lnB w="9525">
                      <a:solidFill>
                        <a:srgbClr val="354861"/>
                      </a:solidFill>
                      <a:prstDash val="solid"/>
                    </a:lnB>
                    <a:solidFill>
                      <a:srgbClr val="13243D"/>
                    </a:solidFill>
                  </a:tcPr>
                </a:tc>
                <a:tc>
                  <a:txBody>
                    <a:bodyPr/>
                    <a:lstStyle/>
                    <a:p>
                      <a:pPr algn="l"/>
                      <a:r>
                        <a:rPr sz="1200">
                          <a:solidFill>
                            <a:srgbClr val="F4F7FB"/>
                          </a:solidFill>
                          <a:latin typeface="Inter"/>
                          <a:ea typeface="Inter"/>
                          <a:cs typeface="Inter"/>
                        </a:rPr>
                        <a:t>Move already chosen classically.</a:t>
                      </a:r>
                    </a:p>
                  </a:txBody>
                  <a:tcPr marL="95250" marR="95250" marT="47625" marB="47625" anchor="ctr">
                    <a:lnR w="9525">
                      <a:solidFill>
                        <a:srgbClr val="354861"/>
                      </a:solidFill>
                      <a:prstDash val="solid"/>
                    </a:lnR>
                    <a:lnB w="9525">
                      <a:solidFill>
                        <a:srgbClr val="354861"/>
                      </a:solidFill>
                      <a:prstDash val="solid"/>
                    </a:lnB>
                    <a:solidFill>
                      <a:srgbClr val="13243D"/>
                    </a:solidFill>
                  </a:tcPr>
                </a:tc>
                <a:tc>
                  <a:txBody>
                    <a:bodyPr/>
                    <a:lstStyle/>
                    <a:p>
                      <a:pPr algn="l"/>
                      <a:r>
                        <a:rPr sz="1200">
                          <a:solidFill>
                            <a:srgbClr val="F4F7FB"/>
                          </a:solidFill>
                          <a:latin typeface="Inter"/>
                          <a:ea typeface="Inter"/>
                          <a:cs typeface="Inter"/>
                        </a:rPr>
                        <a:t>Set circuit inputs from the game state.</a:t>
                      </a:r>
                    </a:p>
                  </a:txBody>
                  <a:tcPr marL="95250" marR="95250" marT="47625" marB="47625" anchor="ctr">
                    <a:lnR w="9525">
                      <a:solidFill>
                        <a:srgbClr val="354861"/>
                      </a:solidFill>
                      <a:prstDash val="solid"/>
                    </a:lnR>
                    <a:lnB w="9525">
                      <a:solidFill>
                        <a:srgbClr val="354861"/>
                      </a:solidFill>
                      <a:prstDash val="solid"/>
                    </a:lnB>
                    <a:solidFill>
                      <a:srgbClr val="13243D"/>
                    </a:solidFill>
                  </a:tcPr>
                </a:tc>
              </a:tr>
              <a:tr h="619125">
                <a:tc>
                  <a:txBody>
                    <a:bodyPr/>
                    <a:lstStyle/>
                    <a:p>
                      <a:pPr algn="l"/>
                      <a:r>
                        <a:rPr sz="1200">
                          <a:solidFill>
                            <a:srgbClr val="F4F7FB"/>
                          </a:solidFill>
                          <a:latin typeface="Inter"/>
                          <a:ea typeface="Inter"/>
                          <a:cs typeface="Inter"/>
                        </a:rPr>
                        <a:t>2 · Encode</a:t>
                      </a:r>
                    </a:p>
                    <a:p>
                      <a:pPr algn="l"/>
                      <a:r>
                        <a:rPr sz="1200">
                          <a:solidFill>
                            <a:srgbClr val="F4F7FB"/>
                          </a:solidFill>
                          <a:latin typeface="Inter"/>
                          <a:ea typeface="Inter"/>
                          <a:cs typeface="Inter"/>
                        </a:rPr>
                        <a:t>`initialize_register`</a:t>
                      </a:r>
                    </a:p>
                  </a:txBody>
                  <a:tcPr marL="95250" marR="95250" marT="47625" marB="47625" anchor="ctr">
                    <a:lnL w="9525">
                      <a:solidFill>
                        <a:srgbClr val="354861"/>
                      </a:solidFill>
                      <a:prstDash val="solid"/>
                    </a:lnL>
                    <a:lnR w="9525">
                      <a:solidFill>
                        <a:srgbClr val="354861"/>
                      </a:solidFill>
                      <a:prstDash val="solid"/>
                    </a:lnR>
                    <a:lnB w="9525">
                      <a:solidFill>
                        <a:srgbClr val="354861"/>
                      </a:solidFill>
                      <a:prstDash val="solid"/>
                    </a:lnB>
                    <a:solidFill>
                      <a:srgbClr val="0E1B30"/>
                    </a:solidFill>
                  </a:tcPr>
                </a:tc>
                <a:tc>
                  <a:txBody>
                    <a:bodyPr/>
                    <a:lstStyle/>
                    <a:p>
                      <a:pPr algn="l"/>
                      <a:r>
                        <a:rPr sz="1200">
                          <a:solidFill>
                            <a:srgbClr val="F4F7FB"/>
                          </a:solidFill>
                          <a:latin typeface="Inter"/>
                          <a:ea typeface="Inter"/>
                          <a:cs typeface="Inter"/>
                        </a:rPr>
                        <a:t>X gates write the 1-bits into `cur` and `tgt`.</a:t>
                      </a:r>
                    </a:p>
                  </a:txBody>
                  <a:tcPr marL="95250" marR="95250" marT="47625" marB="47625" anchor="ctr">
                    <a:lnR w="9525">
                      <a:solidFill>
                        <a:srgbClr val="354861"/>
                      </a:solidFill>
                      <a:prstDash val="solid"/>
                    </a:lnR>
                    <a:lnB w="9525">
                      <a:solidFill>
                        <a:srgbClr val="354861"/>
                      </a:solidFill>
                      <a:prstDash val="solid"/>
                    </a:lnB>
                    <a:solidFill>
                      <a:srgbClr val="0E1B30"/>
                    </a:solidFill>
                  </a:tcPr>
                </a:tc>
                <a:tc>
                  <a:txBody>
                    <a:bodyPr/>
                    <a:lstStyle/>
                    <a:p>
                      <a:pPr algn="l"/>
                      <a:r>
                        <a:rPr sz="1200">
                          <a:solidFill>
                            <a:srgbClr val="F4F7FB"/>
                          </a:solidFill>
                          <a:latin typeface="Inter"/>
                          <a:ea typeface="Inter"/>
                          <a:cs typeface="Inter"/>
                        </a:rPr>
                        <a:t>cur=0000, tgt=0001.</a:t>
                      </a:r>
                    </a:p>
                  </a:txBody>
                  <a:tcPr marL="95250" marR="95250" marT="47625" marB="47625" anchor="ctr">
                    <a:lnR w="9525">
                      <a:solidFill>
                        <a:srgbClr val="354861"/>
                      </a:solidFill>
                      <a:prstDash val="solid"/>
                    </a:lnR>
                    <a:lnB w="9525">
                      <a:solidFill>
                        <a:srgbClr val="354861"/>
                      </a:solidFill>
                      <a:prstDash val="solid"/>
                    </a:lnB>
                    <a:solidFill>
                      <a:srgbClr val="0E1B30"/>
                    </a:solidFill>
                  </a:tcPr>
                </a:tc>
                <a:tc>
                  <a:txBody>
                    <a:bodyPr/>
                    <a:lstStyle/>
                    <a:p>
                      <a:pPr algn="l"/>
                      <a:r>
                        <a:rPr sz="1200">
                          <a:solidFill>
                            <a:srgbClr val="F4F7FB"/>
                          </a:solidFill>
                          <a:latin typeface="Inter"/>
                          <a:ea typeface="Inter"/>
                          <a:cs typeface="Inter"/>
                        </a:rPr>
                        <a:t>Represent square coordinates in binary.</a:t>
                      </a:r>
                    </a:p>
                  </a:txBody>
                  <a:tcPr marL="95250" marR="95250" marT="47625" marB="47625" anchor="ctr">
                    <a:lnR w="9525">
                      <a:solidFill>
                        <a:srgbClr val="354861"/>
                      </a:solidFill>
                      <a:prstDash val="solid"/>
                    </a:lnR>
                    <a:lnB w="9525">
                      <a:solidFill>
                        <a:srgbClr val="354861"/>
                      </a:solidFill>
                      <a:prstDash val="solid"/>
                    </a:lnB>
                    <a:solidFill>
                      <a:srgbClr val="0E1B30"/>
                    </a:solidFill>
                  </a:tcPr>
                </a:tc>
              </a:tr>
              <a:tr h="619125">
                <a:tc>
                  <a:txBody>
                    <a:bodyPr/>
                    <a:lstStyle/>
                    <a:p>
                      <a:pPr algn="l"/>
                      <a:r>
                        <a:rPr sz="1200">
                          <a:solidFill>
                            <a:srgbClr val="F4F7FB"/>
                          </a:solidFill>
                          <a:latin typeface="Inter"/>
                          <a:ea typeface="Inter"/>
                          <a:cs typeface="Inter"/>
                        </a:rPr>
                        <a:t>3 · Read source</a:t>
                      </a:r>
                    </a:p>
                    <a:p>
                      <a:pPr algn="l"/>
                      <a:r>
                        <a:rPr sz="1200">
                          <a:solidFill>
                            <a:srgbClr val="F4F7FB"/>
                          </a:solidFill>
                          <a:latin typeface="Inter"/>
                          <a:ea typeface="Inter"/>
                          <a:cs typeface="Inter"/>
                        </a:rPr>
                        <a:t>`_add_status_extractor`</a:t>
                      </a:r>
                    </a:p>
                  </a:txBody>
                  <a:tcPr marL="95250" marR="95250" marT="47625" marB="47625" anchor="ctr">
                    <a:lnL w="9525">
                      <a:solidFill>
                        <a:srgbClr val="354861"/>
                      </a:solidFill>
                      <a:prstDash val="solid"/>
                    </a:lnL>
                    <a:lnR w="9525">
                      <a:solidFill>
                        <a:srgbClr val="354861"/>
                      </a:solidFill>
                      <a:prstDash val="solid"/>
                    </a:lnR>
                    <a:lnB w="9525">
                      <a:solidFill>
                        <a:srgbClr val="354861"/>
                      </a:solidFill>
                      <a:prstDash val="solid"/>
                    </a:lnB>
                    <a:solidFill>
                      <a:srgbClr val="13243D"/>
                    </a:solidFill>
                  </a:tcPr>
                </a:tc>
                <a:tc>
                  <a:txBody>
                    <a:bodyPr/>
                    <a:lstStyle/>
                    <a:p>
                      <a:pPr algn="l"/>
                      <a:r>
                        <a:rPr sz="1200">
                          <a:solidFill>
                            <a:srgbClr val="F4F7FB"/>
                          </a:solidFill>
                          <a:latin typeface="Inter"/>
                          <a:ea typeface="Inter"/>
                          <a:cs typeface="Inter"/>
                        </a:rPr>
                        <a:t>Complement zero controls, MCX on a matching square, then undo X.</a:t>
                      </a:r>
                    </a:p>
                  </a:txBody>
                  <a:tcPr marL="95250" marR="95250" marT="47625" marB="47625" anchor="ctr">
                    <a:lnR w="9525">
                      <a:solidFill>
                        <a:srgbClr val="354861"/>
                      </a:solidFill>
                      <a:prstDash val="solid"/>
                    </a:lnR>
                    <a:lnB w="9525">
                      <a:solidFill>
                        <a:srgbClr val="354861"/>
                      </a:solidFill>
                      <a:prstDash val="solid"/>
                    </a:lnB>
                    <a:solidFill>
                      <a:srgbClr val="13243D"/>
                    </a:solidFill>
                  </a:tcPr>
                </a:tc>
                <a:tc>
                  <a:txBody>
                    <a:bodyPr/>
                    <a:lstStyle/>
                    <a:p>
                      <a:pPr algn="l"/>
                      <a:r>
                        <a:rPr sz="1200">
                          <a:solidFill>
                            <a:srgbClr val="F4F7FB"/>
                          </a:solidFill>
                          <a:latin typeface="Inter"/>
                          <a:ea typeface="Inter"/>
                          <a:cs typeface="Inter"/>
                        </a:rPr>
                        <a:t>src=001.</a:t>
                      </a:r>
                    </a:p>
                  </a:txBody>
                  <a:tcPr marL="95250" marR="95250" marT="47625" marB="47625" anchor="ctr">
                    <a:lnR w="9525">
                      <a:solidFill>
                        <a:srgbClr val="354861"/>
                      </a:solidFill>
                      <a:prstDash val="solid"/>
                    </a:lnR>
                    <a:lnB w="9525">
                      <a:solidFill>
                        <a:srgbClr val="354861"/>
                      </a:solidFill>
                      <a:prstDash val="solid"/>
                    </a:lnB>
                    <a:solidFill>
                      <a:srgbClr val="13243D"/>
                    </a:solidFill>
                  </a:tcPr>
                </a:tc>
                <a:tc>
                  <a:txBody>
                    <a:bodyPr/>
                    <a:lstStyle/>
                    <a:p>
                      <a:pPr algn="l"/>
                      <a:r>
                        <a:rPr sz="1200">
                          <a:solidFill>
                            <a:srgbClr val="F4F7FB"/>
                          </a:solidFill>
                          <a:latin typeface="Inter"/>
                          <a:ea typeface="Inter"/>
                          <a:cs typeface="Inter"/>
                        </a:rPr>
                        <a:t>Look up the source piece’s compact status.</a:t>
                      </a:r>
                    </a:p>
                  </a:txBody>
                  <a:tcPr marL="95250" marR="95250" marT="47625" marB="47625" anchor="ctr">
                    <a:lnR w="9525">
                      <a:solidFill>
                        <a:srgbClr val="354861"/>
                      </a:solidFill>
                      <a:prstDash val="solid"/>
                    </a:lnR>
                    <a:lnB w="9525">
                      <a:solidFill>
                        <a:srgbClr val="354861"/>
                      </a:solidFill>
                      <a:prstDash val="solid"/>
                    </a:lnB>
                    <a:solidFill>
                      <a:srgbClr val="13243D"/>
                    </a:solidFill>
                  </a:tcPr>
                </a:tc>
              </a:tr>
              <a:tr h="619125">
                <a:tc>
                  <a:txBody>
                    <a:bodyPr/>
                    <a:lstStyle/>
                    <a:p>
                      <a:pPr algn="l"/>
                      <a:r>
                        <a:rPr sz="1200">
                          <a:solidFill>
                            <a:srgbClr val="F4F7FB"/>
                          </a:solidFill>
                          <a:latin typeface="Inter"/>
                          <a:ea typeface="Inter"/>
                          <a:cs typeface="Inter"/>
                        </a:rPr>
                        <a:t>4 · Read target</a:t>
                      </a:r>
                    </a:p>
                    <a:p>
                      <a:pPr algn="l"/>
                      <a:r>
                        <a:rPr sz="1200">
                          <a:solidFill>
                            <a:srgbClr val="F4F7FB"/>
                          </a:solidFill>
                          <a:latin typeface="Inter"/>
                          <a:ea typeface="Inter"/>
                          <a:cs typeface="Inter"/>
                        </a:rPr>
                        <a:t>`_add_status_extractor`</a:t>
                      </a:r>
                    </a:p>
                  </a:txBody>
                  <a:tcPr marL="95250" marR="95250" marT="47625" marB="47625" anchor="ctr">
                    <a:lnL w="9525">
                      <a:solidFill>
                        <a:srgbClr val="354861"/>
                      </a:solidFill>
                      <a:prstDash val="solid"/>
                    </a:lnL>
                    <a:lnR w="9525">
                      <a:solidFill>
                        <a:srgbClr val="354861"/>
                      </a:solidFill>
                      <a:prstDash val="solid"/>
                    </a:lnR>
                    <a:lnB w="9525">
                      <a:solidFill>
                        <a:srgbClr val="354861"/>
                      </a:solidFill>
                      <a:prstDash val="solid"/>
                    </a:lnB>
                    <a:solidFill>
                      <a:srgbClr val="0E1B30"/>
                    </a:solidFill>
                  </a:tcPr>
                </a:tc>
                <a:tc>
                  <a:txBody>
                    <a:bodyPr/>
                    <a:lstStyle/>
                    <a:p>
                      <a:pPr algn="l"/>
                      <a:r>
                        <a:rPr sz="1200">
                          <a:solidFill>
                            <a:srgbClr val="F4F7FB"/>
                          </a:solidFill>
                          <a:latin typeface="Inter"/>
                          <a:ea typeface="Inter"/>
                          <a:cs typeface="Inter"/>
                        </a:rPr>
                        <a:t>Use target coordinate controls for the board lookup.</a:t>
                      </a:r>
                    </a:p>
                  </a:txBody>
                  <a:tcPr marL="95250" marR="95250" marT="47625" marB="47625" anchor="ctr">
                    <a:lnR w="9525">
                      <a:solidFill>
                        <a:srgbClr val="354861"/>
                      </a:solidFill>
                      <a:prstDash val="solid"/>
                    </a:lnR>
                    <a:lnB w="9525">
                      <a:solidFill>
                        <a:srgbClr val="354861"/>
                      </a:solidFill>
                      <a:prstDash val="solid"/>
                    </a:lnB>
                    <a:solidFill>
                      <a:srgbClr val="0E1B30"/>
                    </a:solidFill>
                  </a:tcPr>
                </a:tc>
                <a:tc>
                  <a:txBody>
                    <a:bodyPr/>
                    <a:lstStyle/>
                    <a:p>
                      <a:pPr algn="l"/>
                      <a:r>
                        <a:rPr sz="1200">
                          <a:solidFill>
                            <a:srgbClr val="F4F7FB"/>
                          </a:solidFill>
                          <a:latin typeface="Inter"/>
                          <a:ea typeface="Inter"/>
                          <a:cs typeface="Inter"/>
                        </a:rPr>
                        <a:t>dst=000.</a:t>
                      </a:r>
                    </a:p>
                  </a:txBody>
                  <a:tcPr marL="95250" marR="95250" marT="47625" marB="47625" anchor="ctr">
                    <a:lnR w="9525">
                      <a:solidFill>
                        <a:srgbClr val="354861"/>
                      </a:solidFill>
                      <a:prstDash val="solid"/>
                    </a:lnR>
                    <a:lnB w="9525">
                      <a:solidFill>
                        <a:srgbClr val="354861"/>
                      </a:solidFill>
                      <a:prstDash val="solid"/>
                    </a:lnB>
                    <a:solidFill>
                      <a:srgbClr val="0E1B30"/>
                    </a:solidFill>
                  </a:tcPr>
                </a:tc>
                <a:tc>
                  <a:txBody>
                    <a:bodyPr/>
                    <a:lstStyle/>
                    <a:p>
                      <a:pPr algn="l"/>
                      <a:r>
                        <a:rPr sz="1200">
                          <a:solidFill>
                            <a:srgbClr val="F4F7FB"/>
                          </a:solidFill>
                          <a:latin typeface="Inter"/>
                          <a:ea typeface="Inter"/>
                          <a:cs typeface="Inter"/>
                        </a:rPr>
                        <a:t>Determine whether destination starts empty or occupied.</a:t>
                      </a:r>
                    </a:p>
                  </a:txBody>
                  <a:tcPr marL="95250" marR="95250" marT="47625" marB="47625" anchor="ctr">
                    <a:lnR w="9525">
                      <a:solidFill>
                        <a:srgbClr val="354861"/>
                      </a:solidFill>
                      <a:prstDash val="solid"/>
                    </a:lnR>
                    <a:lnB w="9525">
                      <a:solidFill>
                        <a:srgbClr val="354861"/>
                      </a:solidFill>
                      <a:prstDash val="solid"/>
                    </a:lnB>
                    <a:solidFill>
                      <a:srgbClr val="0E1B30"/>
                    </a:solidFill>
                  </a:tcPr>
                </a:tc>
              </a:tr>
              <a:tr h="619125">
                <a:tc>
                  <a:txBody>
                    <a:bodyPr/>
                    <a:lstStyle/>
                    <a:p>
                      <a:pPr algn="l"/>
                      <a:r>
                        <a:rPr sz="1200">
                          <a:solidFill>
                            <a:srgbClr val="F4F7FB"/>
                          </a:solidFill>
                          <a:latin typeface="Inter"/>
                          <a:ea typeface="Inter"/>
                          <a:cs typeface="Inter"/>
                        </a:rPr>
                        <a:t>5 · Detect direction</a:t>
                      </a:r>
                    </a:p>
                    <a:p>
                      <a:pPr algn="l"/>
                      <a:r>
                        <a:rPr sz="1200">
                          <a:solidFill>
                            <a:srgbClr val="F4F7FB"/>
                          </a:solidFill>
                          <a:latin typeface="Inter"/>
                          <a:ea typeface="Inter"/>
                          <a:cs typeface="Inter"/>
                        </a:rPr>
                        <a:t>`_add_direction_detection`</a:t>
                      </a:r>
                    </a:p>
                  </a:txBody>
                  <a:tcPr marL="95250" marR="95250" marT="47625" marB="47625" anchor="ctr">
                    <a:lnL w="9525">
                      <a:solidFill>
                        <a:srgbClr val="354861"/>
                      </a:solidFill>
                      <a:prstDash val="solid"/>
                    </a:lnL>
                    <a:lnR w="9525">
                      <a:solidFill>
                        <a:srgbClr val="354861"/>
                      </a:solidFill>
                      <a:prstDash val="solid"/>
                    </a:lnR>
                    <a:lnB w="9525">
                      <a:solidFill>
                        <a:srgbClr val="354861"/>
                      </a:solidFill>
                      <a:prstDash val="solid"/>
                    </a:lnB>
                    <a:solidFill>
                      <a:srgbClr val="13243D"/>
                    </a:solidFill>
                  </a:tcPr>
                </a:tc>
                <a:tc>
                  <a:txBody>
                    <a:bodyPr/>
                    <a:lstStyle/>
                    <a:p>
                      <a:pPr algn="l"/>
                      <a:r>
                        <a:rPr sz="1200">
                          <a:solidFill>
                            <a:srgbClr val="F4F7FB"/>
                          </a:solidFill>
                          <a:latin typeface="Inter"/>
                          <a:ea typeface="Inter"/>
                          <a:cs typeface="Inter"/>
                        </a:rPr>
                        <a:t>CX/X equality logic and CCX diagonal tests write direction bits.</a:t>
                      </a:r>
                    </a:p>
                  </a:txBody>
                  <a:tcPr marL="95250" marR="95250" marT="47625" marB="47625" anchor="ctr">
                    <a:lnR w="9525">
                      <a:solidFill>
                        <a:srgbClr val="354861"/>
                      </a:solidFill>
                      <a:prstDash val="solid"/>
                    </a:lnR>
                    <a:lnB w="9525">
                      <a:solidFill>
                        <a:srgbClr val="354861"/>
                      </a:solidFill>
                      <a:prstDash val="solid"/>
                    </a:lnB>
                    <a:solidFill>
                      <a:srgbClr val="13243D"/>
                    </a:solidFill>
                  </a:tcPr>
                </a:tc>
                <a:tc>
                  <a:txBody>
                    <a:bodyPr/>
                    <a:lstStyle/>
                    <a:p>
                      <a:pPr algn="l"/>
                      <a:r>
                        <a:rPr sz="1200">
                          <a:solidFill>
                            <a:srgbClr val="F4F7FB"/>
                          </a:solidFill>
                          <a:latin typeface="Inter"/>
                          <a:ea typeface="Inter"/>
                          <a:cs typeface="Inter"/>
                        </a:rPr>
                        <a:t>dir=0000 here.</a:t>
                      </a:r>
                    </a:p>
                  </a:txBody>
                  <a:tcPr marL="95250" marR="95250" marT="47625" marB="47625" anchor="ctr">
                    <a:lnR w="9525">
                      <a:solidFill>
                        <a:srgbClr val="354861"/>
                      </a:solidFill>
                      <a:prstDash val="solid"/>
                    </a:lnR>
                    <a:lnB w="9525">
                      <a:solidFill>
                        <a:srgbClr val="354861"/>
                      </a:solidFill>
                      <a:prstDash val="solid"/>
                    </a:lnB>
                    <a:solidFill>
                      <a:srgbClr val="13243D"/>
                    </a:solidFill>
                  </a:tcPr>
                </a:tc>
                <a:tc>
                  <a:txBody>
                    <a:bodyPr/>
                    <a:lstStyle/>
                    <a:p>
                      <a:pPr algn="l"/>
                      <a:r>
                        <a:rPr sz="1200">
                          <a:solidFill>
                            <a:srgbClr val="F4F7FB"/>
                          </a:solidFill>
                          <a:latin typeface="Inter"/>
                          <a:ea typeface="Inter"/>
                          <a:cs typeface="Inter"/>
                        </a:rPr>
                        <a:t>Try to classify movement before status logic.</a:t>
                      </a:r>
                    </a:p>
                  </a:txBody>
                  <a:tcPr marL="95250" marR="95250" marT="47625" marB="47625" anchor="ctr">
                    <a:lnR w="9525">
                      <a:solidFill>
                        <a:srgbClr val="354861"/>
                      </a:solidFill>
                      <a:prstDash val="solid"/>
                    </a:lnR>
                    <a:lnB w="9525">
                      <a:solidFill>
                        <a:srgbClr val="354861"/>
                      </a:solidFill>
                      <a:prstDash val="solid"/>
                    </a:lnB>
                    <a:solidFill>
                      <a:srgbClr val="13243D"/>
                    </a:solidFill>
                  </a:tcPr>
                </a:tc>
              </a:tr>
              <a:tr h="619125">
                <a:tc>
                  <a:txBody>
                    <a:bodyPr/>
                    <a:lstStyle/>
                    <a:p>
                      <a:pPr algn="l"/>
                      <a:r>
                        <a:rPr sz="1200">
                          <a:solidFill>
                            <a:srgbClr val="F4F7FB"/>
                          </a:solidFill>
                          <a:latin typeface="Inter"/>
                          <a:ea typeface="Inter"/>
                          <a:cs typeface="Inter"/>
                        </a:rPr>
                        <a:t>6 · Try status update</a:t>
                      </a:r>
                    </a:p>
                    <a:p>
                      <a:pPr algn="l"/>
                      <a:r>
                        <a:rPr sz="1200">
                          <a:solidFill>
                            <a:srgbClr val="F4F7FB"/>
                          </a:solidFill>
                          <a:latin typeface="Inter"/>
                          <a:ea typeface="Inter"/>
                          <a:cs typeface="Inter"/>
                        </a:rPr>
                        <a:t>`_add_status_operator`</a:t>
                      </a:r>
                    </a:p>
                  </a:txBody>
                  <a:tcPr marL="95250" marR="95250" marT="47625" marB="47625" anchor="ctr">
                    <a:lnL w="9525">
                      <a:solidFill>
                        <a:srgbClr val="354861"/>
                      </a:solidFill>
                      <a:prstDash val="solid"/>
                    </a:lnL>
                    <a:lnR w="9525">
                      <a:solidFill>
                        <a:srgbClr val="354861"/>
                      </a:solidFill>
                      <a:prstDash val="solid"/>
                    </a:lnR>
                    <a:lnB w="9525">
                      <a:solidFill>
                        <a:srgbClr val="354861"/>
                      </a:solidFill>
                      <a:prstDash val="solid"/>
                    </a:lnB>
                    <a:solidFill>
                      <a:srgbClr val="0E1B30"/>
                    </a:solidFill>
                  </a:tcPr>
                </a:tc>
                <a:tc>
                  <a:txBody>
                    <a:bodyPr/>
                    <a:lstStyle/>
                    <a:p>
                      <a:pPr algn="l"/>
                      <a:r>
                        <a:rPr sz="1200">
                          <a:solidFill>
                            <a:srgbClr val="F4F7FB"/>
                          </a:solidFill>
                          <a:latin typeface="Inter"/>
                          <a:ea typeface="Inter"/>
                          <a:cs typeface="Inter"/>
                        </a:rPr>
                        <a:t>Temporary X plus MCX/CX gates condition a status transfer.</a:t>
                      </a:r>
                    </a:p>
                  </a:txBody>
                  <a:tcPr marL="95250" marR="95250" marT="47625" marB="47625" anchor="ctr">
                    <a:lnR w="9525">
                      <a:solidFill>
                        <a:srgbClr val="354861"/>
                      </a:solidFill>
                      <a:prstDash val="solid"/>
                    </a:lnR>
                    <a:lnB w="9525">
                      <a:solidFill>
                        <a:srgbClr val="354861"/>
                      </a:solidFill>
                      <a:prstDash val="solid"/>
                    </a:lnB>
                    <a:solidFill>
                      <a:srgbClr val="0E1B30"/>
                    </a:solidFill>
                  </a:tcPr>
                </a:tc>
                <a:tc>
                  <a:txBody>
                    <a:bodyPr/>
                    <a:lstStyle/>
                    <a:p>
                      <a:pPr algn="l"/>
                      <a:r>
                        <a:rPr sz="1200">
                          <a:solidFill>
                            <a:srgbClr val="F4F7FB"/>
                          </a:solidFill>
                          <a:latin typeface="Inter"/>
                          <a:ea typeface="Inter"/>
                          <a:cs typeface="Inter"/>
                        </a:rPr>
                        <a:t>Controls fail; no update.</a:t>
                      </a:r>
                    </a:p>
                  </a:txBody>
                  <a:tcPr marL="95250" marR="95250" marT="47625" marB="47625" anchor="ctr">
                    <a:lnR w="9525">
                      <a:solidFill>
                        <a:srgbClr val="354861"/>
                      </a:solidFill>
                      <a:prstDash val="solid"/>
                    </a:lnR>
                    <a:lnB w="9525">
                      <a:solidFill>
                        <a:srgbClr val="354861"/>
                      </a:solidFill>
                      <a:prstDash val="solid"/>
                    </a:lnB>
                    <a:solidFill>
                      <a:srgbClr val="0E1B30"/>
                    </a:solidFill>
                  </a:tcPr>
                </a:tc>
                <a:tc>
                  <a:txBody>
                    <a:bodyPr/>
                    <a:lstStyle/>
                    <a:p>
                      <a:pPr algn="l"/>
                      <a:r>
                        <a:rPr sz="1200">
                          <a:solidFill>
                            <a:srgbClr val="F4F7FB"/>
                          </a:solidFill>
                          <a:latin typeface="Inter"/>
                          <a:ea typeface="Inter"/>
                          <a:cs typeface="Inter"/>
                        </a:rPr>
                        <a:t>Prototype intends to move/capture status reversibly.</a:t>
                      </a:r>
                    </a:p>
                  </a:txBody>
                  <a:tcPr marL="95250" marR="95250" marT="47625" marB="47625" anchor="ctr">
                    <a:lnR w="9525">
                      <a:solidFill>
                        <a:srgbClr val="354861"/>
                      </a:solidFill>
                      <a:prstDash val="solid"/>
                    </a:lnR>
                    <a:lnB w="9525">
                      <a:solidFill>
                        <a:srgbClr val="354861"/>
                      </a:solidFill>
                      <a:prstDash val="solid"/>
                    </a:lnB>
                    <a:solidFill>
                      <a:srgbClr val="0E1B30"/>
                    </a:solidFill>
                  </a:tcPr>
                </a:tc>
              </a:tr>
              <a:tr h="619125">
                <a:tc>
                  <a:txBody>
                    <a:bodyPr/>
                    <a:lstStyle/>
                    <a:p>
                      <a:pPr algn="l"/>
                      <a:r>
                        <a:rPr sz="1200">
                          <a:solidFill>
                            <a:srgbClr val="F4F7FB"/>
                          </a:solidFill>
                          <a:latin typeface="Inter"/>
                          <a:ea typeface="Inter"/>
                          <a:cs typeface="Inter"/>
                        </a:rPr>
                        <a:t>7 · Measure</a:t>
                      </a:r>
                    </a:p>
                    <a:p>
                      <a:pPr algn="l"/>
                      <a:r>
                        <a:rPr sz="1200">
                          <a:solidFill>
                            <a:srgbClr val="F4F7FB"/>
                          </a:solidFill>
                          <a:latin typeface="Inter"/>
                          <a:ea typeface="Inter"/>
                          <a:cs typeface="Inter"/>
                        </a:rPr>
                        <a:t>`circuit.measure`</a:t>
                      </a:r>
                    </a:p>
                  </a:txBody>
                  <a:tcPr marL="95250" marR="95250" marT="47625" marB="47625" anchor="ctr">
                    <a:lnL w="9525">
                      <a:solidFill>
                        <a:srgbClr val="354861"/>
                      </a:solidFill>
                      <a:prstDash val="solid"/>
                    </a:lnL>
                    <a:lnR w="9525">
                      <a:solidFill>
                        <a:srgbClr val="354861"/>
                      </a:solidFill>
                      <a:prstDash val="solid"/>
                    </a:lnR>
                    <a:lnB w="9525">
                      <a:solidFill>
                        <a:srgbClr val="354861"/>
                      </a:solidFill>
                      <a:prstDash val="solid"/>
                    </a:lnB>
                    <a:solidFill>
                      <a:srgbClr val="13243D"/>
                    </a:solidFill>
                  </a:tcPr>
                </a:tc>
                <a:tc>
                  <a:txBody>
                    <a:bodyPr/>
                    <a:lstStyle/>
                    <a:p>
                      <a:pPr algn="l"/>
                      <a:r>
                        <a:rPr sz="1200">
                          <a:solidFill>
                            <a:srgbClr val="F4F7FB"/>
                          </a:solidFill>
                          <a:latin typeface="Inter"/>
                          <a:ea typeface="Inter"/>
                          <a:cs typeface="Inter"/>
                        </a:rPr>
                        <a:t>Measure all 23 qubits into classical memory.</a:t>
                      </a:r>
                    </a:p>
                  </a:txBody>
                  <a:tcPr marL="95250" marR="95250" marT="47625" marB="47625" anchor="ctr">
                    <a:lnR w="9525">
                      <a:solidFill>
                        <a:srgbClr val="354861"/>
                      </a:solidFill>
                      <a:prstDash val="solid"/>
                    </a:lnR>
                    <a:lnB w="9525">
                      <a:solidFill>
                        <a:srgbClr val="354861"/>
                      </a:solidFill>
                      <a:prstDash val="solid"/>
                    </a:lnB>
                    <a:solidFill>
                      <a:srgbClr val="13243D"/>
                    </a:solidFill>
                  </a:tcPr>
                </a:tc>
                <a:tc>
                  <a:txBody>
                    <a:bodyPr/>
                    <a:lstStyle/>
                    <a:p>
                      <a:pPr algn="l"/>
                      <a:r>
                        <a:rPr sz="1200">
                          <a:solidFill>
                            <a:srgbClr val="F4F7FB"/>
                          </a:solidFill>
                          <a:latin typeface="Inter"/>
                          <a:ea typeface="Inter"/>
                          <a:cs typeface="Inter"/>
                        </a:rPr>
                        <a:t>One diagnostic bit string.</a:t>
                      </a:r>
                    </a:p>
                  </a:txBody>
                  <a:tcPr marL="95250" marR="95250" marT="47625" marB="47625" anchor="ctr">
                    <a:lnR w="9525">
                      <a:solidFill>
                        <a:srgbClr val="354861"/>
                      </a:solidFill>
                      <a:prstDash val="solid"/>
                    </a:lnR>
                    <a:lnB w="9525">
                      <a:solidFill>
                        <a:srgbClr val="354861"/>
                      </a:solidFill>
                      <a:prstDash val="solid"/>
                    </a:lnB>
                    <a:solidFill>
                      <a:srgbClr val="13243D"/>
                    </a:solidFill>
                  </a:tcPr>
                </a:tc>
                <a:tc>
                  <a:txBody>
                    <a:bodyPr/>
                    <a:lstStyle/>
                    <a:p>
                      <a:pPr algn="l"/>
                      <a:r>
                        <a:rPr sz="1200">
                          <a:solidFill>
                            <a:srgbClr val="F4F7FB"/>
                          </a:solidFill>
                          <a:latin typeface="Inter"/>
                          <a:ea typeface="Inter"/>
                          <a:cs typeface="Inter"/>
                        </a:rPr>
                        <a:t>Expose the circuit state to Python.</a:t>
                      </a:r>
                    </a:p>
                  </a:txBody>
                  <a:tcPr marL="95250" marR="95250" marT="47625" marB="47625" anchor="ctr">
                    <a:lnR w="9525">
                      <a:solidFill>
                        <a:srgbClr val="354861"/>
                      </a:solidFill>
                      <a:prstDash val="solid"/>
                    </a:lnR>
                    <a:lnB w="9525">
                      <a:solidFill>
                        <a:srgbClr val="354861"/>
                      </a:solidFill>
                      <a:prstDash val="solid"/>
                    </a:lnB>
                    <a:solidFill>
                      <a:srgbClr val="13243D"/>
                    </a:solidFill>
                  </a:tcPr>
                </a:tc>
              </a:tr>
            </a:tbl>
          </a:graphicData>
        </a:graphic>
      </p:graphicFrame>
    </p:spTree>
    <p:extLst>
      <p:ext uri="{BB962C8B-B14F-4D97-AF65-F5344CB8AC3E}">
        <p14:creationId xmlns:p14="http://schemas.microsoft.com/office/powerpoint/2010/main" val="851476645"/>
      </p:ext>
    </p:extLst>
  </p:cSld>
</p:sld>
</file>

<file path=ppt/slides/slide7.xml><?xml version="1.0" encoding="utf-8"?>
<p:sld xmlns:p="http://schemas.openxmlformats.org/presentationml/2006/main">
  <p:cSld>
    <p:bg>
      <p:bgPr>
        <a:solidFill xmlns:a="http://schemas.openxmlformats.org/drawingml/2006/main">
          <a:srgbClr val="0B142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B0DE5C7-326D-4320-B44D-61D7FB219B2C}"/>
              </a:ext>
            </a:extLst>
          </p:cNvPr>
          <p:cNvSpPr>
            <a:spLocks xmlns:a="http://schemas.openxmlformats.org/drawingml/2006/main" noGrp="1"/>
          </p:cNvSpPr>
          <p:nvPr/>
        </p:nvSpPr>
        <p:spPr>
          <a:xfrm xmlns:a="http://schemas.openxmlformats.org/drawingml/2006/main">
            <a:off x="685800" y="4000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75" b="1" i="0">
                <a:solidFill>
                  <a:srgbClr val="F4F7FB"/>
                </a:solidFill>
                <a:latin typeface="Inter"/>
                <a:ea typeface="Inter"/>
                <a:cs typeface="Inter"/>
              </a:defRPr>
            </a:defPPr>
          </a:lstStyle>
          <a:p xmlns:a="http://schemas.openxmlformats.org/drawingml/2006/main">
            <a:pPr algn="l">
              <a:lnSpc>
                <a:spcPct val="108000"/>
              </a:lnSpc>
              <a:buNone/>
              <a:defRPr sz="2775" b="1" i="0">
                <a:solidFill>
                  <a:srgbClr val="F4F7FB"/>
                </a:solidFill>
                <a:latin typeface="Inter"/>
                <a:ea typeface="Inter"/>
                <a:cs typeface="Inter"/>
              </a:defRPr>
            </a:pPr>
            <a:r>
              <a:rPr sz="2775" b="1" i="0">
                <a:solidFill>
                  <a:srgbClr val="F4F7FB"/>
                </a:solidFill>
                <a:latin typeface="Inter"/>
                <a:ea typeface="Inter"/>
                <a:cs typeface="Inter"/>
              </a:rPr>
              <a:t>Follow the actual circuit from coordinate to status</a:t>
            </a:r>
          </a:p>
        </p:txBody>
      </p:sp>
      <p:sp>
        <p:nvSpPr>
          <p:cNvPr id="2" name="">
            <a:extLst xmlns:a="http://schemas.openxmlformats.org/drawingml/2006/main">
              <a:ext uri="{FF2B5EF4-FFF2-40B4-BE49-F238E27FC236}">
                <a16:creationId xmlns:a16="http://schemas.microsoft.com/office/drawing/2014/main" id="{4B520FFB-A7D1-4BAF-B101-E06694ECFE3F}"/>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62D6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B670490-4860-4EE7-8C74-7D4ED7A9E74C}"/>
              </a:ext>
            </a:extLst>
          </p:cNvPr>
          <p:cNvSpPr>
            <a:spLocks xmlns:a="http://schemas.openxmlformats.org/drawingml/2006/main" noGrp="1"/>
          </p:cNvSpPr>
          <p:nvPr/>
        </p:nvSpPr>
        <p:spPr>
          <a:xfrm xmlns:a="http://schemas.openxmlformats.org/drawingml/2006/main">
            <a:off x="704850" y="1162050"/>
            <a:ext cx="1078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B8C6D9"/>
                </a:solidFill>
                <a:latin typeface="Inter"/>
                <a:ea typeface="Inter"/>
                <a:cs typeface="Inter"/>
              </a:defRPr>
            </a:defPPr>
          </a:lstStyle>
          <a:p xmlns:a="http://schemas.openxmlformats.org/drawingml/2006/main">
            <a:pPr algn="l">
              <a:lnSpc>
                <a:spcPct val="108000"/>
              </a:lnSpc>
              <a:buNone/>
              <a:defRPr sz="1275" b="0" i="0">
                <a:solidFill>
                  <a:srgbClr val="B8C6D9"/>
                </a:solidFill>
                <a:latin typeface="Inter"/>
                <a:ea typeface="Inter"/>
                <a:cs typeface="Inter"/>
              </a:defRPr>
            </a:pPr>
            <a:r>
              <a:rPr sz="1275" b="0" i="0">
                <a:solidFill>
                  <a:srgbClr val="B8C6D9"/>
                </a:solidFill>
                <a:latin typeface="Inter"/>
                <a:ea typeface="Inter"/>
                <a:cs typeface="Inter"/>
              </a:rPr>
              <a:t>The saved Qiskit drawing is the 2×2 example used in the trace</a:t>
            </a:r>
          </a:p>
        </p:txBody>
      </p:sp>
      <p:pic>
        <p:nvPicPr>
          <p:cNvPr id="4" name="">
            <a:extLst xmlns:a="http://schemas.openxmlformats.org/drawingml/2006/main">
              <a:ext uri="{FF2B5EF4-FFF2-40B4-BE49-F238E27FC236}">
                <a16:creationId xmlns:a16="http://schemas.microsoft.com/office/drawing/2014/main" id="{71277D27-71F1-46E9-964B-859CA4EE94E3}"/>
              </a:ext>
            </a:extLst>
          </p:cNvPr>
          <p:cNvPicPr>
            <a:picLocks xmlns:a="http://schemas.openxmlformats.org/drawingml/2006/main" noChangeAspect="1"/>
          </p:cNvPicPr>
          <p:nvPr/>
        </p:nvPicPr>
        <p:blipFill>
          <a:blip xmlns:r="http://schemas.openxmlformats.org/officeDocument/2006/relationships" xmlns:a="http://schemas.openxmlformats.org/drawingml/2006/main" r:embed="R576b84c7e1ad4fdb"/>
          <a:srcRect xmlns:a="http://schemas.openxmlformats.org/drawingml/2006/main" l="0" t="0" r="0" b="50000"/>
          <a:stretch xmlns:a="http://schemas.openxmlformats.org/drawingml/2006/main"/>
        </p:blipFill>
        <p:spPr>
          <a:xfrm xmlns:a="http://schemas.openxmlformats.org/drawingml/2006/main">
            <a:off x="4895850" y="1562100"/>
            <a:ext cx="6572250" cy="457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D047D0B-5B9F-4C34-B679-27ED48329866}"/>
              </a:ext>
            </a:extLst>
          </p:cNvPr>
          <p:cNvSpPr>
            <a:spLocks xmlns:a="http://schemas.openxmlformats.org/drawingml/2006/main" noGrp="1"/>
          </p:cNvSpPr>
          <p:nvPr/>
        </p:nvSpPr>
        <p:spPr>
          <a:xfrm xmlns:a="http://schemas.openxmlformats.org/drawingml/2006/main">
            <a:off x="762000" y="1647825"/>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62D6C7"/>
                </a:solidFill>
                <a:latin typeface="Inter"/>
                <a:ea typeface="Inter"/>
                <a:cs typeface="Inter"/>
              </a:defRPr>
            </a:defPPr>
          </a:lstStyle>
          <a:p xmlns:a="http://schemas.openxmlformats.org/drawingml/2006/main">
            <a:pPr algn="l">
              <a:lnSpc>
                <a:spcPct val="108000"/>
              </a:lnSpc>
              <a:buNone/>
              <a:defRPr sz="1275" b="1" i="0">
                <a:solidFill>
                  <a:srgbClr val="62D6C7"/>
                </a:solidFill>
                <a:latin typeface="Inter"/>
                <a:ea typeface="Inter"/>
                <a:cs typeface="Inter"/>
              </a:defRPr>
            </a:pPr>
            <a:r>
              <a:rPr sz="1275" b="1" i="0">
                <a:solidFill>
                  <a:srgbClr val="62D6C7"/>
                </a:solidFill>
                <a:latin typeface="Inter"/>
                <a:ea typeface="Inter"/>
                <a:cs typeface="Inter"/>
              </a:rPr>
              <a:t>READ THE GATE CHAIN</a:t>
            </a:r>
          </a:p>
        </p:txBody>
      </p:sp>
      <p:sp>
        <p:nvSpPr>
          <p:cNvPr id="6" name="">
            <a:extLst xmlns:a="http://schemas.openxmlformats.org/drawingml/2006/main">
              <a:ext uri="{FF2B5EF4-FFF2-40B4-BE49-F238E27FC236}">
                <a16:creationId xmlns:a16="http://schemas.microsoft.com/office/drawing/2014/main" id="{027ABCD6-F367-4F3B-8941-E055718F7D0A}"/>
              </a:ext>
            </a:extLst>
          </p:cNvPr>
          <p:cNvSpPr>
            <a:spLocks xmlns:a="http://schemas.openxmlformats.org/drawingml/2006/main" noGrp="1"/>
          </p:cNvSpPr>
          <p:nvPr/>
        </p:nvSpPr>
        <p:spPr>
          <a:xfrm xmlns:a="http://schemas.openxmlformats.org/drawingml/2006/main">
            <a:off x="762000" y="2076450"/>
            <a:ext cx="3857625" cy="3714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500">
                <a:solidFill>
                  <a:srgbClr val="F4F7FB"/>
                </a:solidFill>
                <a:latin typeface="Inter"/>
                <a:ea typeface="Inter"/>
                <a:cs typeface="Inter"/>
              </a:defRPr>
            </a:defPPr>
          </a:lstStyle>
          <a:p xmlns:a="http://schemas.openxmlformats.org/drawingml/2006/main">
            <a:pPr marL="241300" indent="-127000">
              <a:lnSpc>
                <a:spcPct val="105000"/>
              </a:lnSpc>
              <a:spcAft>
                <a:spcPts val="900"/>
              </a:spcAft>
              <a:buNone/>
              <a:defRPr sz="1500">
                <a:solidFill>
                  <a:srgbClr val="F4F7FB"/>
                </a:solidFill>
                <a:latin typeface="Inter"/>
                <a:ea typeface="Inter"/>
                <a:cs typeface="Inter"/>
              </a:defRPr>
            </a:pPr>
            <a:r>
              <a:rPr sz="1500">
                <a:solidFill>
                  <a:srgbClr val="F4F7FB"/>
                </a:solidFill>
                <a:latin typeface="Inter"/>
                <a:ea typeface="Inter"/>
                <a:cs typeface="Inter"/>
              </a:rPr>
              <a:t>X on tgt₀ flips 0 to 1, giving target 0001.</a:t>
            </a:r>
          </a:p>
          <a:p xmlns:a="http://schemas.openxmlformats.org/drawingml/2006/main">
            <a:pPr marL="241300" indent="-127000">
              <a:lnSpc>
                <a:spcPct val="105000"/>
              </a:lnSpc>
              <a:spcAft>
                <a:spcPts val="900"/>
              </a:spcAft>
              <a:buNone/>
              <a:defRPr sz="1500">
                <a:solidFill>
                  <a:srgbClr val="F4F7FB"/>
                </a:solidFill>
                <a:latin typeface="Inter"/>
                <a:ea typeface="Inter"/>
                <a:cs typeface="Inter"/>
              </a:defRPr>
            </a:pPr>
            <a:r>
              <a:rPr sz="1500">
                <a:solidFill>
                  <a:srgbClr val="F4F7FB"/>
                </a:solidFill>
                <a:latin typeface="Inter"/>
                <a:ea typeface="Inter"/>
                <a:cs typeface="Inter"/>
              </a:rPr>
              <a:t>For the source, X temporarily maps control zeros to ones; MCX writes the matching status bit, then X restores the coordinate.</a:t>
            </a:r>
          </a:p>
          <a:p xmlns:a="http://schemas.openxmlformats.org/drawingml/2006/main">
            <a:pPr marL="241300" indent="-127000">
              <a:lnSpc>
                <a:spcPct val="105000"/>
              </a:lnSpc>
              <a:spcAft>
                <a:spcPts val="900"/>
              </a:spcAft>
              <a:buNone/>
              <a:defRPr sz="1500">
                <a:solidFill>
                  <a:srgbClr val="F4F7FB"/>
                </a:solidFill>
                <a:latin typeface="Inter"/>
                <a:ea typeface="Inter"/>
                <a:cs typeface="Inter"/>
              </a:defRPr>
            </a:pPr>
            <a:r>
              <a:rPr sz="1500">
                <a:solidFill>
                  <a:srgbClr val="F4F7FB"/>
                </a:solidFill>
                <a:latin typeface="Inter"/>
                <a:ea typeface="Inter"/>
                <a:cs typeface="Inter"/>
              </a:rPr>
              <a:t>The source lookup produces src=001. The empty target matches no occupied square, so dst stays 000.</a:t>
            </a:r>
          </a:p>
          <a:p xmlns:a="http://schemas.openxmlformats.org/drawingml/2006/main">
            <a:pPr marL="241300" indent="-127000">
              <a:lnSpc>
                <a:spcPct val="105000"/>
              </a:lnSpc>
              <a:spcAft>
                <a:spcPts val="900"/>
              </a:spcAft>
              <a:buNone/>
              <a:defRPr sz="1500">
                <a:solidFill>
                  <a:srgbClr val="F4F7FB"/>
                </a:solidFill>
                <a:latin typeface="Inter"/>
                <a:ea typeface="Inter"/>
                <a:cs typeface="Inter"/>
              </a:defRPr>
            </a:pPr>
            <a:r>
              <a:rPr sz="1500">
                <a:solidFill>
                  <a:srgbClr val="F4F7FB"/>
                </a:solidFill>
                <a:latin typeface="Inter"/>
                <a:ea typeface="Inter"/>
                <a:cs typeface="Inter"/>
              </a:rPr>
              <a:t>CX and CCX build comparison conditions; MCX acts only when every control is 1.</a:t>
            </a:r>
          </a:p>
        </p:txBody>
      </p:sp>
      <p:sp>
        <p:nvSpPr>
          <p:cNvPr id="7" name="">
            <a:extLst xmlns:a="http://schemas.openxmlformats.org/drawingml/2006/main">
              <a:ext uri="{FF2B5EF4-FFF2-40B4-BE49-F238E27FC236}">
                <a16:creationId xmlns:a16="http://schemas.microsoft.com/office/drawing/2014/main" id="{95C937D4-17B0-45EA-99C1-4C09E80C02D5}"/>
              </a:ext>
            </a:extLst>
          </p:cNvPr>
          <p:cNvSpPr>
            <a:spLocks xmlns:a="http://schemas.openxmlformats.org/drawingml/2006/main" noGrp="1"/>
          </p:cNvSpPr>
          <p:nvPr/>
        </p:nvSpPr>
        <p:spPr>
          <a:xfrm xmlns:a="http://schemas.openxmlformats.org/drawingml/2006/main">
            <a:off x="781050" y="5676900"/>
            <a:ext cx="38481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F2C66D"/>
                </a:solidFill>
                <a:latin typeface="Inter"/>
                <a:ea typeface="Inter"/>
                <a:cs typeface="Inter"/>
              </a:defRPr>
            </a:defPPr>
          </a:lstStyle>
          <a:p xmlns:a="http://schemas.openxmlformats.org/drawingml/2006/main">
            <a:pPr algn="l">
              <a:lnSpc>
                <a:spcPct val="108000"/>
              </a:lnSpc>
              <a:buNone/>
              <a:defRPr sz="1200" b="0" i="0">
                <a:solidFill>
                  <a:srgbClr val="F2C66D"/>
                </a:solidFill>
                <a:latin typeface="Inter"/>
                <a:ea typeface="Inter"/>
                <a:cs typeface="Inter"/>
              </a:defRPr>
            </a:pPr>
            <a:r>
              <a:rPr sz="1200" b="0" i="0">
                <a:solidFill>
                  <a:srgbClr val="F2C66D"/>
                </a:solidFill>
                <a:latin typeface="Inter"/>
                <a:ea typeface="Inter"/>
                <a:cs typeface="Inter"/>
              </a:rPr>
              <a:t>Gate groups: ops 1–9 source lookup · 10–18 target lookup · 19–37 direction · 38–52 status attempt</a:t>
            </a:r>
          </a:p>
        </p:txBody>
      </p:sp>
    </p:spTree>
    <p:extLst>
      <p:ext uri="{BB962C8B-B14F-4D97-AF65-F5344CB8AC3E}">
        <p14:creationId xmlns:p14="http://schemas.microsoft.com/office/powerpoint/2010/main" val="214756895"/>
      </p:ext>
    </p:extLst>
  </p:cSld>
</p:sld>
</file>

<file path=ppt/slides/slide8.xml><?xml version="1.0" encoding="utf-8"?>
<p:sld xmlns:p="http://schemas.openxmlformats.org/presentationml/2006/main">
  <p:cSld>
    <p:bg>
      <p:bgPr>
        <a:solidFill xmlns:a="http://schemas.openxmlformats.org/drawingml/2006/main">
          <a:srgbClr val="0B142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11FBA7A-D6DA-4C58-97B1-8B23C3A80965}"/>
              </a:ext>
            </a:extLst>
          </p:cNvPr>
          <p:cNvSpPr>
            <a:spLocks xmlns:a="http://schemas.openxmlformats.org/drawingml/2006/main" noGrp="1"/>
          </p:cNvSpPr>
          <p:nvPr/>
        </p:nvSpPr>
        <p:spPr>
          <a:xfrm xmlns:a="http://schemas.openxmlformats.org/drawingml/2006/main">
            <a:off x="685800" y="4000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75" b="1" i="0">
                <a:solidFill>
                  <a:srgbClr val="F4F7FB"/>
                </a:solidFill>
                <a:latin typeface="Inter"/>
                <a:ea typeface="Inter"/>
                <a:cs typeface="Inter"/>
              </a:defRPr>
            </a:defPPr>
          </a:lstStyle>
          <a:p xmlns:a="http://schemas.openxmlformats.org/drawingml/2006/main">
            <a:pPr algn="l">
              <a:lnSpc>
                <a:spcPct val="108000"/>
              </a:lnSpc>
              <a:buNone/>
              <a:defRPr sz="2775" b="1" i="0">
                <a:solidFill>
                  <a:srgbClr val="F4F7FB"/>
                </a:solidFill>
                <a:latin typeface="Inter"/>
                <a:ea typeface="Inter"/>
                <a:cs typeface="Inter"/>
              </a:defRPr>
            </a:pPr>
            <a:r>
              <a:rPr sz="2775" b="1" i="0">
                <a:solidFill>
                  <a:srgbClr val="F4F7FB"/>
                </a:solidFill>
                <a:latin typeface="Inter"/>
                <a:ea typeface="Inter"/>
                <a:cs typeface="Inter"/>
              </a:rPr>
              <a:t>The measured output exposes an unfinished direction check</a:t>
            </a:r>
          </a:p>
        </p:txBody>
      </p:sp>
      <p:sp>
        <p:nvSpPr>
          <p:cNvPr id="2" name="">
            <a:extLst xmlns:a="http://schemas.openxmlformats.org/drawingml/2006/main">
              <a:ext uri="{FF2B5EF4-FFF2-40B4-BE49-F238E27FC236}">
                <a16:creationId xmlns:a16="http://schemas.microsoft.com/office/drawing/2014/main" id="{1E0D14ED-C1DA-4CE4-891E-FBF73E0F2321}"/>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62D6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A53474E-F332-4552-B850-0D8D6EDC35D8}"/>
              </a:ext>
            </a:extLst>
          </p:cNvPr>
          <p:cNvSpPr>
            <a:spLocks xmlns:a="http://schemas.openxmlformats.org/drawingml/2006/main" noGrp="1"/>
          </p:cNvSpPr>
          <p:nvPr/>
        </p:nvSpPr>
        <p:spPr>
          <a:xfrm xmlns:a="http://schemas.openxmlformats.org/drawingml/2006/main">
            <a:off x="704850" y="1162050"/>
            <a:ext cx="1078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B8C6D9"/>
                </a:solidFill>
                <a:latin typeface="Inter"/>
                <a:ea typeface="Inter"/>
                <a:cs typeface="Inter"/>
              </a:defRPr>
            </a:defPPr>
          </a:lstStyle>
          <a:p xmlns:a="http://schemas.openxmlformats.org/drawingml/2006/main">
            <a:pPr algn="l">
              <a:lnSpc>
                <a:spcPct val="108000"/>
              </a:lnSpc>
              <a:buNone/>
              <a:defRPr sz="1275" b="0" i="0">
                <a:solidFill>
                  <a:srgbClr val="B8C6D9"/>
                </a:solidFill>
                <a:latin typeface="Inter"/>
                <a:ea typeface="Inter"/>
                <a:cs typeface="Inter"/>
              </a:defRPr>
            </a:pPr>
            <a:r>
              <a:rPr sz="1275" b="0" i="0">
                <a:solidFill>
                  <a:srgbClr val="B8C6D9"/>
                </a:solidFill>
                <a:latin typeface="Inter"/>
                <a:ea typeface="Inter"/>
                <a:cs typeface="Inter"/>
              </a:rPr>
              <a:t>This is the circuit’s actual diagnostic result for the supplied move</a:t>
            </a:r>
          </a:p>
        </p:txBody>
      </p:sp>
      <p:sp>
        <p:nvSpPr>
          <p:cNvPr id="4" name="">
            <a:extLst xmlns:a="http://schemas.openxmlformats.org/drawingml/2006/main">
              <a:ext uri="{FF2B5EF4-FFF2-40B4-BE49-F238E27FC236}">
                <a16:creationId xmlns:a16="http://schemas.microsoft.com/office/drawing/2014/main" id="{B1899526-CA35-49D2-A409-5A428D8B7400}"/>
              </a:ext>
            </a:extLst>
          </p:cNvPr>
          <p:cNvSpPr>
            <a:spLocks xmlns:a="http://schemas.openxmlformats.org/drawingml/2006/main" noGrp="1"/>
          </p:cNvSpPr>
          <p:nvPr/>
        </p:nvSpPr>
        <p:spPr>
          <a:xfrm xmlns:a="http://schemas.openxmlformats.org/drawingml/2006/main">
            <a:off x="895350" y="18478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62D6C7"/>
                </a:solidFill>
                <a:latin typeface="JetBrains Mono"/>
                <a:ea typeface="JetBrains Mono"/>
                <a:cs typeface="JetBrains Mono"/>
              </a:defRPr>
            </a:defPPr>
          </a:lstStyle>
          <a:p xmlns:a="http://schemas.openxmlformats.org/drawingml/2006/main">
            <a:pPr algn="l">
              <a:lnSpc>
                <a:spcPct val="108000"/>
              </a:lnSpc>
              <a:buNone/>
              <a:defRPr sz="1500" b="0" i="0">
                <a:solidFill>
                  <a:srgbClr val="62D6C7"/>
                </a:solidFill>
                <a:latin typeface="JetBrains Mono"/>
                <a:ea typeface="JetBrains Mono"/>
                <a:cs typeface="JetBrains Mono"/>
              </a:defRPr>
            </a:pPr>
            <a:r>
              <a:rPr sz="1500" b="0" i="0">
                <a:solidFill>
                  <a:srgbClr val="62D6C7"/>
                </a:solidFill>
                <a:latin typeface="JetBrains Mono"/>
                <a:ea typeface="JetBrains Mono"/>
                <a:cs typeface="JetBrains Mono"/>
              </a:rPr>
              <a:t>anc       dst    src    dir      tgt      cur</a:t>
            </a:r>
          </a:p>
        </p:txBody>
      </p:sp>
      <p:sp>
        <p:nvSpPr>
          <p:cNvPr id="5" name="">
            <a:extLst xmlns:a="http://schemas.openxmlformats.org/drawingml/2006/main">
              <a:ext uri="{FF2B5EF4-FFF2-40B4-BE49-F238E27FC236}">
                <a16:creationId xmlns:a16="http://schemas.microsoft.com/office/drawing/2014/main" id="{743FA033-C817-4535-BBF1-209E6867A4F4}"/>
              </a:ext>
            </a:extLst>
          </p:cNvPr>
          <p:cNvSpPr>
            <a:spLocks xmlns:a="http://schemas.openxmlformats.org/drawingml/2006/main" noGrp="1"/>
          </p:cNvSpPr>
          <p:nvPr/>
        </p:nvSpPr>
        <p:spPr>
          <a:xfrm xmlns:a="http://schemas.openxmlformats.org/drawingml/2006/main">
            <a:off x="895350" y="223837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i="0">
                <a:solidFill>
                  <a:srgbClr val="F4F7FB"/>
                </a:solidFill>
                <a:latin typeface="JetBrains Mono"/>
                <a:ea typeface="JetBrains Mono"/>
                <a:cs typeface="JetBrains Mono"/>
              </a:defRPr>
            </a:defPPr>
          </a:lstStyle>
          <a:p xmlns:a="http://schemas.openxmlformats.org/drawingml/2006/main">
            <a:pPr algn="l">
              <a:lnSpc>
                <a:spcPct val="108000"/>
              </a:lnSpc>
              <a:buNone/>
              <a:defRPr sz="2550" b="1" i="0">
                <a:solidFill>
                  <a:srgbClr val="F4F7FB"/>
                </a:solidFill>
                <a:latin typeface="JetBrains Mono"/>
                <a:ea typeface="JetBrains Mono"/>
                <a:cs typeface="JetBrains Mono"/>
              </a:defRPr>
            </a:pPr>
            <a:r>
              <a:rPr sz="2550" b="1" i="0">
                <a:solidFill>
                  <a:srgbClr val="F4F7FB"/>
                </a:solidFill>
                <a:latin typeface="JetBrains Mono"/>
                <a:ea typeface="JetBrains Mono"/>
                <a:cs typeface="JetBrains Mono"/>
              </a:rPr>
              <a:t>00000   000   001   0000   0001   0000</a:t>
            </a:r>
          </a:p>
        </p:txBody>
      </p:sp>
      <p:sp>
        <p:nvSpPr>
          <p:cNvPr id="6" name="">
            <a:extLst xmlns:a="http://schemas.openxmlformats.org/drawingml/2006/main">
              <a:ext uri="{FF2B5EF4-FFF2-40B4-BE49-F238E27FC236}">
                <a16:creationId xmlns:a16="http://schemas.microsoft.com/office/drawing/2014/main" id="{05E70265-B6E1-4476-A004-70E1BA036E46}"/>
              </a:ext>
            </a:extLst>
          </p:cNvPr>
          <p:cNvSpPr>
            <a:spLocks xmlns:a="http://schemas.openxmlformats.org/drawingml/2006/main" noGrp="1"/>
          </p:cNvSpPr>
          <p:nvPr/>
        </p:nvSpPr>
        <p:spPr>
          <a:xfrm xmlns:a="http://schemas.openxmlformats.org/drawingml/2006/main">
            <a:off x="895350" y="3076575"/>
            <a:ext cx="19050" cy="2143125"/>
          </a:xfrm>
          <a:prstGeom xmlns:a="http://schemas.openxmlformats.org/drawingml/2006/main" prst="rect">
            <a:avLst/>
          </a:prstGeom>
          <a:solidFill xmlns:a="http://schemas.openxmlformats.org/drawingml/2006/main">
            <a:srgbClr val="FF827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4D4BFDF-8066-47B5-83E7-BE61039DDAB0}"/>
              </a:ext>
            </a:extLst>
          </p:cNvPr>
          <p:cNvSpPr>
            <a:spLocks xmlns:a="http://schemas.openxmlformats.org/drawingml/2006/main" noGrp="1"/>
          </p:cNvSpPr>
          <p:nvPr/>
        </p:nvSpPr>
        <p:spPr>
          <a:xfrm xmlns:a="http://schemas.openxmlformats.org/drawingml/2006/main">
            <a:off x="1181100" y="3086100"/>
            <a:ext cx="9906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725">
                <a:solidFill>
                  <a:srgbClr val="F4F7FB"/>
                </a:solidFill>
                <a:latin typeface="Inter"/>
                <a:ea typeface="Inter"/>
                <a:cs typeface="Inter"/>
              </a:defRPr>
            </a:defPPr>
          </a:lstStyle>
          <a:p xmlns:a="http://schemas.openxmlformats.org/drawingml/2006/main">
            <a:pPr marL="241300" indent="-127000">
              <a:lnSpc>
                <a:spcPct val="105000"/>
              </a:lnSpc>
              <a:spcAft>
                <a:spcPts val="1400"/>
              </a:spcAft>
              <a:buNone/>
              <a:defRPr sz="1725">
                <a:solidFill>
                  <a:srgbClr val="F4F7FB"/>
                </a:solidFill>
                <a:latin typeface="Inter"/>
                <a:ea typeface="Inter"/>
                <a:cs typeface="Inter"/>
              </a:defRPr>
            </a:pPr>
            <a:r>
              <a:rPr sz="1725">
                <a:solidFill>
                  <a:srgbClr val="F4F7FB"/>
                </a:solidFill>
                <a:latin typeface="Inter"/>
                <a:ea typeface="Inter"/>
                <a:cs typeface="Inter"/>
              </a:rPr>
              <a:t>The source lookup succeeds; the destination is empty.</a:t>
            </a:r>
          </a:p>
          <a:p xmlns:a="http://schemas.openxmlformats.org/drawingml/2006/main">
            <a:pPr marL="241300" indent="-127000">
              <a:lnSpc>
                <a:spcPct val="105000"/>
              </a:lnSpc>
              <a:spcAft>
                <a:spcPts val="1400"/>
              </a:spcAft>
              <a:buNone/>
              <a:defRPr sz="1725">
                <a:solidFill>
                  <a:srgbClr val="F4F7FB"/>
                </a:solidFill>
                <a:latin typeface="Inter"/>
                <a:ea typeface="Inter"/>
                <a:cs typeface="Inter"/>
              </a:defRPr>
            </a:pPr>
            <a:r>
              <a:rPr sz="1725">
                <a:solidFill>
                  <a:srgbClr val="F4F7FB"/>
                </a:solidFill>
                <a:latin typeface="Inter"/>
                <a:ea typeface="Inter"/>
                <a:cs typeface="Inter"/>
              </a:rPr>
              <a:t>The direction comparison leaves dir=0000 for this forward move, so the later controlled status gates do not fire.</a:t>
            </a:r>
          </a:p>
          <a:p xmlns:a="http://schemas.openxmlformats.org/drawingml/2006/main">
            <a:pPr marL="241300" indent="-127000">
              <a:lnSpc>
                <a:spcPct val="105000"/>
              </a:lnSpc>
              <a:spcAft>
                <a:spcPts val="1400"/>
              </a:spcAft>
              <a:buNone/>
              <a:defRPr sz="1725">
                <a:solidFill>
                  <a:srgbClr val="F4F7FB"/>
                </a:solidFill>
                <a:latin typeface="Inter"/>
                <a:ea typeface="Inter"/>
                <a:cs typeface="Inter"/>
              </a:defRPr>
            </a:pPr>
            <a:r>
              <a:rPr sz="1725">
                <a:solidFill>
                  <a:srgbClr val="F4F7FB"/>
                </a:solidFill>
                <a:latin typeface="Inter"/>
                <a:ea typeface="Inter"/>
                <a:cs typeface="Inter"/>
              </a:rPr>
              <a:t>The circuit measures registers; the 2×2 Grover-labelled option returns its sole move before it builds a Grover circuit.</a:t>
            </a:r>
          </a:p>
        </p:txBody>
      </p:sp>
      <p:sp>
        <p:nvSpPr>
          <p:cNvPr id="8" name="">
            <a:extLst xmlns:a="http://schemas.openxmlformats.org/drawingml/2006/main">
              <a:ext uri="{FF2B5EF4-FFF2-40B4-BE49-F238E27FC236}">
                <a16:creationId xmlns:a16="http://schemas.microsoft.com/office/drawing/2014/main" id="{30A313CD-C269-4600-9AB6-09C9281008E4}"/>
              </a:ext>
            </a:extLst>
          </p:cNvPr>
          <p:cNvSpPr>
            <a:spLocks xmlns:a="http://schemas.openxmlformats.org/drawingml/2006/main" noGrp="1"/>
          </p:cNvSpPr>
          <p:nvPr/>
        </p:nvSpPr>
        <p:spPr>
          <a:xfrm xmlns:a="http://schemas.openxmlformats.org/drawingml/2006/main">
            <a:off x="895350" y="5676900"/>
            <a:ext cx="1038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i="0">
                <a:solidFill>
                  <a:srgbClr val="F2C66D"/>
                </a:solidFill>
                <a:latin typeface="Inter"/>
                <a:ea typeface="Inter"/>
                <a:cs typeface="Inter"/>
              </a:defRPr>
            </a:defPPr>
          </a:lstStyle>
          <a:p xmlns:a="http://schemas.openxmlformats.org/drawingml/2006/main">
            <a:pPr algn="l">
              <a:lnSpc>
                <a:spcPct val="108000"/>
              </a:lnSpc>
              <a:buNone/>
              <a:defRPr sz="1650" b="1" i="0">
                <a:solidFill>
                  <a:srgbClr val="F2C66D"/>
                </a:solidFill>
                <a:latin typeface="Inter"/>
                <a:ea typeface="Inter"/>
                <a:cs typeface="Inter"/>
              </a:defRPr>
            </a:pPr>
            <a:r>
              <a:rPr sz="1650" b="1" i="0">
                <a:solidFill>
                  <a:srgbClr val="F2C66D"/>
                </a:solidFill>
                <a:latin typeface="Inter"/>
                <a:ea typeface="Inter"/>
                <a:cs typeface="Inter"/>
              </a:rPr>
              <a:t>Interpretation: useful gate-level diagnostic, not a completed quantum board update.</a:t>
            </a:r>
          </a:p>
        </p:txBody>
      </p:sp>
    </p:spTree>
    <p:extLst>
      <p:ext uri="{BB962C8B-B14F-4D97-AF65-F5344CB8AC3E}">
        <p14:creationId xmlns:p14="http://schemas.microsoft.com/office/powerpoint/2010/main" val="47967097"/>
      </p:ext>
    </p:extLst>
  </p:cSld>
</p:sld>
</file>

<file path=ppt/slides/slide9.xml><?xml version="1.0" encoding="utf-8"?>
<p:sld xmlns:p="http://schemas.openxmlformats.org/presentationml/2006/main">
  <p:cSld>
    <p:bg>
      <p:bgPr>
        <a:solidFill xmlns:a="http://schemas.openxmlformats.org/drawingml/2006/main">
          <a:srgbClr val="0B142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A82F20B-DF28-4116-A153-97809706BE43}"/>
              </a:ext>
            </a:extLst>
          </p:cNvPr>
          <p:cNvSpPr>
            <a:spLocks xmlns:a="http://schemas.openxmlformats.org/drawingml/2006/main" noGrp="1"/>
          </p:cNvSpPr>
          <p:nvPr/>
        </p:nvSpPr>
        <p:spPr>
          <a:xfrm xmlns:a="http://schemas.openxmlformats.org/drawingml/2006/main">
            <a:off x="685800" y="4000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75" b="1" i="0">
                <a:solidFill>
                  <a:srgbClr val="F4F7FB"/>
                </a:solidFill>
                <a:latin typeface="Inter"/>
                <a:ea typeface="Inter"/>
                <a:cs typeface="Inter"/>
              </a:defRPr>
            </a:defPPr>
          </a:lstStyle>
          <a:p xmlns:a="http://schemas.openxmlformats.org/drawingml/2006/main">
            <a:pPr algn="l">
              <a:lnSpc>
                <a:spcPct val="108000"/>
              </a:lnSpc>
              <a:buNone/>
              <a:defRPr sz="2775" b="1" i="0">
                <a:solidFill>
                  <a:srgbClr val="F4F7FB"/>
                </a:solidFill>
                <a:latin typeface="Inter"/>
                <a:ea typeface="Inter"/>
                <a:cs typeface="Inter"/>
              </a:defRPr>
            </a:pPr>
            <a:r>
              <a:rPr sz="2775" b="1" i="0">
                <a:solidFill>
                  <a:srgbClr val="F4F7FB"/>
                </a:solidFill>
                <a:latin typeface="Inter"/>
                <a:ea typeface="Inter"/>
                <a:cs typeface="Inter"/>
              </a:rPr>
              <a:t>Grover searches an index after Python ranks the moves</a:t>
            </a:r>
          </a:p>
        </p:txBody>
      </p:sp>
      <p:sp>
        <p:nvSpPr>
          <p:cNvPr id="2" name="">
            <a:extLst xmlns:a="http://schemas.openxmlformats.org/drawingml/2006/main">
              <a:ext uri="{FF2B5EF4-FFF2-40B4-BE49-F238E27FC236}">
                <a16:creationId xmlns:a16="http://schemas.microsoft.com/office/drawing/2014/main" id="{86969276-87A1-4170-B6DE-B75D65727FCF}"/>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62D6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90D5E10-1912-460C-9793-4FB0AB271A66}"/>
              </a:ext>
            </a:extLst>
          </p:cNvPr>
          <p:cNvSpPr>
            <a:spLocks xmlns:a="http://schemas.openxmlformats.org/drawingml/2006/main" noGrp="1"/>
          </p:cNvSpPr>
          <p:nvPr/>
        </p:nvSpPr>
        <p:spPr>
          <a:xfrm xmlns:a="http://schemas.openxmlformats.org/drawingml/2006/main">
            <a:off x="704850" y="1162050"/>
            <a:ext cx="1078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B8C6D9"/>
                </a:solidFill>
                <a:latin typeface="Inter"/>
                <a:ea typeface="Inter"/>
                <a:cs typeface="Inter"/>
              </a:defRPr>
            </a:defPPr>
          </a:lstStyle>
          <a:p xmlns:a="http://schemas.openxmlformats.org/drawingml/2006/main">
            <a:pPr algn="l">
              <a:lnSpc>
                <a:spcPct val="108000"/>
              </a:lnSpc>
              <a:buNone/>
              <a:defRPr sz="1275" b="0" i="0">
                <a:solidFill>
                  <a:srgbClr val="B8C6D9"/>
                </a:solidFill>
                <a:latin typeface="Inter"/>
                <a:ea typeface="Inter"/>
                <a:cs typeface="Inter"/>
              </a:defRPr>
            </a:pPr>
            <a:r>
              <a:rPr sz="1275" b="0" i="0">
                <a:solidFill>
                  <a:srgbClr val="B8C6D9"/>
                </a:solidFill>
                <a:latin typeface="Inter"/>
                <a:ea typeface="Inter"/>
                <a:cs typeface="Inter"/>
              </a:rPr>
              <a:t>The move-index circuit is separate from the 23-qubit coordinate/status circuit</a:t>
            </a:r>
          </a:p>
        </p:txBody>
      </p:sp>
      <p:graphicFrame>
        <p:nvGraphicFramePr>
          <p:cNvPr id="4" name="">
            <a:extLst xmlns:a="http://schemas.openxmlformats.org/drawingml/2006/main">
              <a:ext uri="{FF2B5EF4-FFF2-40B4-BE49-F238E27FC236}">
                <a16:creationId xmlns:a16="http://schemas.microsoft.com/office/drawing/2014/main" id="{0924DBBA-1225-458B-BF8A-59C65FC92A15}"/>
              </a:ext>
            </a:extLst>
          </p:cNvPr>
          <p:cNvGraphicFramePr/>
          <p:nvPr/>
        </p:nvGraphicFramePr>
        <p:xfrm>
          <a:off xmlns:a="http://schemas.openxmlformats.org/drawingml/2006/main" x="695325" y="1609725"/>
          <a:ext xmlns:a="http://schemas.openxmlformats.org/drawingml/2006/main" cx="10801350" cy="3876675"/>
        </p:xfrm>
        <a:graphic xmlns:a="http://schemas.openxmlformats.org/drawingml/2006/main">
          <a:graphicData uri="http://schemas.openxmlformats.org/drawingml/2006/table">
            <a:tbl>
              <a:tblPr/>
              <a:tblGrid>
                <a:gridCol w="1809750"/>
                <a:gridCol w="3381375"/>
                <a:gridCol w="3524250"/>
                <a:gridCol w="2085975"/>
              </a:tblGrid>
              <a:tr h="646113">
                <a:tc>
                  <a:txBody>
                    <a:bodyPr/>
                    <a:lstStyle/>
                    <a:p>
                      <a:pPr algn="l"/>
                      <a:r>
                        <a:rPr sz="1275" b="1">
                          <a:solidFill>
                            <a:srgbClr val="F4F7FB"/>
                          </a:solidFill>
                          <a:latin typeface="Inter"/>
                          <a:ea typeface="Inter"/>
                          <a:cs typeface="Inter"/>
                        </a:rPr>
                        <a:t>Phase</a:t>
                      </a:r>
                    </a:p>
                  </a:txBody>
                  <a:tcPr marL="95250" marR="95250" marT="47625" marB="47625" anchor="ctr">
                    <a:lnL w="9525">
                      <a:solidFill>
                        <a:srgbClr val="354861"/>
                      </a:solidFill>
                      <a:prstDash val="solid"/>
                    </a:lnL>
                    <a:lnR w="9525">
                      <a:solidFill>
                        <a:srgbClr val="354861"/>
                      </a:solidFill>
                      <a:prstDash val="solid"/>
                    </a:lnR>
                    <a:lnT w="9525">
                      <a:solidFill>
                        <a:srgbClr val="354861"/>
                      </a:solidFill>
                      <a:prstDash val="solid"/>
                    </a:lnT>
                    <a:lnB w="9525">
                      <a:solidFill>
                        <a:srgbClr val="354861"/>
                      </a:solidFill>
                      <a:prstDash val="solid"/>
                    </a:lnB>
                    <a:solidFill>
                      <a:srgbClr val="164153"/>
                    </a:solidFill>
                  </a:tcPr>
                </a:tc>
                <a:tc>
                  <a:txBody>
                    <a:bodyPr/>
                    <a:lstStyle/>
                    <a:p>
                      <a:pPr algn="l"/>
                      <a:r>
                        <a:rPr sz="1275" b="1">
                          <a:solidFill>
                            <a:srgbClr val="F4F7FB"/>
                          </a:solidFill>
                          <a:latin typeface="Inter"/>
                          <a:ea typeface="Inter"/>
                          <a:cs typeface="Inter"/>
                        </a:rPr>
                        <a:t>What enters</a:t>
                      </a:r>
                    </a:p>
                  </a:txBody>
                  <a:tcPr marL="95250" marR="95250" marT="47625" marB="47625" anchor="ctr">
                    <a:lnR w="9525">
                      <a:solidFill>
                        <a:srgbClr val="354861"/>
                      </a:solidFill>
                      <a:prstDash val="solid"/>
                    </a:lnR>
                    <a:lnT w="9525">
                      <a:solidFill>
                        <a:srgbClr val="354861"/>
                      </a:solidFill>
                      <a:prstDash val="solid"/>
                    </a:lnT>
                    <a:lnB w="9525">
                      <a:solidFill>
                        <a:srgbClr val="354861"/>
                      </a:solidFill>
                      <a:prstDash val="solid"/>
                    </a:lnB>
                    <a:solidFill>
                      <a:srgbClr val="164153"/>
                    </a:solidFill>
                  </a:tcPr>
                </a:tc>
                <a:tc>
                  <a:txBody>
                    <a:bodyPr/>
                    <a:lstStyle/>
                    <a:p>
                      <a:pPr algn="l"/>
                      <a:r>
                        <a:rPr sz="1275" b="1">
                          <a:solidFill>
                            <a:srgbClr val="F4F7FB"/>
                          </a:solidFill>
                          <a:latin typeface="Inter"/>
                          <a:ea typeface="Inter"/>
                          <a:cs typeface="Inter"/>
                        </a:rPr>
                        <a:t>Gate operation</a:t>
                      </a:r>
                    </a:p>
                  </a:txBody>
                  <a:tcPr marL="95250" marR="95250" marT="47625" marB="47625" anchor="ctr">
                    <a:lnR w="9525">
                      <a:solidFill>
                        <a:srgbClr val="354861"/>
                      </a:solidFill>
                      <a:prstDash val="solid"/>
                    </a:lnR>
                    <a:lnT w="9525">
                      <a:solidFill>
                        <a:srgbClr val="354861"/>
                      </a:solidFill>
                      <a:prstDash val="solid"/>
                    </a:lnT>
                    <a:lnB w="9525">
                      <a:solidFill>
                        <a:srgbClr val="354861"/>
                      </a:solidFill>
                      <a:prstDash val="solid"/>
                    </a:lnB>
                    <a:solidFill>
                      <a:srgbClr val="164153"/>
                    </a:solidFill>
                  </a:tcPr>
                </a:tc>
                <a:tc>
                  <a:txBody>
                    <a:bodyPr/>
                    <a:lstStyle/>
                    <a:p>
                      <a:pPr algn="l"/>
                      <a:r>
                        <a:rPr sz="1275" b="1">
                          <a:solidFill>
                            <a:srgbClr val="F4F7FB"/>
                          </a:solidFill>
                          <a:latin typeface="Inter"/>
                          <a:ea typeface="Inter"/>
                          <a:cs typeface="Inter"/>
                        </a:rPr>
                        <a:t>What comes out</a:t>
                      </a:r>
                    </a:p>
                  </a:txBody>
                  <a:tcPr marL="95250" marR="95250" marT="47625" marB="47625" anchor="ctr">
                    <a:lnR w="9525">
                      <a:solidFill>
                        <a:srgbClr val="354861"/>
                      </a:solidFill>
                      <a:prstDash val="solid"/>
                    </a:lnR>
                    <a:lnT w="9525">
                      <a:solidFill>
                        <a:srgbClr val="354861"/>
                      </a:solidFill>
                      <a:prstDash val="solid"/>
                    </a:lnT>
                    <a:lnB w="9525">
                      <a:solidFill>
                        <a:srgbClr val="354861"/>
                      </a:solidFill>
                      <a:prstDash val="solid"/>
                    </a:lnB>
                    <a:solidFill>
                      <a:srgbClr val="164153"/>
                    </a:solidFill>
                  </a:tcPr>
                </a:tc>
              </a:tr>
              <a:tr h="646113">
                <a:tc>
                  <a:txBody>
                    <a:bodyPr/>
                    <a:lstStyle/>
                    <a:p>
                      <a:pPr algn="l"/>
                      <a:r>
                        <a:rPr sz="1275">
                          <a:solidFill>
                            <a:srgbClr val="F4F7FB"/>
                          </a:solidFill>
                          <a:latin typeface="Inter"/>
                          <a:ea typeface="Inter"/>
                          <a:cs typeface="Inter"/>
                        </a:rPr>
                        <a:t>1 · Prepare list</a:t>
                      </a:r>
                    </a:p>
                  </a:txBody>
                  <a:tcPr marL="95250" marR="95250" marT="47625" marB="47625" anchor="ctr">
                    <a:lnL w="9525">
                      <a:solidFill>
                        <a:srgbClr val="354861"/>
                      </a:solidFill>
                      <a:prstDash val="solid"/>
                    </a:lnL>
                    <a:lnR w="9525">
                      <a:solidFill>
                        <a:srgbClr val="354861"/>
                      </a:solidFill>
                      <a:prstDash val="solid"/>
                    </a:lnR>
                    <a:lnB w="9525">
                      <a:solidFill>
                        <a:srgbClr val="354861"/>
                      </a:solidFill>
                      <a:prstDash val="solid"/>
                    </a:lnB>
                    <a:solidFill>
                      <a:srgbClr val="13243D"/>
                    </a:solidFill>
                  </a:tcPr>
                </a:tc>
                <a:tc>
                  <a:txBody>
                    <a:bodyPr/>
                    <a:lstStyle/>
                    <a:p>
                      <a:pPr algn="l"/>
                      <a:r>
                        <a:rPr sz="1275">
                          <a:solidFill>
                            <a:srgbClr val="F4F7FB"/>
                          </a:solidFill>
                          <a:latin typeface="Inter"/>
                          <a:ea typeface="Inter"/>
                          <a:cs typeface="Inter"/>
                        </a:rPr>
                        <a:t>Legal Move objects from MoveGenerator; scores from HeuristicEvaluator.</a:t>
                      </a:r>
                    </a:p>
                  </a:txBody>
                  <a:tcPr marL="95250" marR="95250" marT="47625" marB="47625" anchor="ctr">
                    <a:lnR w="9525">
                      <a:solidFill>
                        <a:srgbClr val="354861"/>
                      </a:solidFill>
                      <a:prstDash val="solid"/>
                    </a:lnR>
                    <a:lnB w="9525">
                      <a:solidFill>
                        <a:srgbClr val="354861"/>
                      </a:solidFill>
                      <a:prstDash val="solid"/>
                    </a:lnB>
                    <a:solidFill>
                      <a:srgbClr val="13243D"/>
                    </a:solidFill>
                  </a:tcPr>
                </a:tc>
                <a:tc>
                  <a:txBody>
                    <a:bodyPr/>
                    <a:lstStyle/>
                    <a:p>
                      <a:pPr algn="l"/>
                      <a:r>
                        <a:rPr sz="1275">
                          <a:solidFill>
                            <a:srgbClr val="F4F7FB"/>
                          </a:solidFill>
                          <a:latin typeface="Inter"/>
                          <a:ea typeface="Inter"/>
                          <a:cs typeface="Inter"/>
                        </a:rPr>
                        <a:t>Python selects `optimal_indices`.</a:t>
                      </a:r>
                    </a:p>
                  </a:txBody>
                  <a:tcPr marL="95250" marR="95250" marT="47625" marB="47625" anchor="ctr">
                    <a:lnR w="9525">
                      <a:solidFill>
                        <a:srgbClr val="354861"/>
                      </a:solidFill>
                      <a:prstDash val="solid"/>
                    </a:lnR>
                    <a:lnB w="9525">
                      <a:solidFill>
                        <a:srgbClr val="354861"/>
                      </a:solidFill>
                      <a:prstDash val="solid"/>
                    </a:lnB>
                    <a:solidFill>
                      <a:srgbClr val="13243D"/>
                    </a:solidFill>
                  </a:tcPr>
                </a:tc>
                <a:tc>
                  <a:txBody>
                    <a:bodyPr/>
                    <a:lstStyle/>
                    <a:p>
                      <a:pPr algn="l"/>
                      <a:r>
                        <a:rPr sz="1275">
                          <a:solidFill>
                            <a:srgbClr val="F4F7FB"/>
                          </a:solidFill>
                          <a:latin typeface="Inter"/>
                          <a:ea typeface="Inter"/>
                          <a:cs typeface="Inter"/>
                        </a:rPr>
                        <a:t>Candidate list plus marked index set.</a:t>
                      </a:r>
                    </a:p>
                  </a:txBody>
                  <a:tcPr marL="95250" marR="95250" marT="47625" marB="47625" anchor="ctr">
                    <a:lnR w="9525">
                      <a:solidFill>
                        <a:srgbClr val="354861"/>
                      </a:solidFill>
                      <a:prstDash val="solid"/>
                    </a:lnR>
                    <a:lnB w="9525">
                      <a:solidFill>
                        <a:srgbClr val="354861"/>
                      </a:solidFill>
                      <a:prstDash val="solid"/>
                    </a:lnB>
                    <a:solidFill>
                      <a:srgbClr val="13243D"/>
                    </a:solidFill>
                  </a:tcPr>
                </a:tc>
              </a:tr>
              <a:tr h="646113">
                <a:tc>
                  <a:txBody>
                    <a:bodyPr/>
                    <a:lstStyle/>
                    <a:p>
                      <a:pPr algn="l"/>
                      <a:r>
                        <a:rPr sz="1275">
                          <a:solidFill>
                            <a:srgbClr val="F4F7FB"/>
                          </a:solidFill>
                          <a:latin typeface="Inter"/>
                          <a:ea typeface="Inter"/>
                          <a:cs typeface="Inter"/>
                        </a:rPr>
                        <a:t>2 · Encode</a:t>
                      </a:r>
                    </a:p>
                  </a:txBody>
                  <a:tcPr marL="95250" marR="95250" marT="47625" marB="47625" anchor="ctr">
                    <a:lnL w="9525">
                      <a:solidFill>
                        <a:srgbClr val="354861"/>
                      </a:solidFill>
                      <a:prstDash val="solid"/>
                    </a:lnL>
                    <a:lnR w="9525">
                      <a:solidFill>
                        <a:srgbClr val="354861"/>
                      </a:solidFill>
                      <a:prstDash val="solid"/>
                    </a:lnR>
                    <a:lnB w="9525">
                      <a:solidFill>
                        <a:srgbClr val="354861"/>
                      </a:solidFill>
                      <a:prstDash val="solid"/>
                    </a:lnB>
                    <a:solidFill>
                      <a:srgbClr val="0E1B30"/>
                    </a:solidFill>
                  </a:tcPr>
                </a:tc>
                <a:tc>
                  <a:txBody>
                    <a:bodyPr/>
                    <a:lstStyle/>
                    <a:p>
                      <a:pPr algn="l"/>
                      <a:r>
                        <a:rPr sz="1275">
                          <a:solidFill>
                            <a:srgbClr val="F4F7FB"/>
                          </a:solidFill>
                          <a:latin typeface="Inter"/>
                          <a:ea typeface="Inter"/>
                          <a:cs typeface="Inter"/>
                        </a:rPr>
                        <a:t>L candidate moves.</a:t>
                      </a:r>
                    </a:p>
                  </a:txBody>
                  <a:tcPr marL="95250" marR="95250" marT="47625" marB="47625" anchor="ctr">
                    <a:lnR w="9525">
                      <a:solidFill>
                        <a:srgbClr val="354861"/>
                      </a:solidFill>
                      <a:prstDash val="solid"/>
                    </a:lnR>
                    <a:lnB w="9525">
                      <a:solidFill>
                        <a:srgbClr val="354861"/>
                      </a:solidFill>
                      <a:prstDash val="solid"/>
                    </a:lnB>
                    <a:solidFill>
                      <a:srgbClr val="0E1B30"/>
                    </a:solidFill>
                  </a:tcPr>
                </a:tc>
                <a:tc>
                  <a:txBody>
                    <a:bodyPr/>
                    <a:lstStyle/>
                    <a:p>
                      <a:pPr algn="l"/>
                      <a:r>
                        <a:rPr sz="1275">
                          <a:solidFill>
                            <a:srgbClr val="F4F7FB"/>
                          </a:solidFill>
                          <a:latin typeface="Inter"/>
                          <a:ea typeface="Inter"/>
                          <a:cs typeface="Inter"/>
                        </a:rPr>
                        <a:t>n=ceil(log₂ L) index qubits; pad to N=2ⁿ states.</a:t>
                      </a:r>
                    </a:p>
                  </a:txBody>
                  <a:tcPr marL="95250" marR="95250" marT="47625" marB="47625" anchor="ctr">
                    <a:lnR w="9525">
                      <a:solidFill>
                        <a:srgbClr val="354861"/>
                      </a:solidFill>
                      <a:prstDash val="solid"/>
                    </a:lnR>
                    <a:lnB w="9525">
                      <a:solidFill>
                        <a:srgbClr val="354861"/>
                      </a:solidFill>
                      <a:prstDash val="solid"/>
                    </a:lnB>
                    <a:solidFill>
                      <a:srgbClr val="0E1B30"/>
                    </a:solidFill>
                  </a:tcPr>
                </a:tc>
                <a:tc>
                  <a:txBody>
                    <a:bodyPr/>
                    <a:lstStyle/>
                    <a:p>
                      <a:pPr algn="l"/>
                      <a:r>
                        <a:rPr sz="1275">
                          <a:solidFill>
                            <a:srgbClr val="F4F7FB"/>
                          </a:solidFill>
                          <a:latin typeface="Inter"/>
                          <a:ea typeface="Inter"/>
                          <a:cs typeface="Inter"/>
                        </a:rPr>
                        <a:t>Integer basis states refer to list positions.</a:t>
                      </a:r>
                    </a:p>
                  </a:txBody>
                  <a:tcPr marL="95250" marR="95250" marT="47625" marB="47625" anchor="ctr">
                    <a:lnR w="9525">
                      <a:solidFill>
                        <a:srgbClr val="354861"/>
                      </a:solidFill>
                      <a:prstDash val="solid"/>
                    </a:lnR>
                    <a:lnB w="9525">
                      <a:solidFill>
                        <a:srgbClr val="354861"/>
                      </a:solidFill>
                      <a:prstDash val="solid"/>
                    </a:lnB>
                    <a:solidFill>
                      <a:srgbClr val="0E1B30"/>
                    </a:solidFill>
                  </a:tcPr>
                </a:tc>
              </a:tr>
              <a:tr h="646113">
                <a:tc>
                  <a:txBody>
                    <a:bodyPr/>
                    <a:lstStyle/>
                    <a:p>
                      <a:pPr algn="l"/>
                      <a:r>
                        <a:rPr sz="1275">
                          <a:solidFill>
                            <a:srgbClr val="F4F7FB"/>
                          </a:solidFill>
                          <a:latin typeface="Inter"/>
                          <a:ea typeface="Inter"/>
                          <a:cs typeface="Inter"/>
                        </a:rPr>
                        <a:t>3 · Superpose</a:t>
                      </a:r>
                    </a:p>
                  </a:txBody>
                  <a:tcPr marL="95250" marR="95250" marT="47625" marB="47625" anchor="ctr">
                    <a:lnL w="9525">
                      <a:solidFill>
                        <a:srgbClr val="354861"/>
                      </a:solidFill>
                      <a:prstDash val="solid"/>
                    </a:lnL>
                    <a:lnR w="9525">
                      <a:solidFill>
                        <a:srgbClr val="354861"/>
                      </a:solidFill>
                      <a:prstDash val="solid"/>
                    </a:lnR>
                    <a:lnB w="9525">
                      <a:solidFill>
                        <a:srgbClr val="354861"/>
                      </a:solidFill>
                      <a:prstDash val="solid"/>
                    </a:lnB>
                    <a:solidFill>
                      <a:srgbClr val="13243D"/>
                    </a:solidFill>
                  </a:tcPr>
                </a:tc>
                <a:tc>
                  <a:txBody>
                    <a:bodyPr/>
                    <a:lstStyle/>
                    <a:p>
                      <a:pPr algn="l"/>
                      <a:r>
                        <a:rPr sz="1275">
                          <a:solidFill>
                            <a:srgbClr val="F4F7FB"/>
                          </a:solidFill>
                          <a:latin typeface="Inter"/>
                          <a:ea typeface="Inter"/>
                          <a:cs typeface="Inter"/>
                        </a:rPr>
                        <a:t>Index register |0…0⟩; flag |0⟩.</a:t>
                      </a:r>
                    </a:p>
                  </a:txBody>
                  <a:tcPr marL="95250" marR="95250" marT="47625" marB="47625" anchor="ctr">
                    <a:lnR w="9525">
                      <a:solidFill>
                        <a:srgbClr val="354861"/>
                      </a:solidFill>
                      <a:prstDash val="solid"/>
                    </a:lnR>
                    <a:lnB w="9525">
                      <a:solidFill>
                        <a:srgbClr val="354861"/>
                      </a:solidFill>
                      <a:prstDash val="solid"/>
                    </a:lnB>
                    <a:solidFill>
                      <a:srgbClr val="13243D"/>
                    </a:solidFill>
                  </a:tcPr>
                </a:tc>
                <a:tc>
                  <a:txBody>
                    <a:bodyPr/>
                    <a:lstStyle/>
                    <a:p>
                      <a:pPr algn="l"/>
                      <a:r>
                        <a:rPr sz="1275">
                          <a:solidFill>
                            <a:srgbClr val="F4F7FB"/>
                          </a:solidFill>
                          <a:latin typeface="Inter"/>
                          <a:ea typeface="Inter"/>
                          <a:cs typeface="Inter"/>
                        </a:rPr>
                        <a:t>H on each index qubit; X then H on flag makes |−⟩.</a:t>
                      </a:r>
                    </a:p>
                  </a:txBody>
                  <a:tcPr marL="95250" marR="95250" marT="47625" marB="47625" anchor="ctr">
                    <a:lnR w="9525">
                      <a:solidFill>
                        <a:srgbClr val="354861"/>
                      </a:solidFill>
                      <a:prstDash val="solid"/>
                    </a:lnR>
                    <a:lnB w="9525">
                      <a:solidFill>
                        <a:srgbClr val="354861"/>
                      </a:solidFill>
                      <a:prstDash val="solid"/>
                    </a:lnB>
                    <a:solidFill>
                      <a:srgbClr val="13243D"/>
                    </a:solidFill>
                  </a:tcPr>
                </a:tc>
                <a:tc>
                  <a:txBody>
                    <a:bodyPr/>
                    <a:lstStyle/>
                    <a:p>
                      <a:pPr algn="l"/>
                      <a:r>
                        <a:rPr sz="1275">
                          <a:solidFill>
                            <a:srgbClr val="F4F7FB"/>
                          </a:solidFill>
                          <a:latin typeface="Inter"/>
                          <a:ea typeface="Inter"/>
                          <a:cs typeface="Inter"/>
                        </a:rPr>
                        <a:t>Uniform index state and phase-kickback flag.</a:t>
                      </a:r>
                    </a:p>
                  </a:txBody>
                  <a:tcPr marL="95250" marR="95250" marT="47625" marB="47625" anchor="ctr">
                    <a:lnR w="9525">
                      <a:solidFill>
                        <a:srgbClr val="354861"/>
                      </a:solidFill>
                      <a:prstDash val="solid"/>
                    </a:lnR>
                    <a:lnB w="9525">
                      <a:solidFill>
                        <a:srgbClr val="354861"/>
                      </a:solidFill>
                      <a:prstDash val="solid"/>
                    </a:lnB>
                    <a:solidFill>
                      <a:srgbClr val="13243D"/>
                    </a:solidFill>
                  </a:tcPr>
                </a:tc>
              </a:tr>
              <a:tr h="646113">
                <a:tc>
                  <a:txBody>
                    <a:bodyPr/>
                    <a:lstStyle/>
                    <a:p>
                      <a:pPr algn="l"/>
                      <a:r>
                        <a:rPr sz="1275">
                          <a:solidFill>
                            <a:srgbClr val="F4F7FB"/>
                          </a:solidFill>
                          <a:latin typeface="Inter"/>
                          <a:ea typeface="Inter"/>
                          <a:cs typeface="Inter"/>
                        </a:rPr>
                        <a:t>4 · Oracle</a:t>
                      </a:r>
                    </a:p>
                  </a:txBody>
                  <a:tcPr marL="95250" marR="95250" marT="47625" marB="47625" anchor="ctr">
                    <a:lnL w="9525">
                      <a:solidFill>
                        <a:srgbClr val="354861"/>
                      </a:solidFill>
                      <a:prstDash val="solid"/>
                    </a:lnL>
                    <a:lnR w="9525">
                      <a:solidFill>
                        <a:srgbClr val="354861"/>
                      </a:solidFill>
                      <a:prstDash val="solid"/>
                    </a:lnR>
                    <a:lnB w="9525">
                      <a:solidFill>
                        <a:srgbClr val="354861"/>
                      </a:solidFill>
                      <a:prstDash val="solid"/>
                    </a:lnB>
                    <a:solidFill>
                      <a:srgbClr val="0E1B30"/>
                    </a:solidFill>
                  </a:tcPr>
                </a:tc>
                <a:tc>
                  <a:txBody>
                    <a:bodyPr/>
                    <a:lstStyle/>
                    <a:p>
                      <a:pPr algn="l"/>
                      <a:r>
                        <a:rPr sz="1275">
                          <a:solidFill>
                            <a:srgbClr val="F4F7FB"/>
                          </a:solidFill>
                          <a:latin typeface="Inter"/>
                          <a:ea typeface="Inter"/>
                          <a:cs typeface="Inter"/>
                        </a:rPr>
                        <a:t>Index target(s) provided by Python.</a:t>
                      </a:r>
                    </a:p>
                  </a:txBody>
                  <a:tcPr marL="95250" marR="95250" marT="47625" marB="47625" anchor="ctr">
                    <a:lnR w="9525">
                      <a:solidFill>
                        <a:srgbClr val="354861"/>
                      </a:solidFill>
                      <a:prstDash val="solid"/>
                    </a:lnR>
                    <a:lnB w="9525">
                      <a:solidFill>
                        <a:srgbClr val="354861"/>
                      </a:solidFill>
                      <a:prstDash val="solid"/>
                    </a:lnB>
                    <a:solidFill>
                      <a:srgbClr val="0E1B30"/>
                    </a:solidFill>
                  </a:tcPr>
                </a:tc>
                <a:tc>
                  <a:txBody>
                    <a:bodyPr/>
                    <a:lstStyle/>
                    <a:p>
                      <a:pPr algn="l"/>
                      <a:r>
                        <a:rPr sz="1275">
                          <a:solidFill>
                            <a:srgbClr val="F4F7FB"/>
                          </a:solidFill>
                          <a:latin typeface="Inter"/>
                          <a:ea typeface="Inter"/>
                          <a:cs typeface="Inter"/>
                        </a:rPr>
                        <a:t>X zero-bits, MCX on the matching pattern, then undo X.</a:t>
                      </a:r>
                    </a:p>
                  </a:txBody>
                  <a:tcPr marL="95250" marR="95250" marT="47625" marB="47625" anchor="ctr">
                    <a:lnR w="9525">
                      <a:solidFill>
                        <a:srgbClr val="354861"/>
                      </a:solidFill>
                      <a:prstDash val="solid"/>
                    </a:lnR>
                    <a:lnB w="9525">
                      <a:solidFill>
                        <a:srgbClr val="354861"/>
                      </a:solidFill>
                      <a:prstDash val="solid"/>
                    </a:lnB>
                    <a:solidFill>
                      <a:srgbClr val="0E1B30"/>
                    </a:solidFill>
                  </a:tcPr>
                </a:tc>
                <a:tc>
                  <a:txBody>
                    <a:bodyPr/>
                    <a:lstStyle/>
                    <a:p>
                      <a:pPr algn="l"/>
                      <a:r>
                        <a:rPr sz="1275">
                          <a:solidFill>
                            <a:srgbClr val="F4F7FB"/>
                          </a:solidFill>
                          <a:latin typeface="Inter"/>
                          <a:ea typeface="Inter"/>
                          <a:cs typeface="Inter"/>
                        </a:rPr>
                        <a:t>Marked index amplitude changes sign.</a:t>
                      </a:r>
                    </a:p>
                  </a:txBody>
                  <a:tcPr marL="95250" marR="95250" marT="47625" marB="47625" anchor="ctr">
                    <a:lnR w="9525">
                      <a:solidFill>
                        <a:srgbClr val="354861"/>
                      </a:solidFill>
                      <a:prstDash val="solid"/>
                    </a:lnR>
                    <a:lnB w="9525">
                      <a:solidFill>
                        <a:srgbClr val="354861"/>
                      </a:solidFill>
                      <a:prstDash val="solid"/>
                    </a:lnB>
                    <a:solidFill>
                      <a:srgbClr val="0E1B30"/>
                    </a:solidFill>
                  </a:tcPr>
                </a:tc>
              </a:tr>
              <a:tr h="646113">
                <a:tc>
                  <a:txBody>
                    <a:bodyPr/>
                    <a:lstStyle/>
                    <a:p>
                      <a:pPr algn="l"/>
                      <a:r>
                        <a:rPr sz="1275">
                          <a:solidFill>
                            <a:srgbClr val="F4F7FB"/>
                          </a:solidFill>
                          <a:latin typeface="Inter"/>
                          <a:ea typeface="Inter"/>
                          <a:cs typeface="Inter"/>
                        </a:rPr>
                        <a:t>5 · Decode</a:t>
                      </a:r>
                    </a:p>
                  </a:txBody>
                  <a:tcPr marL="95250" marR="95250" marT="47625" marB="47625" anchor="ctr">
                    <a:lnL w="9525">
                      <a:solidFill>
                        <a:srgbClr val="354861"/>
                      </a:solidFill>
                      <a:prstDash val="solid"/>
                    </a:lnL>
                    <a:lnR w="9525">
                      <a:solidFill>
                        <a:srgbClr val="354861"/>
                      </a:solidFill>
                      <a:prstDash val="solid"/>
                    </a:lnR>
                    <a:lnB w="9525">
                      <a:solidFill>
                        <a:srgbClr val="354861"/>
                      </a:solidFill>
                      <a:prstDash val="solid"/>
                    </a:lnB>
                    <a:solidFill>
                      <a:srgbClr val="13243D"/>
                    </a:solidFill>
                  </a:tcPr>
                </a:tc>
                <a:tc>
                  <a:txBody>
                    <a:bodyPr/>
                    <a:lstStyle/>
                    <a:p>
                      <a:pPr algn="l"/>
                      <a:r>
                        <a:rPr sz="1275">
                          <a:solidFill>
                            <a:srgbClr val="F4F7FB"/>
                          </a:solidFill>
                          <a:latin typeface="Inter"/>
                          <a:ea typeface="Inter"/>
                          <a:cs typeface="Inter"/>
                        </a:rPr>
                        <a:t>Measured index bit string.</a:t>
                      </a:r>
                    </a:p>
                  </a:txBody>
                  <a:tcPr marL="95250" marR="95250" marT="47625" marB="47625" anchor="ctr">
                    <a:lnR w="9525">
                      <a:solidFill>
                        <a:srgbClr val="354861"/>
                      </a:solidFill>
                      <a:prstDash val="solid"/>
                    </a:lnR>
                    <a:lnB w="9525">
                      <a:solidFill>
                        <a:srgbClr val="354861"/>
                      </a:solidFill>
                      <a:prstDash val="solid"/>
                    </a:lnB>
                    <a:solidFill>
                      <a:srgbClr val="13243D"/>
                    </a:solidFill>
                  </a:tcPr>
                </a:tc>
                <a:tc>
                  <a:txBody>
                    <a:bodyPr/>
                    <a:lstStyle/>
                    <a:p>
                      <a:pPr algn="l"/>
                      <a:r>
                        <a:rPr sz="1275">
                          <a:solidFill>
                            <a:srgbClr val="F4F7FB"/>
                          </a:solidFill>
                          <a:latin typeface="Inter"/>
                          <a:ea typeface="Inter"/>
                          <a:cs typeface="Inter"/>
                        </a:rPr>
                        <a:t>Aer samples; Python converts bits to integer and validates target.</a:t>
                      </a:r>
                    </a:p>
                  </a:txBody>
                  <a:tcPr marL="95250" marR="95250" marT="47625" marB="47625" anchor="ctr">
                    <a:lnR w="9525">
                      <a:solidFill>
                        <a:srgbClr val="354861"/>
                      </a:solidFill>
                      <a:prstDash val="solid"/>
                    </a:lnR>
                    <a:lnB w="9525">
                      <a:solidFill>
                        <a:srgbClr val="354861"/>
                      </a:solidFill>
                      <a:prstDash val="solid"/>
                    </a:lnB>
                    <a:solidFill>
                      <a:srgbClr val="13243D"/>
                    </a:solidFill>
                  </a:tcPr>
                </a:tc>
                <a:tc>
                  <a:txBody>
                    <a:bodyPr/>
                    <a:lstStyle/>
                    <a:p>
                      <a:pPr algn="l"/>
                      <a:r>
                        <a:rPr sz="1275">
                          <a:solidFill>
                            <a:srgbClr val="F4F7FB"/>
                          </a:solidFill>
                          <a:latin typeface="Inter"/>
                          <a:ea typeface="Inter"/>
                          <a:cs typeface="Inter"/>
                        </a:rPr>
                        <a:t>Move lookup, or first-target fallback.</a:t>
                      </a:r>
                    </a:p>
                  </a:txBody>
                  <a:tcPr marL="95250" marR="95250" marT="47625" marB="47625" anchor="ctr">
                    <a:lnR w="9525">
                      <a:solidFill>
                        <a:srgbClr val="354861"/>
                      </a:solidFill>
                      <a:prstDash val="solid"/>
                    </a:lnR>
                    <a:lnB w="9525">
                      <a:solidFill>
                        <a:srgbClr val="354861"/>
                      </a:solidFill>
                      <a:prstDash val="solid"/>
                    </a:lnB>
                    <a:solidFill>
                      <a:srgbClr val="13243D"/>
                    </a:solidFill>
                  </a:tcPr>
                </a:tc>
              </a:tr>
            </a:tbl>
          </a:graphicData>
        </a:graphic>
      </p:graphicFrame>
      <p:sp>
        <p:nvSpPr>
          <p:cNvPr id="5" name="">
            <a:extLst xmlns:a="http://schemas.openxmlformats.org/drawingml/2006/main">
              <a:ext uri="{FF2B5EF4-FFF2-40B4-BE49-F238E27FC236}">
                <a16:creationId xmlns:a16="http://schemas.microsoft.com/office/drawing/2014/main" id="{F58E6285-667E-4E5A-A88C-590A0607FDC1}"/>
              </a:ext>
            </a:extLst>
          </p:cNvPr>
          <p:cNvSpPr>
            <a:spLocks xmlns:a="http://schemas.openxmlformats.org/drawingml/2006/main" noGrp="1"/>
          </p:cNvSpPr>
          <p:nvPr/>
        </p:nvSpPr>
        <p:spPr>
          <a:xfrm xmlns:a="http://schemas.openxmlformats.org/drawingml/2006/main">
            <a:off x="781050" y="5781675"/>
            <a:ext cx="10591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F2C66D"/>
                </a:solidFill>
                <a:latin typeface="Inter"/>
                <a:ea typeface="Inter"/>
                <a:cs typeface="Inter"/>
              </a:defRPr>
            </a:defPPr>
          </a:lstStyle>
          <a:p xmlns:a="http://schemas.openxmlformats.org/drawingml/2006/main">
            <a:pPr algn="l">
              <a:lnSpc>
                <a:spcPct val="108000"/>
              </a:lnSpc>
              <a:buNone/>
              <a:defRPr sz="1425" b="0" i="0">
                <a:solidFill>
                  <a:srgbClr val="F2C66D"/>
                </a:solidFill>
                <a:latin typeface="Inter"/>
                <a:ea typeface="Inter"/>
                <a:cs typeface="Inter"/>
              </a:defRPr>
            </a:pPr>
            <a:r>
              <a:rPr sz="1425" b="0" i="0">
                <a:solidFill>
                  <a:srgbClr val="F2C66D"/>
                </a:solidFill>
                <a:latin typeface="Inter"/>
                <a:ea typeface="Inter"/>
                <a:cs typeface="Inter"/>
              </a:rPr>
              <a:t>Example: 3×3 Knight capture is index 0 (score 13.3); quiet move is index 1 (score 4.4). Python marks [0].</a:t>
            </a:r>
          </a:p>
        </p:txBody>
      </p:sp>
    </p:spTree>
    <p:extLst>
      <p:ext uri="{BB962C8B-B14F-4D97-AF65-F5344CB8AC3E}">
        <p14:creationId xmlns:p14="http://schemas.microsoft.com/office/powerpoint/2010/main" val="260747267"/>
      </p:ext>
    </p:extLst>
  </p:cSld>
</p:sld>
</file>

<file path=ppt/slides/slide10.xml><?xml version="1.0" encoding="utf-8"?>
<p:sld xmlns:p="http://schemas.openxmlformats.org/presentationml/2006/main">
  <p:cSld>
    <p:bg>
      <p:bgPr>
        <a:solidFill xmlns:a="http://schemas.openxmlformats.org/drawingml/2006/main">
          <a:srgbClr val="0B142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76094FE-0B8A-43CE-A2AB-C3316024E137}"/>
              </a:ext>
            </a:extLst>
          </p:cNvPr>
          <p:cNvSpPr>
            <a:spLocks xmlns:a="http://schemas.openxmlformats.org/drawingml/2006/main" noGrp="1"/>
          </p:cNvSpPr>
          <p:nvPr/>
        </p:nvSpPr>
        <p:spPr>
          <a:xfrm xmlns:a="http://schemas.openxmlformats.org/drawingml/2006/main">
            <a:off x="685800" y="4000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75" b="1" i="0">
                <a:solidFill>
                  <a:srgbClr val="F4F7FB"/>
                </a:solidFill>
                <a:latin typeface="Inter"/>
                <a:ea typeface="Inter"/>
                <a:cs typeface="Inter"/>
              </a:defRPr>
            </a:defPPr>
          </a:lstStyle>
          <a:p xmlns:a="http://schemas.openxmlformats.org/drawingml/2006/main">
            <a:pPr algn="l">
              <a:lnSpc>
                <a:spcPct val="108000"/>
              </a:lnSpc>
              <a:buNone/>
              <a:defRPr sz="2775" b="1" i="0">
                <a:solidFill>
                  <a:srgbClr val="F4F7FB"/>
                </a:solidFill>
                <a:latin typeface="Inter"/>
                <a:ea typeface="Inter"/>
                <a:cs typeface="Inter"/>
              </a:defRPr>
            </a:pPr>
            <a:r>
              <a:rPr sz="2775" b="1" i="0">
                <a:solidFill>
                  <a:srgbClr val="F4F7FB"/>
                </a:solidFill>
                <a:latin typeface="Inter"/>
                <a:ea typeface="Inter"/>
                <a:cs typeface="Inter"/>
              </a:rPr>
              <a:t>The diffuser turns a phase mark into higher probability</a:t>
            </a:r>
          </a:p>
        </p:txBody>
      </p:sp>
      <p:sp>
        <p:nvSpPr>
          <p:cNvPr id="2" name="">
            <a:extLst xmlns:a="http://schemas.openxmlformats.org/drawingml/2006/main">
              <a:ext uri="{FF2B5EF4-FFF2-40B4-BE49-F238E27FC236}">
                <a16:creationId xmlns:a16="http://schemas.microsoft.com/office/drawing/2014/main" id="{40BE638A-5DB9-49AE-9885-476BA48CCAB4}"/>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62D6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C1A82C0-C53F-4F81-B582-E00C200ABD23}"/>
              </a:ext>
            </a:extLst>
          </p:cNvPr>
          <p:cNvSpPr>
            <a:spLocks xmlns:a="http://schemas.openxmlformats.org/drawingml/2006/main" noGrp="1"/>
          </p:cNvSpPr>
          <p:nvPr/>
        </p:nvSpPr>
        <p:spPr>
          <a:xfrm xmlns:a="http://schemas.openxmlformats.org/drawingml/2006/main">
            <a:off x="704850" y="1162050"/>
            <a:ext cx="1078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B8C6D9"/>
                </a:solidFill>
                <a:latin typeface="Inter"/>
                <a:ea typeface="Inter"/>
                <a:cs typeface="Inter"/>
              </a:defRPr>
            </a:defPPr>
          </a:lstStyle>
          <a:p xmlns:a="http://schemas.openxmlformats.org/drawingml/2006/main">
            <a:pPr algn="l">
              <a:lnSpc>
                <a:spcPct val="108000"/>
              </a:lnSpc>
              <a:buNone/>
              <a:defRPr sz="1275" b="0" i="0">
                <a:solidFill>
                  <a:srgbClr val="B8C6D9"/>
                </a:solidFill>
                <a:latin typeface="Inter"/>
                <a:ea typeface="Inter"/>
                <a:cs typeface="Inter"/>
              </a:defRPr>
            </a:pPr>
            <a:r>
              <a:rPr sz="1275" b="0" i="0">
                <a:solidFill>
                  <a:srgbClr val="B8C6D9"/>
                </a:solidFill>
                <a:latin typeface="Inter"/>
                <a:ea typeface="Inter"/>
                <a:cs typeface="Inter"/>
              </a:rPr>
              <a:t>Worked ideal example: four indices, one marked state, one Grover iteration</a:t>
            </a:r>
          </a:p>
        </p:txBody>
      </p:sp>
      <p:graphicFrame>
        <p:nvGraphicFramePr>
          <p:cNvPr id="4" name="">
            <a:extLst xmlns:a="http://schemas.openxmlformats.org/drawingml/2006/main">
              <a:ext uri="{FF2B5EF4-FFF2-40B4-BE49-F238E27FC236}">
                <a16:creationId xmlns:a16="http://schemas.microsoft.com/office/drawing/2014/main" id="{013918AB-CA7E-4B57-AB0E-A1DBF783A2F4}"/>
              </a:ext>
            </a:extLst>
          </p:cNvPr>
          <p:cNvGraphicFramePr/>
          <p:nvPr/>
        </p:nvGraphicFramePr>
        <p:xfrm>
          <a:off xmlns:a="http://schemas.openxmlformats.org/drawingml/2006/main" x="742950" y="1666875"/>
          <a:ext xmlns:a="http://schemas.openxmlformats.org/drawingml/2006/main" cx="10706100" cy="2952750"/>
        </p:xfrm>
        <a:graphic xmlns:a="http://schemas.openxmlformats.org/drawingml/2006/main">
          <a:graphicData uri="http://schemas.openxmlformats.org/drawingml/2006/table">
            <a:tbl>
              <a:tblPr/>
              <a:tblGrid>
                <a:gridCol w="2143125"/>
                <a:gridCol w="2571750"/>
                <a:gridCol w="2571750"/>
                <a:gridCol w="3419475"/>
              </a:tblGrid>
              <a:tr h="590550">
                <a:tc>
                  <a:txBody>
                    <a:bodyPr/>
                    <a:lstStyle/>
                    <a:p>
                      <a:pPr algn="l"/>
                      <a:r>
                        <a:rPr sz="1500" b="1">
                          <a:solidFill>
                            <a:srgbClr val="F4F7FB"/>
                          </a:solidFill>
                          <a:latin typeface="Inter"/>
                          <a:ea typeface="Inter"/>
                          <a:cs typeface="Inter"/>
                        </a:rPr>
                        <a:t>Index</a:t>
                      </a:r>
                    </a:p>
                  </a:txBody>
                  <a:tcPr marL="95250" marR="95250" marT="47625" marB="47625" anchor="ctr">
                    <a:lnL w="9525">
                      <a:solidFill>
                        <a:srgbClr val="354861"/>
                      </a:solidFill>
                      <a:prstDash val="solid"/>
                    </a:lnL>
                    <a:lnR w="9525">
                      <a:solidFill>
                        <a:srgbClr val="354861"/>
                      </a:solidFill>
                      <a:prstDash val="solid"/>
                    </a:lnR>
                    <a:lnT w="9525">
                      <a:solidFill>
                        <a:srgbClr val="354861"/>
                      </a:solidFill>
                      <a:prstDash val="solid"/>
                    </a:lnT>
                    <a:lnB w="9525">
                      <a:solidFill>
                        <a:srgbClr val="354861"/>
                      </a:solidFill>
                      <a:prstDash val="solid"/>
                    </a:lnB>
                    <a:solidFill>
                      <a:srgbClr val="164153"/>
                    </a:solidFill>
                  </a:tcPr>
                </a:tc>
                <a:tc>
                  <a:txBody>
                    <a:bodyPr/>
                    <a:lstStyle/>
                    <a:p>
                      <a:pPr algn="l"/>
                      <a:r>
                        <a:rPr sz="1500" b="1">
                          <a:solidFill>
                            <a:srgbClr val="F4F7FB"/>
                          </a:solidFill>
                          <a:latin typeface="Inter"/>
                          <a:ea typeface="Inter"/>
                          <a:cs typeface="Inter"/>
                        </a:rPr>
                        <a:t>Before oracle</a:t>
                      </a:r>
                    </a:p>
                  </a:txBody>
                  <a:tcPr marL="95250" marR="95250" marT="47625" marB="47625" anchor="ctr">
                    <a:lnR w="9525">
                      <a:solidFill>
                        <a:srgbClr val="354861"/>
                      </a:solidFill>
                      <a:prstDash val="solid"/>
                    </a:lnR>
                    <a:lnT w="9525">
                      <a:solidFill>
                        <a:srgbClr val="354861"/>
                      </a:solidFill>
                      <a:prstDash val="solid"/>
                    </a:lnT>
                    <a:lnB w="9525">
                      <a:solidFill>
                        <a:srgbClr val="354861"/>
                      </a:solidFill>
                      <a:prstDash val="solid"/>
                    </a:lnB>
                    <a:solidFill>
                      <a:srgbClr val="164153"/>
                    </a:solidFill>
                  </a:tcPr>
                </a:tc>
                <a:tc>
                  <a:txBody>
                    <a:bodyPr/>
                    <a:lstStyle/>
                    <a:p>
                      <a:pPr algn="l"/>
                      <a:r>
                        <a:rPr sz="1500" b="1">
                          <a:solidFill>
                            <a:srgbClr val="F4F7FB"/>
                          </a:solidFill>
                          <a:latin typeface="Inter"/>
                          <a:ea typeface="Inter"/>
                          <a:cs typeface="Inter"/>
                        </a:rPr>
                        <a:t>After oracle</a:t>
                      </a:r>
                    </a:p>
                  </a:txBody>
                  <a:tcPr marL="95250" marR="95250" marT="47625" marB="47625" anchor="ctr">
                    <a:lnR w="9525">
                      <a:solidFill>
                        <a:srgbClr val="354861"/>
                      </a:solidFill>
                      <a:prstDash val="solid"/>
                    </a:lnR>
                    <a:lnT w="9525">
                      <a:solidFill>
                        <a:srgbClr val="354861"/>
                      </a:solidFill>
                      <a:prstDash val="solid"/>
                    </a:lnT>
                    <a:lnB w="9525">
                      <a:solidFill>
                        <a:srgbClr val="354861"/>
                      </a:solidFill>
                      <a:prstDash val="solid"/>
                    </a:lnB>
                    <a:solidFill>
                      <a:srgbClr val="164153"/>
                    </a:solidFill>
                  </a:tcPr>
                </a:tc>
                <a:tc>
                  <a:txBody>
                    <a:bodyPr/>
                    <a:lstStyle/>
                    <a:p>
                      <a:pPr algn="l"/>
                      <a:r>
                        <a:rPr sz="1500" b="1">
                          <a:solidFill>
                            <a:srgbClr val="F4F7FB"/>
                          </a:solidFill>
                          <a:latin typeface="Inter"/>
                          <a:ea typeface="Inter"/>
                          <a:cs typeface="Inter"/>
                        </a:rPr>
                        <a:t>After diffuser</a:t>
                      </a:r>
                    </a:p>
                  </a:txBody>
                  <a:tcPr marL="95250" marR="95250" marT="47625" marB="47625" anchor="ctr">
                    <a:lnR w="9525">
                      <a:solidFill>
                        <a:srgbClr val="354861"/>
                      </a:solidFill>
                      <a:prstDash val="solid"/>
                    </a:lnR>
                    <a:lnT w="9525">
                      <a:solidFill>
                        <a:srgbClr val="354861"/>
                      </a:solidFill>
                      <a:prstDash val="solid"/>
                    </a:lnT>
                    <a:lnB w="9525">
                      <a:solidFill>
                        <a:srgbClr val="354861"/>
                      </a:solidFill>
                      <a:prstDash val="solid"/>
                    </a:lnB>
                    <a:solidFill>
                      <a:srgbClr val="164153"/>
                    </a:solidFill>
                  </a:tcPr>
                </a:tc>
              </a:tr>
              <a:tr h="590550">
                <a:tc>
                  <a:txBody>
                    <a:bodyPr/>
                    <a:lstStyle/>
                    <a:p>
                      <a:pPr algn="l"/>
                      <a:r>
                        <a:rPr sz="1500">
                          <a:solidFill>
                            <a:srgbClr val="F4F7FB"/>
                          </a:solidFill>
                          <a:latin typeface="Inter"/>
                          <a:ea typeface="Inter"/>
                          <a:cs typeface="Inter"/>
                        </a:rPr>
                        <a:t>00 · target</a:t>
                      </a:r>
                    </a:p>
                  </a:txBody>
                  <a:tcPr marL="95250" marR="95250" marT="47625" marB="47625" anchor="ctr">
                    <a:lnL w="9525">
                      <a:solidFill>
                        <a:srgbClr val="354861"/>
                      </a:solidFill>
                      <a:prstDash val="solid"/>
                    </a:lnL>
                    <a:lnR w="9525">
                      <a:solidFill>
                        <a:srgbClr val="354861"/>
                      </a:solidFill>
                      <a:prstDash val="solid"/>
                    </a:lnR>
                    <a:lnB w="9525">
                      <a:solidFill>
                        <a:srgbClr val="354861"/>
                      </a:solidFill>
                      <a:prstDash val="solid"/>
                    </a:lnB>
                    <a:solidFill>
                      <a:srgbClr val="13243D"/>
                    </a:solidFill>
                  </a:tcPr>
                </a:tc>
                <a:tc>
                  <a:txBody>
                    <a:bodyPr/>
                    <a:lstStyle/>
                    <a:p>
                      <a:pPr algn="l"/>
                      <a:r>
                        <a:rPr sz="1500">
                          <a:solidFill>
                            <a:srgbClr val="F4F7FB"/>
                          </a:solidFill>
                          <a:latin typeface="Inter"/>
                          <a:ea typeface="Inter"/>
                          <a:cs typeface="Inter"/>
                        </a:rPr>
                        <a:t>+1/2</a:t>
                      </a:r>
                    </a:p>
                  </a:txBody>
                  <a:tcPr marL="95250" marR="95250" marT="47625" marB="47625" anchor="ctr">
                    <a:lnR w="9525">
                      <a:solidFill>
                        <a:srgbClr val="354861"/>
                      </a:solidFill>
                      <a:prstDash val="solid"/>
                    </a:lnR>
                    <a:lnB w="9525">
                      <a:solidFill>
                        <a:srgbClr val="354861"/>
                      </a:solidFill>
                      <a:prstDash val="solid"/>
                    </a:lnB>
                    <a:solidFill>
                      <a:srgbClr val="13243D"/>
                    </a:solidFill>
                  </a:tcPr>
                </a:tc>
                <a:tc>
                  <a:txBody>
                    <a:bodyPr/>
                    <a:lstStyle/>
                    <a:p>
                      <a:pPr algn="l"/>
                      <a:r>
                        <a:rPr sz="1500">
                          <a:solidFill>
                            <a:srgbClr val="F4F7FB"/>
                          </a:solidFill>
                          <a:latin typeface="Inter"/>
                          <a:ea typeface="Inter"/>
                          <a:cs typeface="Inter"/>
                        </a:rPr>
                        <a:t>−1/2</a:t>
                      </a:r>
                    </a:p>
                  </a:txBody>
                  <a:tcPr marL="95250" marR="95250" marT="47625" marB="47625" anchor="ctr">
                    <a:lnR w="9525">
                      <a:solidFill>
                        <a:srgbClr val="354861"/>
                      </a:solidFill>
                      <a:prstDash val="solid"/>
                    </a:lnR>
                    <a:lnB w="9525">
                      <a:solidFill>
                        <a:srgbClr val="354861"/>
                      </a:solidFill>
                      <a:prstDash val="solid"/>
                    </a:lnB>
                    <a:solidFill>
                      <a:srgbClr val="13243D"/>
                    </a:solidFill>
                  </a:tcPr>
                </a:tc>
                <a:tc>
                  <a:txBody>
                    <a:bodyPr/>
                    <a:lstStyle/>
                    <a:p>
                      <a:pPr algn="l"/>
                      <a:r>
                        <a:rPr sz="1500">
                          <a:solidFill>
                            <a:srgbClr val="F4F7FB"/>
                          </a:solidFill>
                          <a:latin typeface="Inter"/>
                          <a:ea typeface="Inter"/>
                          <a:cs typeface="Inter"/>
                        </a:rPr>
                        <a:t>+1   (p = 1)</a:t>
                      </a:r>
                    </a:p>
                  </a:txBody>
                  <a:tcPr marL="95250" marR="95250" marT="47625" marB="47625" anchor="ctr">
                    <a:lnR w="9525">
                      <a:solidFill>
                        <a:srgbClr val="354861"/>
                      </a:solidFill>
                      <a:prstDash val="solid"/>
                    </a:lnR>
                    <a:lnB w="9525">
                      <a:solidFill>
                        <a:srgbClr val="354861"/>
                      </a:solidFill>
                      <a:prstDash val="solid"/>
                    </a:lnB>
                    <a:solidFill>
                      <a:srgbClr val="13243D"/>
                    </a:solidFill>
                  </a:tcPr>
                </a:tc>
              </a:tr>
              <a:tr h="590550">
                <a:tc>
                  <a:txBody>
                    <a:bodyPr/>
                    <a:lstStyle/>
                    <a:p>
                      <a:pPr algn="l"/>
                      <a:r>
                        <a:rPr sz="1500">
                          <a:solidFill>
                            <a:srgbClr val="F4F7FB"/>
                          </a:solidFill>
                          <a:latin typeface="Inter"/>
                          <a:ea typeface="Inter"/>
                          <a:cs typeface="Inter"/>
                        </a:rPr>
                        <a:t>01</a:t>
                      </a:r>
                    </a:p>
                  </a:txBody>
                  <a:tcPr marL="95250" marR="95250" marT="47625" marB="47625" anchor="ctr">
                    <a:lnL w="9525">
                      <a:solidFill>
                        <a:srgbClr val="354861"/>
                      </a:solidFill>
                      <a:prstDash val="solid"/>
                    </a:lnL>
                    <a:lnR w="9525">
                      <a:solidFill>
                        <a:srgbClr val="354861"/>
                      </a:solidFill>
                      <a:prstDash val="solid"/>
                    </a:lnR>
                    <a:lnB w="9525">
                      <a:solidFill>
                        <a:srgbClr val="354861"/>
                      </a:solidFill>
                      <a:prstDash val="solid"/>
                    </a:lnB>
                    <a:solidFill>
                      <a:srgbClr val="0E1B30"/>
                    </a:solidFill>
                  </a:tcPr>
                </a:tc>
                <a:tc>
                  <a:txBody>
                    <a:bodyPr/>
                    <a:lstStyle/>
                    <a:p>
                      <a:pPr algn="l"/>
                      <a:r>
                        <a:rPr sz="1500">
                          <a:solidFill>
                            <a:srgbClr val="F4F7FB"/>
                          </a:solidFill>
                          <a:latin typeface="Inter"/>
                          <a:ea typeface="Inter"/>
                          <a:cs typeface="Inter"/>
                        </a:rPr>
                        <a:t>+1/2</a:t>
                      </a:r>
                    </a:p>
                  </a:txBody>
                  <a:tcPr marL="95250" marR="95250" marT="47625" marB="47625" anchor="ctr">
                    <a:lnR w="9525">
                      <a:solidFill>
                        <a:srgbClr val="354861"/>
                      </a:solidFill>
                      <a:prstDash val="solid"/>
                    </a:lnR>
                    <a:lnB w="9525">
                      <a:solidFill>
                        <a:srgbClr val="354861"/>
                      </a:solidFill>
                      <a:prstDash val="solid"/>
                    </a:lnB>
                    <a:solidFill>
                      <a:srgbClr val="0E1B30"/>
                    </a:solidFill>
                  </a:tcPr>
                </a:tc>
                <a:tc>
                  <a:txBody>
                    <a:bodyPr/>
                    <a:lstStyle/>
                    <a:p>
                      <a:pPr algn="l"/>
                      <a:r>
                        <a:rPr sz="1500">
                          <a:solidFill>
                            <a:srgbClr val="F4F7FB"/>
                          </a:solidFill>
                          <a:latin typeface="Inter"/>
                          <a:ea typeface="Inter"/>
                          <a:cs typeface="Inter"/>
                        </a:rPr>
                        <a:t>+1/2</a:t>
                      </a:r>
                    </a:p>
                  </a:txBody>
                  <a:tcPr marL="95250" marR="95250" marT="47625" marB="47625" anchor="ctr">
                    <a:lnR w="9525">
                      <a:solidFill>
                        <a:srgbClr val="354861"/>
                      </a:solidFill>
                      <a:prstDash val="solid"/>
                    </a:lnR>
                    <a:lnB w="9525">
                      <a:solidFill>
                        <a:srgbClr val="354861"/>
                      </a:solidFill>
                      <a:prstDash val="solid"/>
                    </a:lnB>
                    <a:solidFill>
                      <a:srgbClr val="0E1B30"/>
                    </a:solidFill>
                  </a:tcPr>
                </a:tc>
                <a:tc>
                  <a:txBody>
                    <a:bodyPr/>
                    <a:lstStyle/>
                    <a:p>
                      <a:pPr algn="l"/>
                      <a:r>
                        <a:rPr sz="1500">
                          <a:solidFill>
                            <a:srgbClr val="F4F7FB"/>
                          </a:solidFill>
                          <a:latin typeface="Inter"/>
                          <a:ea typeface="Inter"/>
                          <a:cs typeface="Inter"/>
                        </a:rPr>
                        <a:t>0   (p = 0)</a:t>
                      </a:r>
                    </a:p>
                  </a:txBody>
                  <a:tcPr marL="95250" marR="95250" marT="47625" marB="47625" anchor="ctr">
                    <a:lnR w="9525">
                      <a:solidFill>
                        <a:srgbClr val="354861"/>
                      </a:solidFill>
                      <a:prstDash val="solid"/>
                    </a:lnR>
                    <a:lnB w="9525">
                      <a:solidFill>
                        <a:srgbClr val="354861"/>
                      </a:solidFill>
                      <a:prstDash val="solid"/>
                    </a:lnB>
                    <a:solidFill>
                      <a:srgbClr val="0E1B30"/>
                    </a:solidFill>
                  </a:tcPr>
                </a:tc>
              </a:tr>
              <a:tr h="590550">
                <a:tc>
                  <a:txBody>
                    <a:bodyPr/>
                    <a:lstStyle/>
                    <a:p>
                      <a:pPr algn="l"/>
                      <a:r>
                        <a:rPr sz="1500">
                          <a:solidFill>
                            <a:srgbClr val="F4F7FB"/>
                          </a:solidFill>
                          <a:latin typeface="Inter"/>
                          <a:ea typeface="Inter"/>
                          <a:cs typeface="Inter"/>
                        </a:rPr>
                        <a:t>10</a:t>
                      </a:r>
                    </a:p>
                  </a:txBody>
                  <a:tcPr marL="95250" marR="95250" marT="47625" marB="47625" anchor="ctr">
                    <a:lnL w="9525">
                      <a:solidFill>
                        <a:srgbClr val="354861"/>
                      </a:solidFill>
                      <a:prstDash val="solid"/>
                    </a:lnL>
                    <a:lnR w="9525">
                      <a:solidFill>
                        <a:srgbClr val="354861"/>
                      </a:solidFill>
                      <a:prstDash val="solid"/>
                    </a:lnR>
                    <a:lnB w="9525">
                      <a:solidFill>
                        <a:srgbClr val="354861"/>
                      </a:solidFill>
                      <a:prstDash val="solid"/>
                    </a:lnB>
                    <a:solidFill>
                      <a:srgbClr val="13243D"/>
                    </a:solidFill>
                  </a:tcPr>
                </a:tc>
                <a:tc>
                  <a:txBody>
                    <a:bodyPr/>
                    <a:lstStyle/>
                    <a:p>
                      <a:pPr algn="l"/>
                      <a:r>
                        <a:rPr sz="1500">
                          <a:solidFill>
                            <a:srgbClr val="F4F7FB"/>
                          </a:solidFill>
                          <a:latin typeface="Inter"/>
                          <a:ea typeface="Inter"/>
                          <a:cs typeface="Inter"/>
                        </a:rPr>
                        <a:t>+1/2</a:t>
                      </a:r>
                    </a:p>
                  </a:txBody>
                  <a:tcPr marL="95250" marR="95250" marT="47625" marB="47625" anchor="ctr">
                    <a:lnR w="9525">
                      <a:solidFill>
                        <a:srgbClr val="354861"/>
                      </a:solidFill>
                      <a:prstDash val="solid"/>
                    </a:lnR>
                    <a:lnB w="9525">
                      <a:solidFill>
                        <a:srgbClr val="354861"/>
                      </a:solidFill>
                      <a:prstDash val="solid"/>
                    </a:lnB>
                    <a:solidFill>
                      <a:srgbClr val="13243D"/>
                    </a:solidFill>
                  </a:tcPr>
                </a:tc>
                <a:tc>
                  <a:txBody>
                    <a:bodyPr/>
                    <a:lstStyle/>
                    <a:p>
                      <a:pPr algn="l"/>
                      <a:r>
                        <a:rPr sz="1500">
                          <a:solidFill>
                            <a:srgbClr val="F4F7FB"/>
                          </a:solidFill>
                          <a:latin typeface="Inter"/>
                          <a:ea typeface="Inter"/>
                          <a:cs typeface="Inter"/>
                        </a:rPr>
                        <a:t>+1/2</a:t>
                      </a:r>
                    </a:p>
                  </a:txBody>
                  <a:tcPr marL="95250" marR="95250" marT="47625" marB="47625" anchor="ctr">
                    <a:lnR w="9525">
                      <a:solidFill>
                        <a:srgbClr val="354861"/>
                      </a:solidFill>
                      <a:prstDash val="solid"/>
                    </a:lnR>
                    <a:lnB w="9525">
                      <a:solidFill>
                        <a:srgbClr val="354861"/>
                      </a:solidFill>
                      <a:prstDash val="solid"/>
                    </a:lnB>
                    <a:solidFill>
                      <a:srgbClr val="13243D"/>
                    </a:solidFill>
                  </a:tcPr>
                </a:tc>
                <a:tc>
                  <a:txBody>
                    <a:bodyPr/>
                    <a:lstStyle/>
                    <a:p>
                      <a:pPr algn="l"/>
                      <a:r>
                        <a:rPr sz="1500">
                          <a:solidFill>
                            <a:srgbClr val="F4F7FB"/>
                          </a:solidFill>
                          <a:latin typeface="Inter"/>
                          <a:ea typeface="Inter"/>
                          <a:cs typeface="Inter"/>
                        </a:rPr>
                        <a:t>0   (p = 0)</a:t>
                      </a:r>
                    </a:p>
                  </a:txBody>
                  <a:tcPr marL="95250" marR="95250" marT="47625" marB="47625" anchor="ctr">
                    <a:lnR w="9525">
                      <a:solidFill>
                        <a:srgbClr val="354861"/>
                      </a:solidFill>
                      <a:prstDash val="solid"/>
                    </a:lnR>
                    <a:lnB w="9525">
                      <a:solidFill>
                        <a:srgbClr val="354861"/>
                      </a:solidFill>
                      <a:prstDash val="solid"/>
                    </a:lnB>
                    <a:solidFill>
                      <a:srgbClr val="13243D"/>
                    </a:solidFill>
                  </a:tcPr>
                </a:tc>
              </a:tr>
              <a:tr h="590550">
                <a:tc>
                  <a:txBody>
                    <a:bodyPr/>
                    <a:lstStyle/>
                    <a:p>
                      <a:pPr algn="l"/>
                      <a:r>
                        <a:rPr sz="1500">
                          <a:solidFill>
                            <a:srgbClr val="F4F7FB"/>
                          </a:solidFill>
                          <a:latin typeface="Inter"/>
                          <a:ea typeface="Inter"/>
                          <a:cs typeface="Inter"/>
                        </a:rPr>
                        <a:t>11</a:t>
                      </a:r>
                    </a:p>
                  </a:txBody>
                  <a:tcPr marL="95250" marR="95250" marT="47625" marB="47625" anchor="ctr">
                    <a:lnL w="9525">
                      <a:solidFill>
                        <a:srgbClr val="354861"/>
                      </a:solidFill>
                      <a:prstDash val="solid"/>
                    </a:lnL>
                    <a:lnR w="9525">
                      <a:solidFill>
                        <a:srgbClr val="354861"/>
                      </a:solidFill>
                      <a:prstDash val="solid"/>
                    </a:lnR>
                    <a:lnB w="9525">
                      <a:solidFill>
                        <a:srgbClr val="354861"/>
                      </a:solidFill>
                      <a:prstDash val="solid"/>
                    </a:lnB>
                    <a:solidFill>
                      <a:srgbClr val="0E1B30"/>
                    </a:solidFill>
                  </a:tcPr>
                </a:tc>
                <a:tc>
                  <a:txBody>
                    <a:bodyPr/>
                    <a:lstStyle/>
                    <a:p>
                      <a:pPr algn="l"/>
                      <a:r>
                        <a:rPr sz="1500">
                          <a:solidFill>
                            <a:srgbClr val="F4F7FB"/>
                          </a:solidFill>
                          <a:latin typeface="Inter"/>
                          <a:ea typeface="Inter"/>
                          <a:cs typeface="Inter"/>
                        </a:rPr>
                        <a:t>+1/2</a:t>
                      </a:r>
                    </a:p>
                  </a:txBody>
                  <a:tcPr marL="95250" marR="95250" marT="47625" marB="47625" anchor="ctr">
                    <a:lnR w="9525">
                      <a:solidFill>
                        <a:srgbClr val="354861"/>
                      </a:solidFill>
                      <a:prstDash val="solid"/>
                    </a:lnR>
                    <a:lnB w="9525">
                      <a:solidFill>
                        <a:srgbClr val="354861"/>
                      </a:solidFill>
                      <a:prstDash val="solid"/>
                    </a:lnB>
                    <a:solidFill>
                      <a:srgbClr val="0E1B30"/>
                    </a:solidFill>
                  </a:tcPr>
                </a:tc>
                <a:tc>
                  <a:txBody>
                    <a:bodyPr/>
                    <a:lstStyle/>
                    <a:p>
                      <a:pPr algn="l"/>
                      <a:r>
                        <a:rPr sz="1500">
                          <a:solidFill>
                            <a:srgbClr val="F4F7FB"/>
                          </a:solidFill>
                          <a:latin typeface="Inter"/>
                          <a:ea typeface="Inter"/>
                          <a:cs typeface="Inter"/>
                        </a:rPr>
                        <a:t>+1/2</a:t>
                      </a:r>
                    </a:p>
                  </a:txBody>
                  <a:tcPr marL="95250" marR="95250" marT="47625" marB="47625" anchor="ctr">
                    <a:lnR w="9525">
                      <a:solidFill>
                        <a:srgbClr val="354861"/>
                      </a:solidFill>
                      <a:prstDash val="solid"/>
                    </a:lnR>
                    <a:lnB w="9525">
                      <a:solidFill>
                        <a:srgbClr val="354861"/>
                      </a:solidFill>
                      <a:prstDash val="solid"/>
                    </a:lnB>
                    <a:solidFill>
                      <a:srgbClr val="0E1B30"/>
                    </a:solidFill>
                  </a:tcPr>
                </a:tc>
                <a:tc>
                  <a:txBody>
                    <a:bodyPr/>
                    <a:lstStyle/>
                    <a:p>
                      <a:pPr algn="l"/>
                      <a:r>
                        <a:rPr sz="1500">
                          <a:solidFill>
                            <a:srgbClr val="F4F7FB"/>
                          </a:solidFill>
                          <a:latin typeface="Inter"/>
                          <a:ea typeface="Inter"/>
                          <a:cs typeface="Inter"/>
                        </a:rPr>
                        <a:t>0   (p = 0)</a:t>
                      </a:r>
                    </a:p>
                  </a:txBody>
                  <a:tcPr marL="95250" marR="95250" marT="47625" marB="47625" anchor="ctr">
                    <a:lnR w="9525">
                      <a:solidFill>
                        <a:srgbClr val="354861"/>
                      </a:solidFill>
                      <a:prstDash val="solid"/>
                    </a:lnR>
                    <a:lnB w="9525">
                      <a:solidFill>
                        <a:srgbClr val="354861"/>
                      </a:solidFill>
                      <a:prstDash val="solid"/>
                    </a:lnB>
                    <a:solidFill>
                      <a:srgbClr val="0E1B30"/>
                    </a:solidFill>
                  </a:tcPr>
                </a:tc>
              </a:tr>
            </a:tbl>
          </a:graphicData>
        </a:graphic>
      </p:graphicFrame>
      <p:sp>
        <p:nvSpPr>
          <p:cNvPr id="5" name="">
            <a:extLst xmlns:a="http://schemas.openxmlformats.org/drawingml/2006/main">
              <a:ext uri="{FF2B5EF4-FFF2-40B4-BE49-F238E27FC236}">
                <a16:creationId xmlns:a16="http://schemas.microsoft.com/office/drawing/2014/main" id="{6D568579-9BA9-420F-8150-3AFBE672BEAB}"/>
              </a:ext>
            </a:extLst>
          </p:cNvPr>
          <p:cNvSpPr>
            <a:spLocks xmlns:a="http://schemas.openxmlformats.org/drawingml/2006/main" noGrp="1"/>
          </p:cNvSpPr>
          <p:nvPr/>
        </p:nvSpPr>
        <p:spPr>
          <a:xfrm xmlns:a="http://schemas.openxmlformats.org/drawingml/2006/main">
            <a:off x="781050" y="49339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i="0">
                <a:solidFill>
                  <a:srgbClr val="62D6C7"/>
                </a:solidFill>
                <a:latin typeface="Inter"/>
                <a:ea typeface="Inter"/>
                <a:cs typeface="Inter"/>
              </a:defRPr>
            </a:defPPr>
          </a:lstStyle>
          <a:p xmlns:a="http://schemas.openxmlformats.org/drawingml/2006/main">
            <a:pPr algn="l">
              <a:lnSpc>
                <a:spcPct val="108000"/>
              </a:lnSpc>
              <a:buNone/>
              <a:defRPr sz="1200" b="1" i="0">
                <a:solidFill>
                  <a:srgbClr val="62D6C7"/>
                </a:solidFill>
                <a:latin typeface="Inter"/>
                <a:ea typeface="Inter"/>
                <a:cs typeface="Inter"/>
              </a:defRPr>
            </a:pPr>
            <a:r>
              <a:rPr sz="1200" b="1" i="0">
                <a:solidFill>
                  <a:srgbClr val="62D6C7"/>
                </a:solidFill>
                <a:latin typeface="Inter"/>
                <a:ea typeface="Inter"/>
                <a:cs typeface="Inter"/>
              </a:rPr>
              <a:t>Diffuser sequence</a:t>
            </a:r>
          </a:p>
        </p:txBody>
      </p:sp>
      <p:sp>
        <p:nvSpPr>
          <p:cNvPr id="6" name="">
            <a:extLst xmlns:a="http://schemas.openxmlformats.org/drawingml/2006/main">
              <a:ext uri="{FF2B5EF4-FFF2-40B4-BE49-F238E27FC236}">
                <a16:creationId xmlns:a16="http://schemas.microsoft.com/office/drawing/2014/main" id="{05393F9B-2451-4BEB-9E3E-6D3BA74FCBA9}"/>
              </a:ext>
            </a:extLst>
          </p:cNvPr>
          <p:cNvSpPr>
            <a:spLocks xmlns:a="http://schemas.openxmlformats.org/drawingml/2006/main" noGrp="1"/>
          </p:cNvSpPr>
          <p:nvPr/>
        </p:nvSpPr>
        <p:spPr>
          <a:xfrm xmlns:a="http://schemas.openxmlformats.org/drawingml/2006/main">
            <a:off x="781050" y="5267325"/>
            <a:ext cx="4953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0" i="0">
                <a:solidFill>
                  <a:srgbClr val="F4F7FB"/>
                </a:solidFill>
                <a:latin typeface="JetBrains Mono"/>
                <a:ea typeface="JetBrains Mono"/>
                <a:cs typeface="JetBrains Mono"/>
              </a:defRPr>
            </a:defPPr>
          </a:lstStyle>
          <a:p xmlns:a="http://schemas.openxmlformats.org/drawingml/2006/main">
            <a:pPr algn="l">
              <a:lnSpc>
                <a:spcPct val="108000"/>
              </a:lnSpc>
              <a:buNone/>
              <a:defRPr sz="2100" b="0" i="0">
                <a:solidFill>
                  <a:srgbClr val="F4F7FB"/>
                </a:solidFill>
                <a:latin typeface="JetBrains Mono"/>
                <a:ea typeface="JetBrains Mono"/>
                <a:cs typeface="JetBrains Mono"/>
              </a:defRPr>
            </a:pPr>
            <a:r>
              <a:rPr sz="2100" b="0" i="0">
                <a:solidFill>
                  <a:srgbClr val="F4F7FB"/>
                </a:solidFill>
                <a:latin typeface="JetBrains Mono"/>
                <a:ea typeface="JetBrains Mono"/>
                <a:cs typeface="JetBrains Mono"/>
              </a:rPr>
              <a:t>Hⁿ  ·  Xⁿ  ·  MCZ  ·  Xⁿ  ·  Hⁿ</a:t>
            </a:r>
          </a:p>
        </p:txBody>
      </p:sp>
      <p:sp>
        <p:nvSpPr>
          <p:cNvPr id="7" name="">
            <a:extLst xmlns:a="http://schemas.openxmlformats.org/drawingml/2006/main">
              <a:ext uri="{FF2B5EF4-FFF2-40B4-BE49-F238E27FC236}">
                <a16:creationId xmlns:a16="http://schemas.microsoft.com/office/drawing/2014/main" id="{F43F8471-D878-49A9-8AF2-0DD98C329BBA}"/>
              </a:ext>
            </a:extLst>
          </p:cNvPr>
          <p:cNvSpPr>
            <a:spLocks xmlns:a="http://schemas.openxmlformats.org/drawingml/2006/main" noGrp="1"/>
          </p:cNvSpPr>
          <p:nvPr/>
        </p:nvSpPr>
        <p:spPr>
          <a:xfrm xmlns:a="http://schemas.openxmlformats.org/drawingml/2006/main">
            <a:off x="6229350" y="5267325"/>
            <a:ext cx="4953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0" i="0">
                <a:solidFill>
                  <a:srgbClr val="F2C66D"/>
                </a:solidFill>
                <a:latin typeface="Inter"/>
                <a:ea typeface="Inter"/>
                <a:cs typeface="Inter"/>
              </a:defRPr>
            </a:defPPr>
          </a:lstStyle>
          <a:p xmlns:a="http://schemas.openxmlformats.org/drawingml/2006/main">
            <a:pPr algn="l">
              <a:lnSpc>
                <a:spcPct val="108000"/>
              </a:lnSpc>
              <a:buNone/>
              <a:defRPr sz="1950" b="0" i="0">
                <a:solidFill>
                  <a:srgbClr val="F2C66D"/>
                </a:solidFill>
                <a:latin typeface="Inter"/>
                <a:ea typeface="Inter"/>
                <a:cs typeface="Inter"/>
              </a:defRPr>
            </a:pPr>
            <a:r>
              <a:rPr sz="1950" b="0" i="0">
                <a:solidFill>
                  <a:srgbClr val="F2C66D"/>
                </a:solidFill>
                <a:latin typeface="Inter"/>
                <a:ea typeface="Inter"/>
                <a:cs typeface="Inter"/>
              </a:rPr>
              <a:t>Reflection:  aᵢ′ = 2ā − aᵢ</a:t>
            </a:r>
          </a:p>
        </p:txBody>
      </p:sp>
      <p:sp>
        <p:nvSpPr>
          <p:cNvPr id="8" name="">
            <a:extLst xmlns:a="http://schemas.openxmlformats.org/drawingml/2006/main">
              <a:ext uri="{FF2B5EF4-FFF2-40B4-BE49-F238E27FC236}">
                <a16:creationId xmlns:a16="http://schemas.microsoft.com/office/drawing/2014/main" id="{9BC4ED43-5EBF-4320-AE48-B9C29EB2622A}"/>
              </a:ext>
            </a:extLst>
          </p:cNvPr>
          <p:cNvSpPr>
            <a:spLocks xmlns:a="http://schemas.openxmlformats.org/drawingml/2006/main" noGrp="1"/>
          </p:cNvSpPr>
          <p:nvPr/>
        </p:nvSpPr>
        <p:spPr>
          <a:xfrm xmlns:a="http://schemas.openxmlformats.org/drawingml/2006/main">
            <a:off x="781050" y="5981700"/>
            <a:ext cx="1062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B8C6D9"/>
                </a:solidFill>
                <a:latin typeface="Inter"/>
                <a:ea typeface="Inter"/>
                <a:cs typeface="Inter"/>
              </a:defRPr>
            </a:defPPr>
          </a:lstStyle>
          <a:p xmlns:a="http://schemas.openxmlformats.org/drawingml/2006/main">
            <a:pPr algn="l">
              <a:lnSpc>
                <a:spcPct val="108000"/>
              </a:lnSpc>
              <a:buNone/>
              <a:defRPr sz="1350" b="0" i="0">
                <a:solidFill>
                  <a:srgbClr val="B8C6D9"/>
                </a:solidFill>
                <a:latin typeface="Inter"/>
                <a:ea typeface="Inter"/>
                <a:cs typeface="Inter"/>
              </a:defRPr>
            </a:pPr>
            <a:r>
              <a:rPr sz="1350" b="0" i="0">
                <a:solidFill>
                  <a:srgbClr val="B8C6D9"/>
                </a:solidFill>
                <a:latin typeface="Inter"/>
                <a:ea typeface="Inter"/>
                <a:cs typeface="Inter"/>
              </a:rPr>
              <a:t>For N=2, M=1, one iteration leaves p=½; the code’s classical fallback still returns a target.</a:t>
            </a:r>
          </a:p>
        </p:txBody>
      </p:sp>
    </p:spTree>
    <p:extLst>
      <p:ext uri="{BB962C8B-B14F-4D97-AF65-F5344CB8AC3E}">
        <p14:creationId xmlns:p14="http://schemas.microsoft.com/office/powerpoint/2010/main" val="185480972"/>
      </p:ext>
    </p:extLst>
  </p:cSld>
</p:sld>
</file>

<file path=ppt/slides/slide11.xml><?xml version="1.0" encoding="utf-8"?>
<p:sld xmlns:p="http://schemas.openxmlformats.org/presentationml/2006/main">
  <p:cSld>
    <p:bg>
      <p:bgPr>
        <a:solidFill xmlns:a="http://schemas.openxmlformats.org/drawingml/2006/main">
          <a:srgbClr val="0B142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CBE44B8-53D2-4708-ACB9-F8352432ECB0}"/>
              </a:ext>
            </a:extLst>
          </p:cNvPr>
          <p:cNvSpPr>
            <a:spLocks xmlns:a="http://schemas.openxmlformats.org/drawingml/2006/main" noGrp="1"/>
          </p:cNvSpPr>
          <p:nvPr/>
        </p:nvSpPr>
        <p:spPr>
          <a:xfrm xmlns:a="http://schemas.openxmlformats.org/drawingml/2006/main">
            <a:off x="685800" y="4000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75" b="1" i="0">
                <a:solidFill>
                  <a:srgbClr val="F4F7FB"/>
                </a:solidFill>
                <a:latin typeface="Inter"/>
                <a:ea typeface="Inter"/>
                <a:cs typeface="Inter"/>
              </a:defRPr>
            </a:defPPr>
          </a:lstStyle>
          <a:p xmlns:a="http://schemas.openxmlformats.org/drawingml/2006/main">
            <a:pPr algn="l">
              <a:lnSpc>
                <a:spcPct val="108000"/>
              </a:lnSpc>
              <a:buNone/>
              <a:defRPr sz="2775" b="1" i="0">
                <a:solidFill>
                  <a:srgbClr val="F4F7FB"/>
                </a:solidFill>
                <a:latin typeface="Inter"/>
                <a:ea typeface="Inter"/>
                <a:cs typeface="Inter"/>
              </a:defRPr>
            </a:pPr>
            <a:r>
              <a:rPr sz="2775" b="1" i="0">
                <a:solidFill>
                  <a:srgbClr val="F4F7FB"/>
                </a:solidFill>
                <a:latin typeface="Inter"/>
                <a:ea typeface="Inter"/>
                <a:cs typeface="Inter"/>
              </a:rPr>
              <a:t>The normal 3×3 AI uses classical Minimax</a:t>
            </a:r>
          </a:p>
        </p:txBody>
      </p:sp>
      <p:sp>
        <p:nvSpPr>
          <p:cNvPr id="2" name="">
            <a:extLst xmlns:a="http://schemas.openxmlformats.org/drawingml/2006/main">
              <a:ext uri="{FF2B5EF4-FFF2-40B4-BE49-F238E27FC236}">
                <a16:creationId xmlns:a16="http://schemas.microsoft.com/office/drawing/2014/main" id="{08CAFA7D-5623-4888-AB16-5EFECF36EE34}"/>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62D6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F97A92E-A123-4F60-A956-14C177A786F5}"/>
              </a:ext>
            </a:extLst>
          </p:cNvPr>
          <p:cNvSpPr>
            <a:spLocks xmlns:a="http://schemas.openxmlformats.org/drawingml/2006/main" noGrp="1"/>
          </p:cNvSpPr>
          <p:nvPr/>
        </p:nvSpPr>
        <p:spPr>
          <a:xfrm xmlns:a="http://schemas.openxmlformats.org/drawingml/2006/main">
            <a:off x="704850" y="1162050"/>
            <a:ext cx="1078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B8C6D9"/>
                </a:solidFill>
                <a:latin typeface="Inter"/>
                <a:ea typeface="Inter"/>
                <a:cs typeface="Inter"/>
              </a:defRPr>
            </a:defPPr>
          </a:lstStyle>
          <a:p xmlns:a="http://schemas.openxmlformats.org/drawingml/2006/main">
            <a:pPr algn="l">
              <a:lnSpc>
                <a:spcPct val="108000"/>
              </a:lnSpc>
              <a:buNone/>
              <a:defRPr sz="1275" b="0" i="0">
                <a:solidFill>
                  <a:srgbClr val="B8C6D9"/>
                </a:solidFill>
                <a:latin typeface="Inter"/>
                <a:ea typeface="Inter"/>
                <a:cs typeface="Inter"/>
              </a:defRPr>
            </a:pPr>
            <a:r>
              <a:rPr sz="1275" b="0" i="0">
                <a:solidFill>
                  <a:srgbClr val="B8C6D9"/>
                </a:solidFill>
                <a:latin typeface="Inter"/>
                <a:ea typeface="Inter"/>
                <a:cs typeface="Inter"/>
              </a:rPr>
              <a:t>The pure-circuit demonstration processes a supplied move; it does not choose the AI move</a:t>
            </a:r>
          </a:p>
        </p:txBody>
      </p:sp>
      <p:sp>
        <p:nvSpPr>
          <p:cNvPr id="4" name="">
            <a:extLst xmlns:a="http://schemas.openxmlformats.org/drawingml/2006/main">
              <a:ext uri="{FF2B5EF4-FFF2-40B4-BE49-F238E27FC236}">
                <a16:creationId xmlns:a16="http://schemas.microsoft.com/office/drawing/2014/main" id="{EE361A27-D8ED-4B3A-94D7-926C8B96B66B}"/>
              </a:ext>
            </a:extLst>
          </p:cNvPr>
          <p:cNvSpPr>
            <a:spLocks xmlns:a="http://schemas.openxmlformats.org/drawingml/2006/main" noGrp="1"/>
          </p:cNvSpPr>
          <p:nvPr/>
        </p:nvSpPr>
        <p:spPr>
          <a:xfrm xmlns:a="http://schemas.openxmlformats.org/drawingml/2006/main">
            <a:off x="790575" y="16859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62D6C7"/>
                </a:solidFill>
                <a:latin typeface="Inter"/>
                <a:ea typeface="Inter"/>
                <a:cs typeface="Inter"/>
              </a:defRPr>
            </a:defPPr>
          </a:lstStyle>
          <a:p xmlns:a="http://schemas.openxmlformats.org/drawingml/2006/main">
            <a:pPr algn="l">
              <a:lnSpc>
                <a:spcPct val="108000"/>
              </a:lnSpc>
              <a:buNone/>
              <a:defRPr sz="1275" b="1" i="0">
                <a:solidFill>
                  <a:srgbClr val="62D6C7"/>
                </a:solidFill>
                <a:latin typeface="Inter"/>
                <a:ea typeface="Inter"/>
                <a:cs typeface="Inter"/>
              </a:defRPr>
            </a:pPr>
            <a:r>
              <a:rPr sz="1275" b="1" i="0">
                <a:solidFill>
                  <a:srgbClr val="62D6C7"/>
                </a:solidFill>
                <a:latin typeface="Inter"/>
                <a:ea typeface="Inter"/>
                <a:cs typeface="Inter"/>
              </a:rPr>
              <a:t>DECISION LOOP</a:t>
            </a:r>
          </a:p>
        </p:txBody>
      </p:sp>
      <p:sp>
        <p:nvSpPr>
          <p:cNvPr id="5" name="">
            <a:extLst xmlns:a="http://schemas.openxmlformats.org/drawingml/2006/main">
              <a:ext uri="{FF2B5EF4-FFF2-40B4-BE49-F238E27FC236}">
                <a16:creationId xmlns:a16="http://schemas.microsoft.com/office/drawing/2014/main" id="{BA189A20-8072-4233-ADC3-D0CD8DE4AFA0}"/>
              </a:ext>
            </a:extLst>
          </p:cNvPr>
          <p:cNvSpPr>
            <a:spLocks xmlns:a="http://schemas.openxmlformats.org/drawingml/2006/main" noGrp="1"/>
          </p:cNvSpPr>
          <p:nvPr/>
        </p:nvSpPr>
        <p:spPr>
          <a:xfrm xmlns:a="http://schemas.openxmlformats.org/drawingml/2006/main">
            <a:off x="781050" y="2114550"/>
            <a:ext cx="638175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725">
                <a:solidFill>
                  <a:srgbClr val="F4F7FB"/>
                </a:solidFill>
                <a:latin typeface="Inter"/>
                <a:ea typeface="Inter"/>
                <a:cs typeface="Inter"/>
              </a:defRPr>
            </a:defPPr>
          </a:lstStyle>
          <a:p xmlns:a="http://schemas.openxmlformats.org/drawingml/2006/main">
            <a:pPr marL="241300" indent="-127000">
              <a:lnSpc>
                <a:spcPct val="105000"/>
              </a:lnSpc>
              <a:spcAft>
                <a:spcPts val="1300"/>
              </a:spcAft>
              <a:buNone/>
              <a:defRPr sz="1725">
                <a:solidFill>
                  <a:srgbClr val="F4F7FB"/>
                </a:solidFill>
                <a:latin typeface="Inter"/>
                <a:ea typeface="Inter"/>
                <a:cs typeface="Inter"/>
              </a:defRPr>
            </a:pPr>
            <a:r>
              <a:rPr sz="1725">
                <a:solidFill>
                  <a:srgbClr val="F4F7FB"/>
                </a:solidFill>
                <a:latin typeface="Inter"/>
                <a:ea typeface="Inter"/>
                <a:cs typeface="Inter"/>
              </a:rPr>
              <a:t>Generate legal moves from the current 3×3 GameState.</a:t>
            </a:r>
          </a:p>
          <a:p xmlns:a="http://schemas.openxmlformats.org/drawingml/2006/main">
            <a:pPr marL="241300" indent="-127000">
              <a:lnSpc>
                <a:spcPct val="105000"/>
              </a:lnSpc>
              <a:spcAft>
                <a:spcPts val="1300"/>
              </a:spcAft>
              <a:buNone/>
              <a:defRPr sz="1725">
                <a:solidFill>
                  <a:srgbClr val="F4F7FB"/>
                </a:solidFill>
                <a:latin typeface="Inter"/>
                <a:ea typeface="Inter"/>
                <a:cs typeface="Inter"/>
              </a:defRPr>
            </a:pPr>
            <a:r>
              <a:rPr sz="1725">
                <a:solidFill>
                  <a:srgbClr val="F4F7FB"/>
                </a:solidFill>
                <a:latin typeface="Inter"/>
                <a:ea typeface="Inter"/>
                <a:cs typeface="Inter"/>
              </a:rPr>
              <a:t>Search to depth 3 plies: White maximizes the score; Black minimizes it.</a:t>
            </a:r>
          </a:p>
          <a:p xmlns:a="http://schemas.openxmlformats.org/drawingml/2006/main">
            <a:pPr marL="241300" indent="-127000">
              <a:lnSpc>
                <a:spcPct val="105000"/>
              </a:lnSpc>
              <a:spcAft>
                <a:spcPts val="1300"/>
              </a:spcAft>
              <a:buNone/>
              <a:defRPr sz="1725">
                <a:solidFill>
                  <a:srgbClr val="F4F7FB"/>
                </a:solidFill>
                <a:latin typeface="Inter"/>
                <a:ea typeface="Inter"/>
                <a:cs typeface="Inter"/>
              </a:defRPr>
            </a:pPr>
            <a:r>
              <a:rPr sz="1725">
                <a:solidFill>
                  <a:srgbClr val="F4F7FB"/>
                </a:solidFill>
                <a:latin typeface="Inter"/>
                <a:ea typeface="Inter"/>
                <a:cs typeface="Inter"/>
              </a:rPr>
              <a:t>At leaves, evaluate material and mobility; use move scores to order candidates.</a:t>
            </a:r>
          </a:p>
          <a:p xmlns:a="http://schemas.openxmlformats.org/drawingml/2006/main">
            <a:pPr marL="241300" indent="-127000">
              <a:lnSpc>
                <a:spcPct val="105000"/>
              </a:lnSpc>
              <a:spcAft>
                <a:spcPts val="1300"/>
              </a:spcAft>
              <a:buNone/>
              <a:defRPr sz="1725">
                <a:solidFill>
                  <a:srgbClr val="F4F7FB"/>
                </a:solidFill>
                <a:latin typeface="Inter"/>
                <a:ea typeface="Inter"/>
                <a:cs typeface="Inter"/>
              </a:defRPr>
            </a:pPr>
            <a:r>
              <a:rPr sz="1725">
                <a:solidFill>
                  <a:srgbClr val="F4F7FB"/>
                </a:solidFill>
                <a:latin typeface="Inter"/>
                <a:ea typeface="Inter"/>
                <a:cs typeface="Inter"/>
              </a:rPr>
              <a:t>Alpha-beta bounds prune branches that cannot change the chosen result.</a:t>
            </a:r>
          </a:p>
        </p:txBody>
      </p:sp>
      <p:sp>
        <p:nvSpPr>
          <p:cNvPr id="6" name="">
            <a:extLst xmlns:a="http://schemas.openxmlformats.org/drawingml/2006/main">
              <a:ext uri="{FF2B5EF4-FFF2-40B4-BE49-F238E27FC236}">
                <a16:creationId xmlns:a16="http://schemas.microsoft.com/office/drawing/2014/main" id="{1C570B14-C902-475F-B8E2-5F0B254F1FF8}"/>
              </a:ext>
            </a:extLst>
          </p:cNvPr>
          <p:cNvSpPr>
            <a:spLocks xmlns:a="http://schemas.openxmlformats.org/drawingml/2006/main" noGrp="1"/>
          </p:cNvSpPr>
          <p:nvPr/>
        </p:nvSpPr>
        <p:spPr>
          <a:xfrm xmlns:a="http://schemas.openxmlformats.org/drawingml/2006/main">
            <a:off x="7620000" y="1695450"/>
            <a:ext cx="19050" cy="3667125"/>
          </a:xfrm>
          <a:prstGeom xmlns:a="http://schemas.openxmlformats.org/drawingml/2006/main" prst="rect">
            <a:avLst/>
          </a:prstGeom>
          <a:solidFill xmlns:a="http://schemas.openxmlformats.org/drawingml/2006/main">
            <a:srgbClr val="35486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95CA47D-0BCD-40FB-A76E-6694CA6FCF72}"/>
              </a:ext>
            </a:extLst>
          </p:cNvPr>
          <p:cNvSpPr>
            <a:spLocks xmlns:a="http://schemas.openxmlformats.org/drawingml/2006/main" noGrp="1"/>
          </p:cNvSpPr>
          <p:nvPr/>
        </p:nvSpPr>
        <p:spPr>
          <a:xfrm xmlns:a="http://schemas.openxmlformats.org/drawingml/2006/main">
            <a:off x="8058150" y="168592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2C66D"/>
                </a:solidFill>
                <a:latin typeface="Inter"/>
                <a:ea typeface="Inter"/>
                <a:cs typeface="Inter"/>
              </a:defRPr>
            </a:defPPr>
          </a:lstStyle>
          <a:p xmlns:a="http://schemas.openxmlformats.org/drawingml/2006/main">
            <a:pPr algn="l">
              <a:lnSpc>
                <a:spcPct val="108000"/>
              </a:lnSpc>
              <a:buNone/>
              <a:defRPr sz="1275" b="1" i="0">
                <a:solidFill>
                  <a:srgbClr val="F2C66D"/>
                </a:solidFill>
                <a:latin typeface="Inter"/>
                <a:ea typeface="Inter"/>
                <a:cs typeface="Inter"/>
              </a:defRPr>
            </a:pPr>
            <a:r>
              <a:rPr sz="1275" b="1" i="0">
                <a:solidFill>
                  <a:srgbClr val="F2C66D"/>
                </a:solidFill>
                <a:latin typeface="Inter"/>
                <a:ea typeface="Inter"/>
                <a:cs typeface="Inter"/>
              </a:rPr>
              <a:t>WHY MINIMAX HERE</a:t>
            </a:r>
          </a:p>
        </p:txBody>
      </p:sp>
      <p:sp>
        <p:nvSpPr>
          <p:cNvPr id="8" name="">
            <a:extLst xmlns:a="http://schemas.openxmlformats.org/drawingml/2006/main">
              <a:ext uri="{FF2B5EF4-FFF2-40B4-BE49-F238E27FC236}">
                <a16:creationId xmlns:a16="http://schemas.microsoft.com/office/drawing/2014/main" id="{0C5D15A9-63EB-4C2B-8602-B4653F9FE066}"/>
              </a:ext>
            </a:extLst>
          </p:cNvPr>
          <p:cNvSpPr>
            <a:spLocks xmlns:a="http://schemas.openxmlformats.org/drawingml/2006/main" noGrp="1"/>
          </p:cNvSpPr>
          <p:nvPr/>
        </p:nvSpPr>
        <p:spPr>
          <a:xfrm xmlns:a="http://schemas.openxmlformats.org/drawingml/2006/main">
            <a:off x="8058150" y="2114550"/>
            <a:ext cx="3333750"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575">
                <a:solidFill>
                  <a:srgbClr val="F4F7FB"/>
                </a:solidFill>
                <a:latin typeface="Inter"/>
                <a:ea typeface="Inter"/>
                <a:cs typeface="Inter"/>
              </a:defRPr>
            </a:defPPr>
          </a:lstStyle>
          <a:p xmlns:a="http://schemas.openxmlformats.org/drawingml/2006/main">
            <a:pPr marL="241300" indent="-127000">
              <a:lnSpc>
                <a:spcPct val="105000"/>
              </a:lnSpc>
              <a:spcAft>
                <a:spcPts val="1200"/>
              </a:spcAft>
              <a:buNone/>
              <a:defRPr sz="1575">
                <a:solidFill>
                  <a:srgbClr val="F4F7FB"/>
                </a:solidFill>
                <a:latin typeface="Inter"/>
                <a:ea typeface="Inter"/>
                <a:cs typeface="Inter"/>
              </a:defRPr>
            </a:pPr>
            <a:r>
              <a:rPr sz="1575">
                <a:solidFill>
                  <a:srgbClr val="F4F7FB"/>
                </a:solidFill>
                <a:latin typeface="Inter"/>
                <a:ea typeface="Inter"/>
                <a:cs typeface="Inter"/>
              </a:rPr>
              <a:t>Small board makes a shallow opponent-aware baseline understandable.</a:t>
            </a:r>
          </a:p>
          <a:p xmlns:a="http://schemas.openxmlformats.org/drawingml/2006/main">
            <a:pPr marL="241300" indent="-127000">
              <a:lnSpc>
                <a:spcPct val="105000"/>
              </a:lnSpc>
              <a:spcAft>
                <a:spcPts val="1200"/>
              </a:spcAft>
              <a:buNone/>
              <a:defRPr sz="1575">
                <a:solidFill>
                  <a:srgbClr val="F4F7FB"/>
                </a:solidFill>
                <a:latin typeface="Inter"/>
                <a:ea typeface="Inter"/>
                <a:cs typeface="Inter"/>
              </a:defRPr>
            </a:pPr>
            <a:r>
              <a:rPr sz="1575">
                <a:solidFill>
                  <a:srgbClr val="F4F7FB"/>
                </a:solidFill>
                <a:latin typeface="Inter"/>
                <a:ea typeface="Inter"/>
                <a:cs typeface="Inter"/>
              </a:rPr>
              <a:t>The same selector powers the 3×3 AI game and classical benchmark branch.</a:t>
            </a:r>
          </a:p>
          <a:p xmlns:a="http://schemas.openxmlformats.org/drawingml/2006/main">
            <a:pPr marL="241300" indent="-127000">
              <a:lnSpc>
                <a:spcPct val="105000"/>
              </a:lnSpc>
              <a:spcAft>
                <a:spcPts val="1200"/>
              </a:spcAft>
              <a:buNone/>
              <a:defRPr sz="1575">
                <a:solidFill>
                  <a:srgbClr val="F4F7FB"/>
                </a:solidFill>
                <a:latin typeface="Inter"/>
                <a:ea typeface="Inter"/>
                <a:cs typeface="Inter"/>
              </a:defRPr>
            </a:pPr>
            <a:r>
              <a:rPr sz="1575">
                <a:solidFill>
                  <a:srgbClr val="F4F7FB"/>
                </a:solidFill>
                <a:latin typeface="Inter"/>
                <a:ea typeface="Inter"/>
                <a:cs typeface="Inter"/>
              </a:rPr>
              <a:t>Hybrid Grover appears only in the comparison’s separate hybrid branch.</a:t>
            </a:r>
          </a:p>
        </p:txBody>
      </p:sp>
      <p:sp>
        <p:nvSpPr>
          <p:cNvPr id="9" name="">
            <a:extLst xmlns:a="http://schemas.openxmlformats.org/drawingml/2006/main">
              <a:ext uri="{FF2B5EF4-FFF2-40B4-BE49-F238E27FC236}">
                <a16:creationId xmlns:a16="http://schemas.microsoft.com/office/drawing/2014/main" id="{AAC40BAD-1393-49BC-B7A8-B7FB40C44568}"/>
              </a:ext>
            </a:extLst>
          </p:cNvPr>
          <p:cNvSpPr>
            <a:spLocks xmlns:a="http://schemas.openxmlformats.org/drawingml/2006/main" noGrp="1"/>
          </p:cNvSpPr>
          <p:nvPr/>
        </p:nvSpPr>
        <p:spPr>
          <a:xfrm xmlns:a="http://schemas.openxmlformats.org/drawingml/2006/main">
            <a:off x="800100" y="5943600"/>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B8C6D9"/>
                </a:solidFill>
                <a:latin typeface="JetBrains Mono"/>
                <a:ea typeface="JetBrains Mono"/>
                <a:cs typeface="JetBrains Mono"/>
              </a:defRPr>
            </a:defPPr>
          </a:lstStyle>
          <a:p xmlns:a="http://schemas.openxmlformats.org/drawingml/2006/main">
            <a:pPr algn="l">
              <a:lnSpc>
                <a:spcPct val="108000"/>
              </a:lnSpc>
              <a:buNone/>
              <a:defRPr sz="1425" b="0" i="0">
                <a:solidFill>
                  <a:srgbClr val="B8C6D9"/>
                </a:solidFill>
                <a:latin typeface="JetBrains Mono"/>
                <a:ea typeface="JetBrains Mono"/>
                <a:cs typeface="JetBrains Mono"/>
              </a:defRPr>
            </a:pPr>
            <a:r>
              <a:rPr sz="1425" b="0" i="0">
                <a:solidFill>
                  <a:srgbClr val="B8C6D9"/>
                </a:solidFill>
                <a:latin typeface="JetBrains Mono"/>
                <a:ea typeface="JetBrains Mono"/>
                <a:cs typeface="JetBrains Mono"/>
              </a:rPr>
              <a:t>Source route: main.py sets HybridEngine(use_quantum=False) for the 3×3 game.</a:t>
            </a:r>
          </a:p>
        </p:txBody>
      </p:sp>
    </p:spTree>
    <p:extLst>
      <p:ext uri="{BB962C8B-B14F-4D97-AF65-F5344CB8AC3E}">
        <p14:creationId xmlns:p14="http://schemas.microsoft.com/office/powerpoint/2010/main" val="1789290715"/>
      </p:ext>
    </p:extLst>
  </p:cSld>
</p:sld>
</file>

<file path=ppt/slides/slide12.xml><?xml version="1.0" encoding="utf-8"?>
<p:sld xmlns:p="http://schemas.openxmlformats.org/presentationml/2006/main">
  <p:cSld>
    <p:bg>
      <p:bgPr>
        <a:solidFill xmlns:a="http://schemas.openxmlformats.org/drawingml/2006/main">
          <a:srgbClr val="0B142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1099C1D-E121-4CDA-8B56-8BDE067F29FB}"/>
              </a:ext>
            </a:extLst>
          </p:cNvPr>
          <p:cNvSpPr>
            <a:spLocks xmlns:a="http://schemas.openxmlformats.org/drawingml/2006/main" noGrp="1"/>
          </p:cNvSpPr>
          <p:nvPr/>
        </p:nvSpPr>
        <p:spPr>
          <a:xfrm xmlns:a="http://schemas.openxmlformats.org/drawingml/2006/main">
            <a:off x="685800" y="4000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75" b="1" i="0">
                <a:solidFill>
                  <a:srgbClr val="F4F7FB"/>
                </a:solidFill>
                <a:latin typeface="Inter"/>
                <a:ea typeface="Inter"/>
                <a:cs typeface="Inter"/>
              </a:defRPr>
            </a:defPPr>
          </a:lstStyle>
          <a:p xmlns:a="http://schemas.openxmlformats.org/drawingml/2006/main">
            <a:pPr algn="l">
              <a:lnSpc>
                <a:spcPct val="108000"/>
              </a:lnSpc>
              <a:buNone/>
              <a:defRPr sz="2775" b="1" i="0">
                <a:solidFill>
                  <a:srgbClr val="F4F7FB"/>
                </a:solidFill>
                <a:latin typeface="Inter"/>
                <a:ea typeface="Inter"/>
                <a:cs typeface="Inter"/>
              </a:defRPr>
            </a:pPr>
            <a:r>
              <a:rPr sz="2775" b="1" i="0">
                <a:solidFill>
                  <a:srgbClr val="F4F7FB"/>
                </a:solidFill>
                <a:latin typeface="Inter"/>
                <a:ea typeface="Inter"/>
                <a:cs typeface="Inter"/>
              </a:rPr>
              <a:t>The 8×8 game adds Grover after classical scoring</a:t>
            </a:r>
          </a:p>
        </p:txBody>
      </p:sp>
      <p:sp>
        <p:nvSpPr>
          <p:cNvPr id="2" name="">
            <a:extLst xmlns:a="http://schemas.openxmlformats.org/drawingml/2006/main">
              <a:ext uri="{FF2B5EF4-FFF2-40B4-BE49-F238E27FC236}">
                <a16:creationId xmlns:a16="http://schemas.microsoft.com/office/drawing/2014/main" id="{85462A8D-7EFB-4F7C-BDCD-7E6691B4B862}"/>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62D6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90F043B-6C3F-4A34-BBA3-686DA4279349}"/>
              </a:ext>
            </a:extLst>
          </p:cNvPr>
          <p:cNvSpPr>
            <a:spLocks xmlns:a="http://schemas.openxmlformats.org/drawingml/2006/main" noGrp="1"/>
          </p:cNvSpPr>
          <p:nvPr/>
        </p:nvSpPr>
        <p:spPr>
          <a:xfrm xmlns:a="http://schemas.openxmlformats.org/drawingml/2006/main">
            <a:off x="704850" y="1162050"/>
            <a:ext cx="1078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B8C6D9"/>
                </a:solidFill>
                <a:latin typeface="Inter"/>
                <a:ea typeface="Inter"/>
                <a:cs typeface="Inter"/>
              </a:defRPr>
            </a:defPPr>
          </a:lstStyle>
          <a:p xmlns:a="http://schemas.openxmlformats.org/drawingml/2006/main">
            <a:pPr algn="l">
              <a:lnSpc>
                <a:spcPct val="108000"/>
              </a:lnSpc>
              <a:buNone/>
              <a:defRPr sz="1275" b="0" i="0">
                <a:solidFill>
                  <a:srgbClr val="B8C6D9"/>
                </a:solidFill>
                <a:latin typeface="Inter"/>
                <a:ea typeface="Inter"/>
                <a:cs typeface="Inter"/>
              </a:defRPr>
            </a:pPr>
            <a:r>
              <a:rPr sz="1275" b="0" i="0">
                <a:solidFill>
                  <a:srgbClr val="B8C6D9"/>
                </a:solidFill>
                <a:latin typeface="Inter"/>
                <a:ea typeface="Inter"/>
                <a:cs typeface="Inter"/>
              </a:rPr>
              <a:t>HybridEngine keeps the board and move update in the classical engine</a:t>
            </a:r>
          </a:p>
        </p:txBody>
      </p:sp>
      <p:graphicFrame>
        <p:nvGraphicFramePr>
          <p:cNvPr id="4" name="">
            <a:extLst xmlns:a="http://schemas.openxmlformats.org/drawingml/2006/main">
              <a:ext uri="{FF2B5EF4-FFF2-40B4-BE49-F238E27FC236}">
                <a16:creationId xmlns:a16="http://schemas.microsoft.com/office/drawing/2014/main" id="{7F93E910-36EE-4945-B226-65E3D39D8C4B}"/>
              </a:ext>
            </a:extLst>
          </p:cNvPr>
          <p:cNvGraphicFramePr/>
          <p:nvPr/>
        </p:nvGraphicFramePr>
        <p:xfrm>
          <a:off xmlns:a="http://schemas.openxmlformats.org/drawingml/2006/main" x="742950" y="1695450"/>
          <a:ext xmlns:a="http://schemas.openxmlformats.org/drawingml/2006/main" cx="10668000" cy="3495675"/>
        </p:xfrm>
        <a:graphic xmlns:a="http://schemas.openxmlformats.org/drawingml/2006/main">
          <a:graphicData uri="http://schemas.openxmlformats.org/drawingml/2006/table">
            <a:tbl>
              <a:tblPr/>
              <a:tblGrid>
                <a:gridCol w="2000250"/>
                <a:gridCol w="5476875"/>
                <a:gridCol w="3190875"/>
              </a:tblGrid>
              <a:tr h="699135">
                <a:tc>
                  <a:txBody>
                    <a:bodyPr/>
                    <a:lstStyle/>
                    <a:p>
                      <a:pPr algn="l"/>
                      <a:r>
                        <a:rPr sz="1425" b="1">
                          <a:solidFill>
                            <a:srgbClr val="F4F7FB"/>
                          </a:solidFill>
                          <a:latin typeface="Inter"/>
                          <a:ea typeface="Inter"/>
                          <a:cs typeface="Inter"/>
                        </a:rPr>
                        <a:t>Step</a:t>
                      </a:r>
                    </a:p>
                  </a:txBody>
                  <a:tcPr marL="95250" marR="95250" marT="47625" marB="47625" anchor="ctr">
                    <a:lnL w="9525">
                      <a:solidFill>
                        <a:srgbClr val="354861"/>
                      </a:solidFill>
                      <a:prstDash val="solid"/>
                    </a:lnL>
                    <a:lnR w="9525">
                      <a:solidFill>
                        <a:srgbClr val="354861"/>
                      </a:solidFill>
                      <a:prstDash val="solid"/>
                    </a:lnR>
                    <a:lnT w="9525">
                      <a:solidFill>
                        <a:srgbClr val="354861"/>
                      </a:solidFill>
                      <a:prstDash val="solid"/>
                    </a:lnT>
                    <a:lnB w="9525">
                      <a:solidFill>
                        <a:srgbClr val="354861"/>
                      </a:solidFill>
                      <a:prstDash val="solid"/>
                    </a:lnB>
                    <a:solidFill>
                      <a:srgbClr val="164153"/>
                    </a:solidFill>
                  </a:tcPr>
                </a:tc>
                <a:tc>
                  <a:txBody>
                    <a:bodyPr/>
                    <a:lstStyle/>
                    <a:p>
                      <a:pPr algn="l"/>
                      <a:r>
                        <a:rPr sz="1425" b="1">
                          <a:solidFill>
                            <a:srgbClr val="F4F7FB"/>
                          </a:solidFill>
                          <a:latin typeface="Inter"/>
                          <a:ea typeface="Inter"/>
                          <a:cs typeface="Inter"/>
                        </a:rPr>
                        <a:t>8×8 implementation</a:t>
                      </a:r>
                    </a:p>
                  </a:txBody>
                  <a:tcPr marL="95250" marR="95250" marT="47625" marB="47625" anchor="ctr">
                    <a:lnR w="9525">
                      <a:solidFill>
                        <a:srgbClr val="354861"/>
                      </a:solidFill>
                      <a:prstDash val="solid"/>
                    </a:lnR>
                    <a:lnT w="9525">
                      <a:solidFill>
                        <a:srgbClr val="354861"/>
                      </a:solidFill>
                      <a:prstDash val="solid"/>
                    </a:lnT>
                    <a:lnB w="9525">
                      <a:solidFill>
                        <a:srgbClr val="354861"/>
                      </a:solidFill>
                      <a:prstDash val="solid"/>
                    </a:lnB>
                    <a:solidFill>
                      <a:srgbClr val="164153"/>
                    </a:solidFill>
                  </a:tcPr>
                </a:tc>
                <a:tc>
                  <a:txBody>
                    <a:bodyPr/>
                    <a:lstStyle/>
                    <a:p>
                      <a:pPr algn="l"/>
                      <a:r>
                        <a:rPr sz="1425" b="1">
                          <a:solidFill>
                            <a:srgbClr val="F4F7FB"/>
                          </a:solidFill>
                          <a:latin typeface="Inter"/>
                          <a:ea typeface="Inter"/>
                          <a:cs typeface="Inter"/>
                        </a:rPr>
                        <a:t>What it achieves</a:t>
                      </a:r>
                    </a:p>
                  </a:txBody>
                  <a:tcPr marL="95250" marR="95250" marT="47625" marB="47625" anchor="ctr">
                    <a:lnR w="9525">
                      <a:solidFill>
                        <a:srgbClr val="354861"/>
                      </a:solidFill>
                      <a:prstDash val="solid"/>
                    </a:lnR>
                    <a:lnT w="9525">
                      <a:solidFill>
                        <a:srgbClr val="354861"/>
                      </a:solidFill>
                      <a:prstDash val="solid"/>
                    </a:lnT>
                    <a:lnB w="9525">
                      <a:solidFill>
                        <a:srgbClr val="354861"/>
                      </a:solidFill>
                      <a:prstDash val="solid"/>
                    </a:lnB>
                    <a:solidFill>
                      <a:srgbClr val="164153"/>
                    </a:solidFill>
                  </a:tcPr>
                </a:tc>
              </a:tr>
              <a:tr h="699135">
                <a:tc>
                  <a:txBody>
                    <a:bodyPr/>
                    <a:lstStyle/>
                    <a:p>
                      <a:pPr algn="l"/>
                      <a:r>
                        <a:rPr sz="1425">
                          <a:solidFill>
                            <a:srgbClr val="F4F7FB"/>
                          </a:solidFill>
                          <a:latin typeface="Inter"/>
                          <a:ea typeface="Inter"/>
                          <a:cs typeface="Inter"/>
                        </a:rPr>
                        <a:t>1 · Legal moves</a:t>
                      </a:r>
                    </a:p>
                  </a:txBody>
                  <a:tcPr marL="95250" marR="95250" marT="47625" marB="47625" anchor="ctr">
                    <a:lnL w="9525">
                      <a:solidFill>
                        <a:srgbClr val="354861"/>
                      </a:solidFill>
                      <a:prstDash val="solid"/>
                    </a:lnL>
                    <a:lnR w="9525">
                      <a:solidFill>
                        <a:srgbClr val="354861"/>
                      </a:solidFill>
                      <a:prstDash val="solid"/>
                    </a:lnR>
                    <a:lnB w="9525">
                      <a:solidFill>
                        <a:srgbClr val="354861"/>
                      </a:solidFill>
                      <a:prstDash val="solid"/>
                    </a:lnB>
                    <a:solidFill>
                      <a:srgbClr val="13243D"/>
                    </a:solidFill>
                  </a:tcPr>
                </a:tc>
                <a:tc>
                  <a:txBody>
                    <a:bodyPr/>
                    <a:lstStyle/>
                    <a:p>
                      <a:pPr algn="l"/>
                      <a:r>
                        <a:rPr sz="1425">
                          <a:solidFill>
                            <a:srgbClr val="F4F7FB"/>
                          </a:solidFill>
                          <a:latin typeface="Inter"/>
                          <a:ea typeface="Inter"/>
                          <a:cs typeface="Inter"/>
                        </a:rPr>
                        <a:t>MoveGenerator creates candidates from the current board.</a:t>
                      </a:r>
                    </a:p>
                  </a:txBody>
                  <a:tcPr marL="95250" marR="95250" marT="47625" marB="47625" anchor="ctr">
                    <a:lnR w="9525">
                      <a:solidFill>
                        <a:srgbClr val="354861"/>
                      </a:solidFill>
                      <a:prstDash val="solid"/>
                    </a:lnR>
                    <a:lnB w="9525">
                      <a:solidFill>
                        <a:srgbClr val="354861"/>
                      </a:solidFill>
                      <a:prstDash val="solid"/>
                    </a:lnB>
                    <a:solidFill>
                      <a:srgbClr val="13243D"/>
                    </a:solidFill>
                  </a:tcPr>
                </a:tc>
                <a:tc>
                  <a:txBody>
                    <a:bodyPr/>
                    <a:lstStyle/>
                    <a:p>
                      <a:pPr algn="l"/>
                      <a:r>
                        <a:rPr sz="1425">
                          <a:solidFill>
                            <a:srgbClr val="F4F7FB"/>
                          </a:solidFill>
                          <a:latin typeface="Inter"/>
                          <a:ea typeface="Inter"/>
                          <a:cs typeface="Inter"/>
                        </a:rPr>
                        <a:t>Preserves classical rule checks.</a:t>
                      </a:r>
                    </a:p>
                  </a:txBody>
                  <a:tcPr marL="95250" marR="95250" marT="47625" marB="47625" anchor="ctr">
                    <a:lnR w="9525">
                      <a:solidFill>
                        <a:srgbClr val="354861"/>
                      </a:solidFill>
                      <a:prstDash val="solid"/>
                    </a:lnR>
                    <a:lnB w="9525">
                      <a:solidFill>
                        <a:srgbClr val="354861"/>
                      </a:solidFill>
                      <a:prstDash val="solid"/>
                    </a:lnB>
                    <a:solidFill>
                      <a:srgbClr val="13243D"/>
                    </a:solidFill>
                  </a:tcPr>
                </a:tc>
              </a:tr>
              <a:tr h="699135">
                <a:tc>
                  <a:txBody>
                    <a:bodyPr/>
                    <a:lstStyle/>
                    <a:p>
                      <a:pPr algn="l"/>
                      <a:r>
                        <a:rPr sz="1425">
                          <a:solidFill>
                            <a:srgbClr val="F4F7FB"/>
                          </a:solidFill>
                          <a:latin typeface="Inter"/>
                          <a:ea typeface="Inter"/>
                          <a:cs typeface="Inter"/>
                        </a:rPr>
                        <a:t>2 · Heuristic</a:t>
                      </a:r>
                    </a:p>
                  </a:txBody>
                  <a:tcPr marL="95250" marR="95250" marT="47625" marB="47625" anchor="ctr">
                    <a:lnL w="9525">
                      <a:solidFill>
                        <a:srgbClr val="354861"/>
                      </a:solidFill>
                      <a:prstDash val="solid"/>
                    </a:lnL>
                    <a:lnR w="9525">
                      <a:solidFill>
                        <a:srgbClr val="354861"/>
                      </a:solidFill>
                      <a:prstDash val="solid"/>
                    </a:lnR>
                    <a:lnB w="9525">
                      <a:solidFill>
                        <a:srgbClr val="354861"/>
                      </a:solidFill>
                      <a:prstDash val="solid"/>
                    </a:lnB>
                    <a:solidFill>
                      <a:srgbClr val="0E1B30"/>
                    </a:solidFill>
                  </a:tcPr>
                </a:tc>
                <a:tc>
                  <a:txBody>
                    <a:bodyPr/>
                    <a:lstStyle/>
                    <a:p>
                      <a:pPr algn="l"/>
                      <a:r>
                        <a:rPr sz="1425">
                          <a:solidFill>
                            <a:srgbClr val="F4F7FB"/>
                          </a:solidFill>
                          <a:latin typeface="Inter"/>
                          <a:ea typeface="Inter"/>
                          <a:cs typeface="Inter"/>
                        </a:rPr>
                        <a:t>Python scores captures, pawn progress, and central control.</a:t>
                      </a:r>
                    </a:p>
                  </a:txBody>
                  <a:tcPr marL="95250" marR="95250" marT="47625" marB="47625" anchor="ctr">
                    <a:lnR w="9525">
                      <a:solidFill>
                        <a:srgbClr val="354861"/>
                      </a:solidFill>
                      <a:prstDash val="solid"/>
                    </a:lnR>
                    <a:lnB w="9525">
                      <a:solidFill>
                        <a:srgbClr val="354861"/>
                      </a:solidFill>
                      <a:prstDash val="solid"/>
                    </a:lnB>
                    <a:solidFill>
                      <a:srgbClr val="0E1B30"/>
                    </a:solidFill>
                  </a:tcPr>
                </a:tc>
                <a:tc>
                  <a:txBody>
                    <a:bodyPr/>
                    <a:lstStyle/>
                    <a:p>
                      <a:pPr algn="l"/>
                      <a:r>
                        <a:rPr sz="1425">
                          <a:solidFill>
                            <a:srgbClr val="F4F7FB"/>
                          </a:solidFill>
                          <a:latin typeface="Inter"/>
                          <a:ea typeface="Inter"/>
                          <a:cs typeface="Inter"/>
                        </a:rPr>
                        <a:t>Supplies the target set: indices tied for the highest score.</a:t>
                      </a:r>
                    </a:p>
                  </a:txBody>
                  <a:tcPr marL="95250" marR="95250" marT="47625" marB="47625" anchor="ctr">
                    <a:lnR w="9525">
                      <a:solidFill>
                        <a:srgbClr val="354861"/>
                      </a:solidFill>
                      <a:prstDash val="solid"/>
                    </a:lnR>
                    <a:lnB w="9525">
                      <a:solidFill>
                        <a:srgbClr val="354861"/>
                      </a:solidFill>
                      <a:prstDash val="solid"/>
                    </a:lnB>
                    <a:solidFill>
                      <a:srgbClr val="0E1B30"/>
                    </a:solidFill>
                  </a:tcPr>
                </a:tc>
              </a:tr>
              <a:tr h="699135">
                <a:tc>
                  <a:txBody>
                    <a:bodyPr/>
                    <a:lstStyle/>
                    <a:p>
                      <a:pPr algn="l"/>
                      <a:r>
                        <a:rPr sz="1425">
                          <a:solidFill>
                            <a:srgbClr val="F4F7FB"/>
                          </a:solidFill>
                          <a:latin typeface="Inter"/>
                          <a:ea typeface="Inter"/>
                          <a:cs typeface="Inter"/>
                        </a:rPr>
                        <a:t>3 · Grover index search</a:t>
                      </a:r>
                    </a:p>
                  </a:txBody>
                  <a:tcPr marL="95250" marR="95250" marT="47625" marB="47625" anchor="ctr">
                    <a:lnL w="9525">
                      <a:solidFill>
                        <a:srgbClr val="354861"/>
                      </a:solidFill>
                      <a:prstDash val="solid"/>
                    </a:lnL>
                    <a:lnR w="9525">
                      <a:solidFill>
                        <a:srgbClr val="354861"/>
                      </a:solidFill>
                      <a:prstDash val="solid"/>
                    </a:lnR>
                    <a:lnB w="9525">
                      <a:solidFill>
                        <a:srgbClr val="354861"/>
                      </a:solidFill>
                      <a:prstDash val="solid"/>
                    </a:lnB>
                    <a:solidFill>
                      <a:srgbClr val="13243D"/>
                    </a:solidFill>
                  </a:tcPr>
                </a:tc>
                <a:tc>
                  <a:txBody>
                    <a:bodyPr/>
                    <a:lstStyle/>
                    <a:p>
                      <a:pPr algn="l"/>
                      <a:r>
                        <a:rPr sz="1425">
                          <a:solidFill>
                            <a:srgbClr val="F4F7FB"/>
                          </a:solidFill>
                          <a:latin typeface="Inter"/>
                          <a:ea typeface="Inter"/>
                          <a:cs typeface="Inter"/>
                        </a:rPr>
                        <a:t>A compact move register, phase-kickback oracle, and diffuser run in Aer.</a:t>
                      </a:r>
                    </a:p>
                  </a:txBody>
                  <a:tcPr marL="95250" marR="95250" marT="47625" marB="47625" anchor="ctr">
                    <a:lnR w="9525">
                      <a:solidFill>
                        <a:srgbClr val="354861"/>
                      </a:solidFill>
                      <a:prstDash val="solid"/>
                    </a:lnR>
                    <a:lnB w="9525">
                      <a:solidFill>
                        <a:srgbClr val="354861"/>
                      </a:solidFill>
                      <a:prstDash val="solid"/>
                    </a:lnB>
                    <a:solidFill>
                      <a:srgbClr val="13243D"/>
                    </a:solidFill>
                  </a:tcPr>
                </a:tc>
                <a:tc>
                  <a:txBody>
                    <a:bodyPr/>
                    <a:lstStyle/>
                    <a:p>
                      <a:pPr algn="l"/>
                      <a:r>
                        <a:rPr sz="1425">
                          <a:solidFill>
                            <a:srgbClr val="F4F7FB"/>
                          </a:solidFill>
                          <a:latin typeface="Inter"/>
                          <a:ea typeface="Inter"/>
                          <a:cs typeface="Inter"/>
                        </a:rPr>
                        <a:t>Samples a high-scoring list index, not a board square or game tree.</a:t>
                      </a:r>
                    </a:p>
                  </a:txBody>
                  <a:tcPr marL="95250" marR="95250" marT="47625" marB="47625" anchor="ctr">
                    <a:lnR w="9525">
                      <a:solidFill>
                        <a:srgbClr val="354861"/>
                      </a:solidFill>
                      <a:prstDash val="solid"/>
                    </a:lnR>
                    <a:lnB w="9525">
                      <a:solidFill>
                        <a:srgbClr val="354861"/>
                      </a:solidFill>
                      <a:prstDash val="solid"/>
                    </a:lnB>
                    <a:solidFill>
                      <a:srgbClr val="13243D"/>
                    </a:solidFill>
                  </a:tcPr>
                </a:tc>
              </a:tr>
              <a:tr h="699135">
                <a:tc>
                  <a:txBody>
                    <a:bodyPr/>
                    <a:lstStyle/>
                    <a:p>
                      <a:pPr algn="l"/>
                      <a:r>
                        <a:rPr sz="1425">
                          <a:solidFill>
                            <a:srgbClr val="F4F7FB"/>
                          </a:solidFill>
                          <a:latin typeface="Inter"/>
                          <a:ea typeface="Inter"/>
                          <a:cs typeface="Inter"/>
                        </a:rPr>
                        <a:t>4 · Decode and apply</a:t>
                      </a:r>
                    </a:p>
                  </a:txBody>
                  <a:tcPr marL="95250" marR="95250" marT="47625" marB="47625" anchor="ctr">
                    <a:lnL w="9525">
                      <a:solidFill>
                        <a:srgbClr val="354861"/>
                      </a:solidFill>
                      <a:prstDash val="solid"/>
                    </a:lnL>
                    <a:lnR w="9525">
                      <a:solidFill>
                        <a:srgbClr val="354861"/>
                      </a:solidFill>
                      <a:prstDash val="solid"/>
                    </a:lnR>
                    <a:lnB w="9525">
                      <a:solidFill>
                        <a:srgbClr val="354861"/>
                      </a:solidFill>
                      <a:prstDash val="solid"/>
                    </a:lnB>
                    <a:solidFill>
                      <a:srgbClr val="0E1B30"/>
                    </a:solidFill>
                  </a:tcPr>
                </a:tc>
                <a:tc>
                  <a:txBody>
                    <a:bodyPr/>
                    <a:lstStyle/>
                    <a:p>
                      <a:pPr algn="l"/>
                      <a:r>
                        <a:rPr sz="1425">
                          <a:solidFill>
                            <a:srgbClr val="F4F7FB"/>
                          </a:solidFill>
                          <a:latin typeface="Inter"/>
                          <a:ea typeface="Inter"/>
                          <a:cs typeface="Inter"/>
                        </a:rPr>
                        <a:t>Decode the bit string; validate the candidate; fallback to depth-3 Minimax if needed.</a:t>
                      </a:r>
                    </a:p>
                  </a:txBody>
                  <a:tcPr marL="95250" marR="95250" marT="47625" marB="47625" anchor="ctr">
                    <a:lnR w="9525">
                      <a:solidFill>
                        <a:srgbClr val="354861"/>
                      </a:solidFill>
                      <a:prstDash val="solid"/>
                    </a:lnR>
                    <a:lnB w="9525">
                      <a:solidFill>
                        <a:srgbClr val="354861"/>
                      </a:solidFill>
                      <a:prstDash val="solid"/>
                    </a:lnB>
                    <a:solidFill>
                      <a:srgbClr val="0E1B30"/>
                    </a:solidFill>
                  </a:tcPr>
                </a:tc>
                <a:tc>
                  <a:txBody>
                    <a:bodyPr/>
                    <a:lstStyle/>
                    <a:p>
                      <a:pPr algn="l"/>
                      <a:r>
                        <a:rPr sz="1425">
                          <a:solidFill>
                            <a:srgbClr val="F4F7FB"/>
                          </a:solidFill>
                          <a:latin typeface="Inter"/>
                          <a:ea typeface="Inter"/>
                          <a:cs typeface="Inter"/>
                        </a:rPr>
                        <a:t>Return a Move for classical Game.make_move.</a:t>
                      </a:r>
                    </a:p>
                  </a:txBody>
                  <a:tcPr marL="95250" marR="95250" marT="47625" marB="47625" anchor="ctr">
                    <a:lnR w="9525">
                      <a:solidFill>
                        <a:srgbClr val="354861"/>
                      </a:solidFill>
                      <a:prstDash val="solid"/>
                    </a:lnR>
                    <a:lnB w="9525">
                      <a:solidFill>
                        <a:srgbClr val="354861"/>
                      </a:solidFill>
                      <a:prstDash val="solid"/>
                    </a:lnB>
                    <a:solidFill>
                      <a:srgbClr val="0E1B30"/>
                    </a:solidFill>
                  </a:tcPr>
                </a:tc>
              </a:tr>
            </a:tbl>
          </a:graphicData>
        </a:graphic>
      </p:graphicFrame>
      <p:sp>
        <p:nvSpPr>
          <p:cNvPr id="5" name="">
            <a:extLst xmlns:a="http://schemas.openxmlformats.org/drawingml/2006/main">
              <a:ext uri="{FF2B5EF4-FFF2-40B4-BE49-F238E27FC236}">
                <a16:creationId xmlns:a16="http://schemas.microsoft.com/office/drawing/2014/main" id="{BCFF2DEE-89E9-4D92-884A-70839D33FDB2}"/>
              </a:ext>
            </a:extLst>
          </p:cNvPr>
          <p:cNvSpPr>
            <a:spLocks xmlns:a="http://schemas.openxmlformats.org/drawingml/2006/main" noGrp="1"/>
          </p:cNvSpPr>
          <p:nvPr/>
        </p:nvSpPr>
        <p:spPr>
          <a:xfrm xmlns:a="http://schemas.openxmlformats.org/drawingml/2006/main">
            <a:off x="781050" y="5619750"/>
            <a:ext cx="1057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i="0">
                <a:solidFill>
                  <a:srgbClr val="F2C66D"/>
                </a:solidFill>
                <a:latin typeface="Inter"/>
                <a:ea typeface="Inter"/>
                <a:cs typeface="Inter"/>
              </a:defRPr>
            </a:defPPr>
          </a:lstStyle>
          <a:p xmlns:a="http://schemas.openxmlformats.org/drawingml/2006/main">
            <a:pPr algn="l">
              <a:lnSpc>
                <a:spcPct val="108000"/>
              </a:lnSpc>
              <a:buNone/>
              <a:defRPr sz="1575" b="1" i="0">
                <a:solidFill>
                  <a:srgbClr val="F2C66D"/>
                </a:solidFill>
                <a:latin typeface="Inter"/>
                <a:ea typeface="Inter"/>
                <a:cs typeface="Inter"/>
              </a:defRPr>
            </a:pPr>
            <a:r>
              <a:rPr sz="1575" b="1" i="0">
                <a:solidFill>
                  <a:srgbClr val="F2C66D"/>
                </a:solidFill>
                <a:latin typeface="Inter"/>
                <a:ea typeface="Inter"/>
                <a:cs typeface="Inter"/>
              </a:rPr>
              <a:t>The 8×8 game does not run the separate 33-qubit coordinate/status diagram as its move-selection circuit.</a:t>
            </a:r>
          </a:p>
        </p:txBody>
      </p:sp>
    </p:spTree>
    <p:extLst>
      <p:ext uri="{BB962C8B-B14F-4D97-AF65-F5344CB8AC3E}">
        <p14:creationId xmlns:p14="http://schemas.microsoft.com/office/powerpoint/2010/main" val="149816018"/>
      </p:ext>
    </p:extLst>
  </p:cSld>
</p:sld>
</file>

<file path=ppt/slides/slide13.xml><?xml version="1.0" encoding="utf-8"?>
<p:sld xmlns:p="http://schemas.openxmlformats.org/presentationml/2006/main">
  <p:cSld>
    <p:bg>
      <p:bgPr>
        <a:solidFill xmlns:a="http://schemas.openxmlformats.org/drawingml/2006/main">
          <a:srgbClr val="0B142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F9CDD68-E64A-4CFB-B290-4AA07B450943}"/>
              </a:ext>
            </a:extLst>
          </p:cNvPr>
          <p:cNvSpPr>
            <a:spLocks xmlns:a="http://schemas.openxmlformats.org/drawingml/2006/main" noGrp="1"/>
          </p:cNvSpPr>
          <p:nvPr/>
        </p:nvSpPr>
        <p:spPr>
          <a:xfrm xmlns:a="http://schemas.openxmlformats.org/drawingml/2006/main">
            <a:off x="685800" y="4000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75" b="1" i="0">
                <a:solidFill>
                  <a:srgbClr val="F4F7FB"/>
                </a:solidFill>
                <a:latin typeface="Inter"/>
                <a:ea typeface="Inter"/>
                <a:cs typeface="Inter"/>
              </a:defRPr>
            </a:defPPr>
          </a:lstStyle>
          <a:p xmlns:a="http://schemas.openxmlformats.org/drawingml/2006/main">
            <a:pPr algn="l">
              <a:lnSpc>
                <a:spcPct val="108000"/>
              </a:lnSpc>
              <a:buNone/>
              <a:defRPr sz="2775" b="1" i="0">
                <a:solidFill>
                  <a:srgbClr val="F4F7FB"/>
                </a:solidFill>
                <a:latin typeface="Inter"/>
                <a:ea typeface="Inter"/>
                <a:cs typeface="Inter"/>
              </a:defRPr>
            </a:pPr>
            <a:r>
              <a:rPr sz="2775" b="1" i="0">
                <a:solidFill>
                  <a:srgbClr val="F4F7FB"/>
                </a:solidFill>
                <a:latin typeface="Inter"/>
                <a:ea typeface="Inter"/>
                <a:cs typeface="Inter"/>
              </a:rPr>
              <a:t>The checked-in benchmark is slower on the simulator paths</a:t>
            </a:r>
          </a:p>
        </p:txBody>
      </p:sp>
      <p:sp>
        <p:nvSpPr>
          <p:cNvPr id="2" name="">
            <a:extLst xmlns:a="http://schemas.openxmlformats.org/drawingml/2006/main">
              <a:ext uri="{FF2B5EF4-FFF2-40B4-BE49-F238E27FC236}">
                <a16:creationId xmlns:a16="http://schemas.microsoft.com/office/drawing/2014/main" id="{F682DF92-6DB4-4595-8399-0853C68EF0DE}"/>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62D6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F646D8F-E841-41CB-A376-1FB8A86FBEE1}"/>
              </a:ext>
            </a:extLst>
          </p:cNvPr>
          <p:cNvSpPr>
            <a:spLocks xmlns:a="http://schemas.openxmlformats.org/drawingml/2006/main" noGrp="1"/>
          </p:cNvSpPr>
          <p:nvPr/>
        </p:nvSpPr>
        <p:spPr>
          <a:xfrm xmlns:a="http://schemas.openxmlformats.org/drawingml/2006/main">
            <a:off x="704850" y="1162050"/>
            <a:ext cx="1078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B8C6D9"/>
                </a:solidFill>
                <a:latin typeface="Inter"/>
                <a:ea typeface="Inter"/>
                <a:cs typeface="Inter"/>
              </a:defRPr>
            </a:defPPr>
          </a:lstStyle>
          <a:p xmlns:a="http://schemas.openxmlformats.org/drawingml/2006/main">
            <a:pPr algn="l">
              <a:lnSpc>
                <a:spcPct val="108000"/>
              </a:lnSpc>
              <a:buNone/>
              <a:defRPr sz="1275" b="0" i="0">
                <a:solidFill>
                  <a:srgbClr val="B8C6D9"/>
                </a:solidFill>
                <a:latin typeface="Inter"/>
                <a:ea typeface="Inter"/>
                <a:cs typeface="Inter"/>
              </a:defRPr>
            </a:pPr>
            <a:r>
              <a:rPr sz="1275" b="0" i="0">
                <a:solidFill>
                  <a:srgbClr val="B8C6D9"/>
                </a:solidFill>
                <a:latin typeface="Inter"/>
                <a:ea typeface="Inter"/>
                <a:cs typeface="Inter"/>
              </a:rPr>
              <a:t>Four seeded 3×3 positions · average local runtime and circuit resources</a:t>
            </a:r>
          </a:p>
        </p:txBody>
      </p:sp>
      <p:pic>
        <p:nvPicPr>
          <p:cNvPr id="4" name="">
            <a:extLst xmlns:a="http://schemas.openxmlformats.org/drawingml/2006/main">
              <a:ext uri="{FF2B5EF4-FFF2-40B4-BE49-F238E27FC236}">
                <a16:creationId xmlns:a16="http://schemas.microsoft.com/office/drawing/2014/main" id="{64778E79-9946-4626-A349-319BA04B8C55}"/>
              </a:ext>
            </a:extLst>
          </p:cNvPr>
          <p:cNvPicPr>
            <a:picLocks xmlns:a="http://schemas.openxmlformats.org/drawingml/2006/main" noChangeAspect="1"/>
          </p:cNvPicPr>
          <p:nvPr/>
        </p:nvPicPr>
        <p:blipFill>
          <a:blip xmlns:r="http://schemas.openxmlformats.org/officeDocument/2006/relationships" xmlns:a="http://schemas.openxmlformats.org/drawingml/2006/main" r:embed="R8f5f83c9b5124627"/>
          <a:stretch xmlns:a="http://schemas.openxmlformats.org/drawingml/2006/main"/>
        </p:blipFill>
        <p:spPr>
          <a:xfrm xmlns:a="http://schemas.openxmlformats.org/drawingml/2006/main">
            <a:off x="781050" y="1625335"/>
            <a:ext cx="10648950" cy="3845454"/>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457692A-E917-4CEC-B5EF-D6179F66E2AF}"/>
              </a:ext>
            </a:extLst>
          </p:cNvPr>
          <p:cNvSpPr>
            <a:spLocks xmlns:a="http://schemas.openxmlformats.org/drawingml/2006/main" noGrp="1"/>
          </p:cNvSpPr>
          <p:nvPr/>
        </p:nvSpPr>
        <p:spPr>
          <a:xfrm xmlns:a="http://schemas.openxmlformats.org/drawingml/2006/main">
            <a:off x="876300" y="5715000"/>
            <a:ext cx="10458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i="0">
                <a:solidFill>
                  <a:srgbClr val="62D6C7"/>
                </a:solidFill>
                <a:latin typeface="Inter"/>
                <a:ea typeface="Inter"/>
                <a:cs typeface="Inter"/>
              </a:defRPr>
            </a:defPPr>
          </a:lstStyle>
          <a:p xmlns:a="http://schemas.openxmlformats.org/drawingml/2006/main">
            <a:pPr algn="l">
              <a:lnSpc>
                <a:spcPct val="108000"/>
              </a:lnSpc>
              <a:buNone/>
              <a:defRPr sz="1725" b="1" i="0">
                <a:solidFill>
                  <a:srgbClr val="62D6C7"/>
                </a:solidFill>
                <a:latin typeface="Inter"/>
                <a:ea typeface="Inter"/>
                <a:cs typeface="Inter"/>
              </a:defRPr>
            </a:pPr>
            <a:r>
              <a:rPr sz="1725" b="1" i="0">
                <a:solidFill>
                  <a:srgbClr val="62D6C7"/>
                </a:solidFill>
                <a:latin typeface="Inter"/>
                <a:ea typeface="Inter"/>
                <a:cs typeface="Inter"/>
              </a:rPr>
              <a:t>Classical selector  1.19 ms     Pure circuit  95.81 ms     Hybrid search  71.74 ms</a:t>
            </a:r>
          </a:p>
        </p:txBody>
      </p:sp>
    </p:spTree>
    <p:extLst>
      <p:ext uri="{BB962C8B-B14F-4D97-AF65-F5344CB8AC3E}">
        <p14:creationId xmlns:p14="http://schemas.microsoft.com/office/powerpoint/2010/main" val="1866060058"/>
      </p:ext>
    </p:extLst>
  </p:cSld>
</p:sld>
</file>

<file path=ppt/slides/slide14.xml><?xml version="1.0" encoding="utf-8"?>
<p:sld xmlns:p="http://schemas.openxmlformats.org/presentationml/2006/main">
  <p:cSld>
    <p:bg>
      <p:bgPr>
        <a:solidFill xmlns:a="http://schemas.openxmlformats.org/drawingml/2006/main">
          <a:srgbClr val="0B142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662BC2B-345C-48F1-829A-46647CC5EA4B}"/>
              </a:ext>
            </a:extLst>
          </p:cNvPr>
          <p:cNvSpPr>
            <a:spLocks xmlns:a="http://schemas.openxmlformats.org/drawingml/2006/main" noGrp="1"/>
          </p:cNvSpPr>
          <p:nvPr/>
        </p:nvSpPr>
        <p:spPr>
          <a:xfrm xmlns:a="http://schemas.openxmlformats.org/drawingml/2006/main">
            <a:off x="685800" y="4000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75" b="1" i="0">
                <a:solidFill>
                  <a:srgbClr val="F4F7FB"/>
                </a:solidFill>
                <a:latin typeface="Inter"/>
                <a:ea typeface="Inter"/>
                <a:cs typeface="Inter"/>
              </a:defRPr>
            </a:defPPr>
          </a:lstStyle>
          <a:p xmlns:a="http://schemas.openxmlformats.org/drawingml/2006/main">
            <a:pPr algn="l">
              <a:lnSpc>
                <a:spcPct val="108000"/>
              </a:lnSpc>
              <a:buNone/>
              <a:defRPr sz="2775" b="1" i="0">
                <a:solidFill>
                  <a:srgbClr val="F4F7FB"/>
                </a:solidFill>
                <a:latin typeface="Inter"/>
                <a:ea typeface="Inter"/>
                <a:cs typeface="Inter"/>
              </a:defRPr>
            </a:pPr>
            <a:r>
              <a:rPr sz="2775" b="1" i="0">
                <a:solidFill>
                  <a:srgbClr val="F4F7FB"/>
                </a:solidFill>
                <a:latin typeface="Inter"/>
                <a:ea typeface="Inter"/>
                <a:cs typeface="Inter"/>
              </a:rPr>
              <a:t>The three result rows measure different workloads</a:t>
            </a:r>
          </a:p>
        </p:txBody>
      </p:sp>
      <p:sp>
        <p:nvSpPr>
          <p:cNvPr id="2" name="">
            <a:extLst xmlns:a="http://schemas.openxmlformats.org/drawingml/2006/main">
              <a:ext uri="{FF2B5EF4-FFF2-40B4-BE49-F238E27FC236}">
                <a16:creationId xmlns:a16="http://schemas.microsoft.com/office/drawing/2014/main" id="{88B615E0-2235-4B17-87A9-C9BCB1C624E3}"/>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62D6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E155E60-709E-421F-ACD6-08053E1FEEF2}"/>
              </a:ext>
            </a:extLst>
          </p:cNvPr>
          <p:cNvSpPr>
            <a:spLocks xmlns:a="http://schemas.openxmlformats.org/drawingml/2006/main" noGrp="1"/>
          </p:cNvSpPr>
          <p:nvPr/>
        </p:nvSpPr>
        <p:spPr>
          <a:xfrm xmlns:a="http://schemas.openxmlformats.org/drawingml/2006/main">
            <a:off x="704850" y="1162050"/>
            <a:ext cx="1078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B8C6D9"/>
                </a:solidFill>
                <a:latin typeface="Inter"/>
                <a:ea typeface="Inter"/>
                <a:cs typeface="Inter"/>
              </a:defRPr>
            </a:defPPr>
          </a:lstStyle>
          <a:p xmlns:a="http://schemas.openxmlformats.org/drawingml/2006/main">
            <a:pPr algn="l">
              <a:lnSpc>
                <a:spcPct val="108000"/>
              </a:lnSpc>
              <a:buNone/>
              <a:defRPr sz="1275" b="0" i="0">
                <a:solidFill>
                  <a:srgbClr val="B8C6D9"/>
                </a:solidFill>
                <a:latin typeface="Inter"/>
                <a:ea typeface="Inter"/>
                <a:cs typeface="Inter"/>
              </a:defRPr>
            </a:pPr>
            <a:r>
              <a:rPr sz="1275" b="0" i="0">
                <a:solidFill>
                  <a:srgbClr val="B8C6D9"/>
                </a:solidFill>
                <a:latin typeface="Inter"/>
                <a:ea typeface="Inter"/>
                <a:cs typeface="Inter"/>
              </a:rPr>
              <a:t>Use the values to describe implementation cost, not to claim a speedup</a:t>
            </a:r>
          </a:p>
        </p:txBody>
      </p:sp>
      <p:graphicFrame>
        <p:nvGraphicFramePr>
          <p:cNvPr id="4" name="">
            <a:extLst xmlns:a="http://schemas.openxmlformats.org/drawingml/2006/main">
              <a:ext uri="{FF2B5EF4-FFF2-40B4-BE49-F238E27FC236}">
                <a16:creationId xmlns:a16="http://schemas.microsoft.com/office/drawing/2014/main" id="{FC429FAF-627C-4ABD-984B-F76D18C80884}"/>
              </a:ext>
            </a:extLst>
          </p:cNvPr>
          <p:cNvGraphicFramePr/>
          <p:nvPr/>
        </p:nvGraphicFramePr>
        <p:xfrm>
          <a:off xmlns:a="http://schemas.openxmlformats.org/drawingml/2006/main" x="704850" y="1685925"/>
          <a:ext xmlns:a="http://schemas.openxmlformats.org/drawingml/2006/main" cx="10801350" cy="3105150"/>
        </p:xfrm>
        <a:graphic xmlns:a="http://schemas.openxmlformats.org/drawingml/2006/main">
          <a:graphicData uri="http://schemas.openxmlformats.org/drawingml/2006/table">
            <a:tbl>
              <a:tblPr/>
              <a:tblGrid>
                <a:gridCol w="1952625"/>
                <a:gridCol w="4238625"/>
                <a:gridCol w="1809750"/>
                <a:gridCol w="2800350"/>
              </a:tblGrid>
              <a:tr h="776288">
                <a:tc>
                  <a:txBody>
                    <a:bodyPr/>
                    <a:lstStyle/>
                    <a:p>
                      <a:pPr algn="l"/>
                      <a:r>
                        <a:rPr sz="1275" b="1">
                          <a:solidFill>
                            <a:srgbClr val="F4F7FB"/>
                          </a:solidFill>
                          <a:latin typeface="Inter"/>
                          <a:ea typeface="Inter"/>
                          <a:cs typeface="Inter"/>
                        </a:rPr>
                        <a:t>System</a:t>
                      </a:r>
                    </a:p>
                  </a:txBody>
                  <a:tcPr marL="95250" marR="95250" marT="47625" marB="47625" anchor="ctr">
                    <a:lnL w="9525">
                      <a:solidFill>
                        <a:srgbClr val="354861"/>
                      </a:solidFill>
                      <a:prstDash val="solid"/>
                    </a:lnL>
                    <a:lnR w="9525">
                      <a:solidFill>
                        <a:srgbClr val="354861"/>
                      </a:solidFill>
                      <a:prstDash val="solid"/>
                    </a:lnR>
                    <a:lnT w="9525">
                      <a:solidFill>
                        <a:srgbClr val="354861"/>
                      </a:solidFill>
                      <a:prstDash val="solid"/>
                    </a:lnT>
                    <a:lnB w="9525">
                      <a:solidFill>
                        <a:srgbClr val="354861"/>
                      </a:solidFill>
                      <a:prstDash val="solid"/>
                    </a:lnB>
                    <a:solidFill>
                      <a:srgbClr val="164153"/>
                    </a:solidFill>
                  </a:tcPr>
                </a:tc>
                <a:tc>
                  <a:txBody>
                    <a:bodyPr/>
                    <a:lstStyle/>
                    <a:p>
                      <a:pPr algn="l"/>
                      <a:r>
                        <a:rPr sz="1275" b="1">
                          <a:solidFill>
                            <a:srgbClr val="F4F7FB"/>
                          </a:solidFill>
                          <a:latin typeface="Inter"/>
                          <a:ea typeface="Inter"/>
                          <a:cs typeface="Inter"/>
                        </a:rPr>
                        <a:t>Measured work</a:t>
                      </a:r>
                    </a:p>
                  </a:txBody>
                  <a:tcPr marL="95250" marR="95250" marT="47625" marB="47625" anchor="ctr">
                    <a:lnR w="9525">
                      <a:solidFill>
                        <a:srgbClr val="354861"/>
                      </a:solidFill>
                      <a:prstDash val="solid"/>
                    </a:lnR>
                    <a:lnT w="9525">
                      <a:solidFill>
                        <a:srgbClr val="354861"/>
                      </a:solidFill>
                      <a:prstDash val="solid"/>
                    </a:lnT>
                    <a:lnB w="9525">
                      <a:solidFill>
                        <a:srgbClr val="354861"/>
                      </a:solidFill>
                      <a:prstDash val="solid"/>
                    </a:lnB>
                    <a:solidFill>
                      <a:srgbClr val="164153"/>
                    </a:solidFill>
                  </a:tcPr>
                </a:tc>
                <a:tc>
                  <a:txBody>
                    <a:bodyPr/>
                    <a:lstStyle/>
                    <a:p>
                      <a:pPr algn="l"/>
                      <a:r>
                        <a:rPr sz="1275" b="1">
                          <a:solidFill>
                            <a:srgbClr val="F4F7FB"/>
                          </a:solidFill>
                          <a:latin typeface="Inter"/>
                          <a:ea typeface="Inter"/>
                          <a:cs typeface="Inter"/>
                        </a:rPr>
                        <a:t>Avg. time</a:t>
                      </a:r>
                    </a:p>
                  </a:txBody>
                  <a:tcPr marL="95250" marR="95250" marT="47625" marB="47625" anchor="ctr">
                    <a:lnR w="9525">
                      <a:solidFill>
                        <a:srgbClr val="354861"/>
                      </a:solidFill>
                      <a:prstDash val="solid"/>
                    </a:lnR>
                    <a:lnT w="9525">
                      <a:solidFill>
                        <a:srgbClr val="354861"/>
                      </a:solidFill>
                      <a:prstDash val="solid"/>
                    </a:lnT>
                    <a:lnB w="9525">
                      <a:solidFill>
                        <a:srgbClr val="354861"/>
                      </a:solidFill>
                      <a:prstDash val="solid"/>
                    </a:lnB>
                    <a:solidFill>
                      <a:srgbClr val="164153"/>
                    </a:solidFill>
                  </a:tcPr>
                </a:tc>
                <a:tc>
                  <a:txBody>
                    <a:bodyPr/>
                    <a:lstStyle/>
                    <a:p>
                      <a:pPr algn="l"/>
                      <a:r>
                        <a:rPr sz="1275" b="1">
                          <a:solidFill>
                            <a:srgbClr val="F4F7FB"/>
                          </a:solidFill>
                          <a:latin typeface="Inter"/>
                          <a:ea typeface="Inter"/>
                          <a:cs typeface="Inter"/>
                        </a:rPr>
                        <a:t>Circuit resources</a:t>
                      </a:r>
                    </a:p>
                  </a:txBody>
                  <a:tcPr marL="95250" marR="95250" marT="47625" marB="47625" anchor="ctr">
                    <a:lnR w="9525">
                      <a:solidFill>
                        <a:srgbClr val="354861"/>
                      </a:solidFill>
                      <a:prstDash val="solid"/>
                    </a:lnR>
                    <a:lnT w="9525">
                      <a:solidFill>
                        <a:srgbClr val="354861"/>
                      </a:solidFill>
                      <a:prstDash val="solid"/>
                    </a:lnT>
                    <a:lnB w="9525">
                      <a:solidFill>
                        <a:srgbClr val="354861"/>
                      </a:solidFill>
                      <a:prstDash val="solid"/>
                    </a:lnB>
                    <a:solidFill>
                      <a:srgbClr val="164153"/>
                    </a:solidFill>
                  </a:tcPr>
                </a:tc>
              </a:tr>
              <a:tr h="776288">
                <a:tc>
                  <a:txBody>
                    <a:bodyPr/>
                    <a:lstStyle/>
                    <a:p>
                      <a:pPr algn="l"/>
                      <a:r>
                        <a:rPr sz="1275">
                          <a:solidFill>
                            <a:srgbClr val="F4F7FB"/>
                          </a:solidFill>
                          <a:latin typeface="Inter"/>
                          <a:ea typeface="Inter"/>
                          <a:cs typeface="Inter"/>
                        </a:rPr>
                        <a:t>3×3 classical</a:t>
                      </a:r>
                    </a:p>
                  </a:txBody>
                  <a:tcPr marL="95250" marR="95250" marT="47625" marB="47625" anchor="ctr">
                    <a:lnL w="9525">
                      <a:solidFill>
                        <a:srgbClr val="354861"/>
                      </a:solidFill>
                      <a:prstDash val="solid"/>
                    </a:lnL>
                    <a:lnR w="9525">
                      <a:solidFill>
                        <a:srgbClr val="354861"/>
                      </a:solidFill>
                      <a:prstDash val="solid"/>
                    </a:lnR>
                    <a:lnB w="9525">
                      <a:solidFill>
                        <a:srgbClr val="354861"/>
                      </a:solidFill>
                      <a:prstDash val="solid"/>
                    </a:lnB>
                    <a:solidFill>
                      <a:srgbClr val="13243D"/>
                    </a:solidFill>
                  </a:tcPr>
                </a:tc>
                <a:tc>
                  <a:txBody>
                    <a:bodyPr/>
                    <a:lstStyle/>
                    <a:p>
                      <a:pPr algn="l"/>
                      <a:r>
                        <a:rPr sz="1275">
                          <a:solidFill>
                            <a:srgbClr val="F4F7FB"/>
                          </a:solidFill>
                          <a:latin typeface="Inter"/>
                          <a:ea typeface="Inter"/>
                          <a:cs typeface="Inter"/>
                        </a:rPr>
                        <a:t>Depth-3 Minimax move selection</a:t>
                      </a:r>
                    </a:p>
                  </a:txBody>
                  <a:tcPr marL="95250" marR="95250" marT="47625" marB="47625" anchor="ctr">
                    <a:lnR w="9525">
                      <a:solidFill>
                        <a:srgbClr val="354861"/>
                      </a:solidFill>
                      <a:prstDash val="solid"/>
                    </a:lnR>
                    <a:lnB w="9525">
                      <a:solidFill>
                        <a:srgbClr val="354861"/>
                      </a:solidFill>
                      <a:prstDash val="solid"/>
                    </a:lnB>
                    <a:solidFill>
                      <a:srgbClr val="13243D"/>
                    </a:solidFill>
                  </a:tcPr>
                </a:tc>
                <a:tc>
                  <a:txBody>
                    <a:bodyPr/>
                    <a:lstStyle/>
                    <a:p>
                      <a:pPr algn="l"/>
                      <a:r>
                        <a:rPr sz="1275">
                          <a:solidFill>
                            <a:srgbClr val="F4F7FB"/>
                          </a:solidFill>
                          <a:latin typeface="Inter"/>
                          <a:ea typeface="Inter"/>
                          <a:cs typeface="Inter"/>
                        </a:rPr>
                        <a:t>1.19 ms</a:t>
                      </a:r>
                    </a:p>
                  </a:txBody>
                  <a:tcPr marL="95250" marR="95250" marT="47625" marB="47625" anchor="ctr">
                    <a:lnR w="9525">
                      <a:solidFill>
                        <a:srgbClr val="354861"/>
                      </a:solidFill>
                      <a:prstDash val="solid"/>
                    </a:lnR>
                    <a:lnB w="9525">
                      <a:solidFill>
                        <a:srgbClr val="354861"/>
                      </a:solidFill>
                      <a:prstDash val="solid"/>
                    </a:lnB>
                    <a:solidFill>
                      <a:srgbClr val="13243D"/>
                    </a:solidFill>
                  </a:tcPr>
                </a:tc>
                <a:tc>
                  <a:txBody>
                    <a:bodyPr/>
                    <a:lstStyle/>
                    <a:p>
                      <a:pPr algn="l"/>
                      <a:r>
                        <a:rPr sz="1275">
                          <a:solidFill>
                            <a:srgbClr val="F4F7FB"/>
                          </a:solidFill>
                          <a:latin typeface="Inter"/>
                          <a:ea typeface="Inter"/>
                          <a:cs typeface="Inter"/>
                        </a:rPr>
                        <a:t>No quantum circuit</a:t>
                      </a:r>
                    </a:p>
                  </a:txBody>
                  <a:tcPr marL="95250" marR="95250" marT="47625" marB="47625" anchor="ctr">
                    <a:lnR w="9525">
                      <a:solidFill>
                        <a:srgbClr val="354861"/>
                      </a:solidFill>
                      <a:prstDash val="solid"/>
                    </a:lnR>
                    <a:lnB w="9525">
                      <a:solidFill>
                        <a:srgbClr val="354861"/>
                      </a:solidFill>
                      <a:prstDash val="solid"/>
                    </a:lnB>
                    <a:solidFill>
                      <a:srgbClr val="13243D"/>
                    </a:solidFill>
                  </a:tcPr>
                </a:tc>
              </a:tr>
              <a:tr h="776288">
                <a:tc>
                  <a:txBody>
                    <a:bodyPr/>
                    <a:lstStyle/>
                    <a:p>
                      <a:pPr algn="l"/>
                      <a:r>
                        <a:rPr sz="1275">
                          <a:solidFill>
                            <a:srgbClr val="F4F7FB"/>
                          </a:solidFill>
                          <a:latin typeface="Inter"/>
                          <a:ea typeface="Inter"/>
                          <a:cs typeface="Inter"/>
                        </a:rPr>
                        <a:t>3×3 pure circuit</a:t>
                      </a:r>
                    </a:p>
                  </a:txBody>
                  <a:tcPr marL="95250" marR="95250" marT="47625" marB="47625" anchor="ctr">
                    <a:lnL w="9525">
                      <a:solidFill>
                        <a:srgbClr val="354861"/>
                      </a:solidFill>
                      <a:prstDash val="solid"/>
                    </a:lnL>
                    <a:lnR w="9525">
                      <a:solidFill>
                        <a:srgbClr val="354861"/>
                      </a:solidFill>
                      <a:prstDash val="solid"/>
                    </a:lnR>
                    <a:lnB w="9525">
                      <a:solidFill>
                        <a:srgbClr val="354861"/>
                      </a:solidFill>
                      <a:prstDash val="solid"/>
                    </a:lnB>
                    <a:solidFill>
                      <a:srgbClr val="0E1B30"/>
                    </a:solidFill>
                  </a:tcPr>
                </a:tc>
                <a:tc>
                  <a:txBody>
                    <a:bodyPr/>
                    <a:lstStyle/>
                    <a:p>
                      <a:pPr algn="l"/>
                      <a:r>
                        <a:rPr sz="1275">
                          <a:solidFill>
                            <a:srgbClr val="F4F7FB"/>
                          </a:solidFill>
                          <a:latin typeface="Inter"/>
                          <a:ea typeface="Inter"/>
                          <a:cs typeface="Inter"/>
                        </a:rPr>
                        <a:t>Build + simulate a circuit for a fixed legal move</a:t>
                      </a:r>
                    </a:p>
                  </a:txBody>
                  <a:tcPr marL="95250" marR="95250" marT="47625" marB="47625" anchor="ctr">
                    <a:lnR w="9525">
                      <a:solidFill>
                        <a:srgbClr val="354861"/>
                      </a:solidFill>
                      <a:prstDash val="solid"/>
                    </a:lnR>
                    <a:lnB w="9525">
                      <a:solidFill>
                        <a:srgbClr val="354861"/>
                      </a:solidFill>
                      <a:prstDash val="solid"/>
                    </a:lnB>
                    <a:solidFill>
                      <a:srgbClr val="0E1B30"/>
                    </a:solidFill>
                  </a:tcPr>
                </a:tc>
                <a:tc>
                  <a:txBody>
                    <a:bodyPr/>
                    <a:lstStyle/>
                    <a:p>
                      <a:pPr algn="l"/>
                      <a:r>
                        <a:rPr sz="1275">
                          <a:solidFill>
                            <a:srgbClr val="F4F7FB"/>
                          </a:solidFill>
                          <a:latin typeface="Inter"/>
                          <a:ea typeface="Inter"/>
                          <a:cs typeface="Inter"/>
                        </a:rPr>
                        <a:t>95.81 ms</a:t>
                      </a:r>
                    </a:p>
                  </a:txBody>
                  <a:tcPr marL="95250" marR="95250" marT="47625" marB="47625" anchor="ctr">
                    <a:lnR w="9525">
                      <a:solidFill>
                        <a:srgbClr val="354861"/>
                      </a:solidFill>
                      <a:prstDash val="solid"/>
                    </a:lnR>
                    <a:lnB w="9525">
                      <a:solidFill>
                        <a:srgbClr val="354861"/>
                      </a:solidFill>
                      <a:prstDash val="solid"/>
                    </a:lnB>
                    <a:solidFill>
                      <a:srgbClr val="0E1B30"/>
                    </a:solidFill>
                  </a:tcPr>
                </a:tc>
                <a:tc>
                  <a:txBody>
                    <a:bodyPr/>
                    <a:lstStyle/>
                    <a:p>
                      <a:pPr algn="l"/>
                      <a:r>
                        <a:rPr sz="1275">
                          <a:solidFill>
                            <a:srgbClr val="F4F7FB"/>
                          </a:solidFill>
                          <a:latin typeface="Inter"/>
                          <a:ea typeface="Inter"/>
                          <a:cs typeface="Inter"/>
                        </a:rPr>
                        <a:t>23 qubits · 102 gates · depth 32.25</a:t>
                      </a:r>
                    </a:p>
                  </a:txBody>
                  <a:tcPr marL="95250" marR="95250" marT="47625" marB="47625" anchor="ctr">
                    <a:lnR w="9525">
                      <a:solidFill>
                        <a:srgbClr val="354861"/>
                      </a:solidFill>
                      <a:prstDash val="solid"/>
                    </a:lnR>
                    <a:lnB w="9525">
                      <a:solidFill>
                        <a:srgbClr val="354861"/>
                      </a:solidFill>
                      <a:prstDash val="solid"/>
                    </a:lnB>
                    <a:solidFill>
                      <a:srgbClr val="0E1B30"/>
                    </a:solidFill>
                  </a:tcPr>
                </a:tc>
              </a:tr>
              <a:tr h="776288">
                <a:tc>
                  <a:txBody>
                    <a:bodyPr/>
                    <a:lstStyle/>
                    <a:p>
                      <a:pPr algn="l"/>
                      <a:r>
                        <a:rPr sz="1275">
                          <a:solidFill>
                            <a:srgbClr val="F4F7FB"/>
                          </a:solidFill>
                          <a:latin typeface="Inter"/>
                          <a:ea typeface="Inter"/>
                          <a:cs typeface="Inter"/>
                        </a:rPr>
                        <a:t>3×3 hybrid</a:t>
                      </a:r>
                    </a:p>
                  </a:txBody>
                  <a:tcPr marL="95250" marR="95250" marT="47625" marB="47625" anchor="ctr">
                    <a:lnL w="9525">
                      <a:solidFill>
                        <a:srgbClr val="354861"/>
                      </a:solidFill>
                      <a:prstDash val="solid"/>
                    </a:lnL>
                    <a:lnR w="9525">
                      <a:solidFill>
                        <a:srgbClr val="354861"/>
                      </a:solidFill>
                      <a:prstDash val="solid"/>
                    </a:lnR>
                    <a:lnB w="9525">
                      <a:solidFill>
                        <a:srgbClr val="354861"/>
                      </a:solidFill>
                      <a:prstDash val="solid"/>
                    </a:lnB>
                    <a:solidFill>
                      <a:srgbClr val="13243D"/>
                    </a:solidFill>
                  </a:tcPr>
                </a:tc>
                <a:tc>
                  <a:txBody>
                    <a:bodyPr/>
                    <a:lstStyle/>
                    <a:p>
                      <a:pPr algn="l"/>
                      <a:r>
                        <a:rPr sz="1275">
                          <a:solidFill>
                            <a:srgbClr val="F4F7FB"/>
                          </a:solidFill>
                          <a:latin typeface="Inter"/>
                          <a:ea typeface="Inter"/>
                          <a:cs typeface="Inter"/>
                        </a:rPr>
                        <a:t>Classical score + Grover index circuit + Aer sampling</a:t>
                      </a:r>
                    </a:p>
                  </a:txBody>
                  <a:tcPr marL="95250" marR="95250" marT="47625" marB="47625" anchor="ctr">
                    <a:lnR w="9525">
                      <a:solidFill>
                        <a:srgbClr val="354861"/>
                      </a:solidFill>
                      <a:prstDash val="solid"/>
                    </a:lnR>
                    <a:lnB w="9525">
                      <a:solidFill>
                        <a:srgbClr val="354861"/>
                      </a:solidFill>
                      <a:prstDash val="solid"/>
                    </a:lnB>
                    <a:solidFill>
                      <a:srgbClr val="13243D"/>
                    </a:solidFill>
                  </a:tcPr>
                </a:tc>
                <a:tc>
                  <a:txBody>
                    <a:bodyPr/>
                    <a:lstStyle/>
                    <a:p>
                      <a:pPr algn="l"/>
                      <a:r>
                        <a:rPr sz="1275">
                          <a:solidFill>
                            <a:srgbClr val="F4F7FB"/>
                          </a:solidFill>
                          <a:latin typeface="Inter"/>
                          <a:ea typeface="Inter"/>
                          <a:cs typeface="Inter"/>
                        </a:rPr>
                        <a:t>71.74 ms</a:t>
                      </a:r>
                    </a:p>
                  </a:txBody>
                  <a:tcPr marL="95250" marR="95250" marT="47625" marB="47625" anchor="ctr">
                    <a:lnR w="9525">
                      <a:solidFill>
                        <a:srgbClr val="354861"/>
                      </a:solidFill>
                      <a:prstDash val="solid"/>
                    </a:lnR>
                    <a:lnB w="9525">
                      <a:solidFill>
                        <a:srgbClr val="354861"/>
                      </a:solidFill>
                      <a:prstDash val="solid"/>
                    </a:lnB>
                    <a:solidFill>
                      <a:srgbClr val="13243D"/>
                    </a:solidFill>
                  </a:tcPr>
                </a:tc>
                <a:tc>
                  <a:txBody>
                    <a:bodyPr/>
                    <a:lstStyle/>
                    <a:p>
                      <a:pPr algn="l"/>
                      <a:r>
                        <a:rPr sz="1275">
                          <a:solidFill>
                            <a:srgbClr val="F4F7FB"/>
                          </a:solidFill>
                          <a:latin typeface="Inter"/>
                          <a:ea typeface="Inter"/>
                          <a:cs typeface="Inter"/>
                        </a:rPr>
                        <a:t>2.25 qubits · 13.75 gates · depth 10.25</a:t>
                      </a:r>
                    </a:p>
                  </a:txBody>
                  <a:tcPr marL="95250" marR="95250" marT="47625" marB="47625" anchor="ctr">
                    <a:lnR w="9525">
                      <a:solidFill>
                        <a:srgbClr val="354861"/>
                      </a:solidFill>
                      <a:prstDash val="solid"/>
                    </a:lnR>
                    <a:lnB w="9525">
                      <a:solidFill>
                        <a:srgbClr val="354861"/>
                      </a:solidFill>
                      <a:prstDash val="solid"/>
                    </a:lnB>
                    <a:solidFill>
                      <a:srgbClr val="13243D"/>
                    </a:solidFill>
                  </a:tcPr>
                </a:tc>
              </a:tr>
            </a:tbl>
          </a:graphicData>
        </a:graphic>
      </p:graphicFrame>
      <p:sp>
        <p:nvSpPr>
          <p:cNvPr id="5" name="">
            <a:extLst xmlns:a="http://schemas.openxmlformats.org/drawingml/2006/main">
              <a:ext uri="{FF2B5EF4-FFF2-40B4-BE49-F238E27FC236}">
                <a16:creationId xmlns:a16="http://schemas.microsoft.com/office/drawing/2014/main" id="{1DADB581-B93B-4134-9531-D099CD9CEB3C}"/>
              </a:ext>
            </a:extLst>
          </p:cNvPr>
          <p:cNvSpPr>
            <a:spLocks xmlns:a="http://schemas.openxmlformats.org/drawingml/2006/main" noGrp="1"/>
          </p:cNvSpPr>
          <p:nvPr/>
        </p:nvSpPr>
        <p:spPr>
          <a:xfrm xmlns:a="http://schemas.openxmlformats.org/drawingml/2006/main">
            <a:off x="819150" y="5057775"/>
            <a:ext cx="10525125" cy="1362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350">
                <a:solidFill>
                  <a:srgbClr val="F4F7FB"/>
                </a:solidFill>
                <a:latin typeface="Inter"/>
                <a:ea typeface="Inter"/>
                <a:cs typeface="Inter"/>
              </a:defRPr>
            </a:defPPr>
          </a:lstStyle>
          <a:p xmlns:a="http://schemas.openxmlformats.org/drawingml/2006/main">
            <a:pPr marL="241300" indent="-127000">
              <a:lnSpc>
                <a:spcPct val="105000"/>
              </a:lnSpc>
              <a:spcAft>
                <a:spcPts val="400"/>
              </a:spcAft>
              <a:buNone/>
              <a:defRPr sz="1350">
                <a:solidFill>
                  <a:srgbClr val="F4F7FB"/>
                </a:solidFill>
                <a:latin typeface="Inter"/>
                <a:ea typeface="Inter"/>
                <a:cs typeface="Inter"/>
              </a:defRPr>
            </a:pPr>
            <a:r>
              <a:rPr sz="1350">
                <a:solidFill>
                  <a:srgbClr val="F4F7FB"/>
                </a:solidFill>
                <a:latin typeface="Inter"/>
                <a:ea typeface="Inter"/>
                <a:cs typeface="Inter"/>
              </a:rPr>
              <a:t>The pure circuit has more wires and gates, so its simulator cost is high for this tiny move list.</a:t>
            </a:r>
          </a:p>
          <a:p xmlns:a="http://schemas.openxmlformats.org/drawingml/2006/main">
            <a:pPr marL="241300" indent="-127000">
              <a:lnSpc>
                <a:spcPct val="105000"/>
              </a:lnSpc>
              <a:spcAft>
                <a:spcPts val="400"/>
              </a:spcAft>
              <a:buNone/>
              <a:defRPr sz="1350">
                <a:solidFill>
                  <a:srgbClr val="F4F7FB"/>
                </a:solidFill>
                <a:latin typeface="Inter"/>
                <a:ea typeface="Inter"/>
                <a:cs typeface="Inter"/>
              </a:defRPr>
            </a:pPr>
            <a:r>
              <a:rPr sz="1350">
                <a:solidFill>
                  <a:srgbClr val="F4F7FB"/>
                </a:solidFill>
                <a:latin typeface="Inter"/>
                <a:ea typeface="Inter"/>
                <a:cs typeface="Inter"/>
              </a:rPr>
              <a:t>Grover’s index circuit is smaller, but circuit building and shot sampling still cost more than classical selection at about two candidates.</a:t>
            </a:r>
          </a:p>
          <a:p xmlns:a="http://schemas.openxmlformats.org/drawingml/2006/main">
            <a:pPr marL="241300" indent="-127000">
              <a:lnSpc>
                <a:spcPct val="105000"/>
              </a:lnSpc>
              <a:spcAft>
                <a:spcPts val="400"/>
              </a:spcAft>
              <a:buNone/>
              <a:defRPr sz="1350">
                <a:solidFill>
                  <a:srgbClr val="F4F7FB"/>
                </a:solidFill>
                <a:latin typeface="Inter"/>
                <a:ea typeface="Inter"/>
                <a:cs typeface="Inter"/>
              </a:defRPr>
            </a:pPr>
            <a:r>
              <a:rPr sz="1350">
                <a:solidFill>
                  <a:srgbClr val="F4F7FB"/>
                </a:solidFill>
                <a:latin typeface="Inter"/>
                <a:ea typeface="Inter"/>
                <a:cs typeface="Inter"/>
              </a:rPr>
              <a:t>The branches do not select moves in identical ways; the result does not measure move quality, real hardware, or quantum advantage.</a:t>
            </a:r>
          </a:p>
        </p:txBody>
      </p:sp>
    </p:spTree>
    <p:extLst>
      <p:ext uri="{BB962C8B-B14F-4D97-AF65-F5344CB8AC3E}">
        <p14:creationId xmlns:p14="http://schemas.microsoft.com/office/powerpoint/2010/main" val="521081841"/>
      </p:ext>
    </p:extLst>
  </p:cSld>
</p:sld>
</file>

<file path=ppt/slides/slide15.xml><?xml version="1.0" encoding="utf-8"?>
<p:sld xmlns:p="http://schemas.openxmlformats.org/presentationml/2006/main">
  <p:cSld>
    <p:bg>
      <p:bgPr>
        <a:solidFill xmlns:a="http://schemas.openxmlformats.org/drawingml/2006/main">
          <a:srgbClr val="0B142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61078BD-8AE8-4B2C-A7FE-8F8EE1A5C094}"/>
              </a:ext>
            </a:extLst>
          </p:cNvPr>
          <p:cNvSpPr>
            <a:spLocks xmlns:a="http://schemas.openxmlformats.org/drawingml/2006/main" noGrp="1"/>
          </p:cNvSpPr>
          <p:nvPr/>
        </p:nvSpPr>
        <p:spPr>
          <a:xfrm xmlns:a="http://schemas.openxmlformats.org/drawingml/2006/main">
            <a:off x="685800" y="4000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75" b="1" i="0">
                <a:solidFill>
                  <a:srgbClr val="F4F7FB"/>
                </a:solidFill>
                <a:latin typeface="Inter"/>
                <a:ea typeface="Inter"/>
                <a:cs typeface="Inter"/>
              </a:defRPr>
            </a:defPPr>
          </a:lstStyle>
          <a:p xmlns:a="http://schemas.openxmlformats.org/drawingml/2006/main">
            <a:pPr algn="l">
              <a:lnSpc>
                <a:spcPct val="108000"/>
              </a:lnSpc>
              <a:buNone/>
              <a:defRPr sz="2775" b="1" i="0">
                <a:solidFill>
                  <a:srgbClr val="F4F7FB"/>
                </a:solidFill>
                <a:latin typeface="Inter"/>
                <a:ea typeface="Inter"/>
                <a:cs typeface="Inter"/>
              </a:defRPr>
            </a:pPr>
            <a:r>
              <a:rPr sz="2775" b="1" i="0">
                <a:solidFill>
                  <a:srgbClr val="F4F7FB"/>
                </a:solidFill>
                <a:latin typeface="Inter"/>
                <a:ea typeface="Inter"/>
                <a:cs typeface="Inter"/>
              </a:rPr>
              <a:t>Simulator settings explain what each measurement means</a:t>
            </a:r>
          </a:p>
        </p:txBody>
      </p:sp>
      <p:sp>
        <p:nvSpPr>
          <p:cNvPr id="2" name="">
            <a:extLst xmlns:a="http://schemas.openxmlformats.org/drawingml/2006/main">
              <a:ext uri="{FF2B5EF4-FFF2-40B4-BE49-F238E27FC236}">
                <a16:creationId xmlns:a16="http://schemas.microsoft.com/office/drawing/2014/main" id="{39C59225-A76F-4EE4-8631-502B6B722527}"/>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62D6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12082BA-DB42-4067-A3E8-B01D9D8A1058}"/>
              </a:ext>
            </a:extLst>
          </p:cNvPr>
          <p:cNvSpPr>
            <a:spLocks xmlns:a="http://schemas.openxmlformats.org/drawingml/2006/main" noGrp="1"/>
          </p:cNvSpPr>
          <p:nvPr/>
        </p:nvSpPr>
        <p:spPr>
          <a:xfrm xmlns:a="http://schemas.openxmlformats.org/drawingml/2006/main">
            <a:off x="704850" y="1162050"/>
            <a:ext cx="1078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B8C6D9"/>
                </a:solidFill>
                <a:latin typeface="Inter"/>
                <a:ea typeface="Inter"/>
                <a:cs typeface="Inter"/>
              </a:defRPr>
            </a:defPPr>
          </a:lstStyle>
          <a:p xmlns:a="http://schemas.openxmlformats.org/drawingml/2006/main">
            <a:pPr algn="l">
              <a:lnSpc>
                <a:spcPct val="108000"/>
              </a:lnSpc>
              <a:buNone/>
              <a:defRPr sz="1275" b="0" i="0">
                <a:solidFill>
                  <a:srgbClr val="B8C6D9"/>
                </a:solidFill>
                <a:latin typeface="Inter"/>
                <a:ea typeface="Inter"/>
                <a:cs typeface="Inter"/>
              </a:defRPr>
            </a:pPr>
            <a:r>
              <a:rPr sz="1275" b="0" i="0">
                <a:solidFill>
                  <a:srgbClr val="B8C6D9"/>
                </a:solidFill>
                <a:latin typeface="Inter"/>
                <a:ea typeface="Inter"/>
                <a:cs typeface="Inter"/>
              </a:rPr>
              <a:t>Terminology used in the code and how to state it during the presentation</a:t>
            </a:r>
          </a:p>
        </p:txBody>
      </p:sp>
      <p:graphicFrame>
        <p:nvGraphicFramePr>
          <p:cNvPr id="4" name="">
            <a:extLst xmlns:a="http://schemas.openxmlformats.org/drawingml/2006/main">
              <a:ext uri="{FF2B5EF4-FFF2-40B4-BE49-F238E27FC236}">
                <a16:creationId xmlns:a16="http://schemas.microsoft.com/office/drawing/2014/main" id="{85F5D388-43D7-40B2-98DC-4353C7E9A71F}"/>
              </a:ext>
            </a:extLst>
          </p:cNvPr>
          <p:cNvGraphicFramePr/>
          <p:nvPr/>
        </p:nvGraphicFramePr>
        <p:xfrm>
          <a:off xmlns:a="http://schemas.openxmlformats.org/drawingml/2006/main" x="733425" y="1657350"/>
          <a:ext xmlns:a="http://schemas.openxmlformats.org/drawingml/2006/main" cx="10715625" cy="4105275"/>
        </p:xfrm>
        <a:graphic xmlns:a="http://schemas.openxmlformats.org/drawingml/2006/main">
          <a:graphicData uri="http://schemas.openxmlformats.org/drawingml/2006/table">
            <a:tbl>
              <a:tblPr/>
              <a:tblGrid>
                <a:gridCol w="2238375"/>
                <a:gridCol w="8477250"/>
              </a:tblGrid>
              <a:tr h="684213">
                <a:tc>
                  <a:txBody>
                    <a:bodyPr/>
                    <a:lstStyle/>
                    <a:p>
                      <a:pPr algn="l"/>
                      <a:r>
                        <a:rPr sz="1350" b="1">
                          <a:solidFill>
                            <a:srgbClr val="F4F7FB"/>
                          </a:solidFill>
                          <a:latin typeface="Inter"/>
                          <a:ea typeface="Inter"/>
                          <a:cs typeface="Inter"/>
                        </a:rPr>
                        <a:t>Term</a:t>
                      </a:r>
                    </a:p>
                  </a:txBody>
                  <a:tcPr marL="95250" marR="95250" marT="47625" marB="47625" anchor="ctr">
                    <a:lnL w="9525">
                      <a:solidFill>
                        <a:srgbClr val="354861"/>
                      </a:solidFill>
                      <a:prstDash val="solid"/>
                    </a:lnL>
                    <a:lnR w="9525">
                      <a:solidFill>
                        <a:srgbClr val="354861"/>
                      </a:solidFill>
                      <a:prstDash val="solid"/>
                    </a:lnR>
                    <a:lnT w="9525">
                      <a:solidFill>
                        <a:srgbClr val="354861"/>
                      </a:solidFill>
                      <a:prstDash val="solid"/>
                    </a:lnT>
                    <a:lnB w="9525">
                      <a:solidFill>
                        <a:srgbClr val="354861"/>
                      </a:solidFill>
                      <a:prstDash val="solid"/>
                    </a:lnB>
                    <a:solidFill>
                      <a:srgbClr val="164153"/>
                    </a:solidFill>
                  </a:tcPr>
                </a:tc>
                <a:tc>
                  <a:txBody>
                    <a:bodyPr/>
                    <a:lstStyle/>
                    <a:p>
                      <a:pPr algn="l"/>
                      <a:r>
                        <a:rPr sz="1350" b="1">
                          <a:solidFill>
                            <a:srgbClr val="F4F7FB"/>
                          </a:solidFill>
                          <a:latin typeface="Inter"/>
                          <a:ea typeface="Inter"/>
                          <a:cs typeface="Inter"/>
                        </a:rPr>
                        <a:t>Meaning in this repository</a:t>
                      </a:r>
                    </a:p>
                  </a:txBody>
                  <a:tcPr marL="95250" marR="95250" marT="47625" marB="47625" anchor="ctr">
                    <a:lnR w="9525">
                      <a:solidFill>
                        <a:srgbClr val="354861"/>
                      </a:solidFill>
                      <a:prstDash val="solid"/>
                    </a:lnR>
                    <a:lnT w="9525">
                      <a:solidFill>
                        <a:srgbClr val="354861"/>
                      </a:solidFill>
                      <a:prstDash val="solid"/>
                    </a:lnT>
                    <a:lnB w="9525">
                      <a:solidFill>
                        <a:srgbClr val="354861"/>
                      </a:solidFill>
                      <a:prstDash val="solid"/>
                    </a:lnB>
                    <a:solidFill>
                      <a:srgbClr val="164153"/>
                    </a:solidFill>
                  </a:tcPr>
                </a:tc>
              </a:tr>
              <a:tr h="684213">
                <a:tc>
                  <a:txBody>
                    <a:bodyPr/>
                    <a:lstStyle/>
                    <a:p>
                      <a:pPr algn="l"/>
                      <a:r>
                        <a:rPr sz="1350">
                          <a:solidFill>
                            <a:srgbClr val="F4F7FB"/>
                          </a:solidFill>
                          <a:latin typeface="Inter"/>
                          <a:ea typeface="Inter"/>
                          <a:cs typeface="Inter"/>
                        </a:rPr>
                        <a:t>Shot</a:t>
                      </a:r>
                    </a:p>
                  </a:txBody>
                  <a:tcPr marL="95250" marR="95250" marT="47625" marB="47625" anchor="ctr">
                    <a:lnL w="9525">
                      <a:solidFill>
                        <a:srgbClr val="354861"/>
                      </a:solidFill>
                      <a:prstDash val="solid"/>
                    </a:lnL>
                    <a:lnR w="9525">
                      <a:solidFill>
                        <a:srgbClr val="354861"/>
                      </a:solidFill>
                      <a:prstDash val="solid"/>
                    </a:lnR>
                    <a:lnB w="9525">
                      <a:solidFill>
                        <a:srgbClr val="354861"/>
                      </a:solidFill>
                      <a:prstDash val="solid"/>
                    </a:lnB>
                    <a:solidFill>
                      <a:srgbClr val="13243D"/>
                    </a:solidFill>
                  </a:tcPr>
                </a:tc>
                <a:tc>
                  <a:txBody>
                    <a:bodyPr/>
                    <a:lstStyle/>
                    <a:p>
                      <a:pPr algn="l"/>
                      <a:r>
                        <a:rPr sz="1350">
                          <a:solidFill>
                            <a:srgbClr val="F4F7FB"/>
                          </a:solidFill>
                          <a:latin typeface="Inter"/>
                          <a:ea typeface="Inter"/>
                          <a:cs typeface="Inter"/>
                        </a:rPr>
                        <a:t>One circuit execution that ends in measurement; repeated shots estimate outcome frequencies.</a:t>
                      </a:r>
                    </a:p>
                  </a:txBody>
                  <a:tcPr marL="95250" marR="95250" marT="47625" marB="47625" anchor="ctr">
                    <a:lnR w="9525">
                      <a:solidFill>
                        <a:srgbClr val="354861"/>
                      </a:solidFill>
                      <a:prstDash val="solid"/>
                    </a:lnR>
                    <a:lnB w="9525">
                      <a:solidFill>
                        <a:srgbClr val="354861"/>
                      </a:solidFill>
                      <a:prstDash val="solid"/>
                    </a:lnB>
                    <a:solidFill>
                      <a:srgbClr val="13243D"/>
                    </a:solidFill>
                  </a:tcPr>
                </a:tc>
              </a:tr>
              <a:tr h="684213">
                <a:tc>
                  <a:txBody>
                    <a:bodyPr/>
                    <a:lstStyle/>
                    <a:p>
                      <a:pPr algn="l"/>
                      <a:r>
                        <a:rPr sz="1350">
                          <a:solidFill>
                            <a:srgbClr val="F4F7FB"/>
                          </a:solidFill>
                          <a:latin typeface="Inter"/>
                          <a:ea typeface="Inter"/>
                          <a:cs typeface="Inter"/>
                        </a:rPr>
                        <a:t>AerSimulator</a:t>
                      </a:r>
                    </a:p>
                  </a:txBody>
                  <a:tcPr marL="95250" marR="95250" marT="47625" marB="47625" anchor="ctr">
                    <a:lnL w="9525">
                      <a:solidFill>
                        <a:srgbClr val="354861"/>
                      </a:solidFill>
                      <a:prstDash val="solid"/>
                    </a:lnL>
                    <a:lnR w="9525">
                      <a:solidFill>
                        <a:srgbClr val="354861"/>
                      </a:solidFill>
                      <a:prstDash val="solid"/>
                    </a:lnR>
                    <a:lnB w="9525">
                      <a:solidFill>
                        <a:srgbClr val="354861"/>
                      </a:solidFill>
                      <a:prstDash val="solid"/>
                    </a:lnB>
                    <a:solidFill>
                      <a:srgbClr val="0E1B30"/>
                    </a:solidFill>
                  </a:tcPr>
                </a:tc>
                <a:tc>
                  <a:txBody>
                    <a:bodyPr/>
                    <a:lstStyle/>
                    <a:p>
                      <a:pPr algn="l"/>
                      <a:r>
                        <a:rPr sz="1350">
                          <a:solidFill>
                            <a:srgbClr val="F4F7FB"/>
                          </a:solidFill>
                          <a:latin typeface="Inter"/>
                          <a:ea typeface="Inter"/>
                          <a:cs typeface="Inter"/>
                        </a:rPr>
                        <a:t>Qiskit’s local software simulator. The project does not submit these circuits to a QPU.</a:t>
                      </a:r>
                    </a:p>
                  </a:txBody>
                  <a:tcPr marL="95250" marR="95250" marT="47625" marB="47625" anchor="ctr">
                    <a:lnR w="9525">
                      <a:solidFill>
                        <a:srgbClr val="354861"/>
                      </a:solidFill>
                      <a:prstDash val="solid"/>
                    </a:lnR>
                    <a:lnB w="9525">
                      <a:solidFill>
                        <a:srgbClr val="354861"/>
                      </a:solidFill>
                      <a:prstDash val="solid"/>
                    </a:lnB>
                    <a:solidFill>
                      <a:srgbClr val="0E1B30"/>
                    </a:solidFill>
                  </a:tcPr>
                </a:tc>
              </a:tr>
              <a:tr h="684213">
                <a:tc>
                  <a:txBody>
                    <a:bodyPr/>
                    <a:lstStyle/>
                    <a:p>
                      <a:pPr algn="l"/>
                      <a:r>
                        <a:rPr sz="1350">
                          <a:solidFill>
                            <a:srgbClr val="F4F7FB"/>
                          </a:solidFill>
                          <a:latin typeface="Inter"/>
                          <a:ea typeface="Inter"/>
                          <a:cs typeface="Inter"/>
                        </a:rPr>
                        <a:t>QuantumSimulator wrapper</a:t>
                      </a:r>
                    </a:p>
                  </a:txBody>
                  <a:tcPr marL="95250" marR="95250" marT="47625" marB="47625" anchor="ctr">
                    <a:lnL w="9525">
                      <a:solidFill>
                        <a:srgbClr val="354861"/>
                      </a:solidFill>
                      <a:prstDash val="solid"/>
                    </a:lnL>
                    <a:lnR w="9525">
                      <a:solidFill>
                        <a:srgbClr val="354861"/>
                      </a:solidFill>
                      <a:prstDash val="solid"/>
                    </a:lnR>
                    <a:lnB w="9525">
                      <a:solidFill>
                        <a:srgbClr val="354861"/>
                      </a:solidFill>
                      <a:prstDash val="solid"/>
                    </a:lnB>
                    <a:solidFill>
                      <a:srgbClr val="13243D"/>
                    </a:solidFill>
                  </a:tcPr>
                </a:tc>
                <a:tc>
                  <a:txBody>
                    <a:bodyPr/>
                    <a:lstStyle/>
                    <a:p>
                      <a:pPr algn="l"/>
                      <a:r>
                        <a:rPr sz="1350">
                          <a:solidFill>
                            <a:srgbClr val="F4F7FB"/>
                          </a:solidFill>
                          <a:latin typeface="Inter"/>
                          <a:ea typeface="Inter"/>
                          <a:cs typeface="Inter"/>
                        </a:rPr>
                        <a:t>Shared helper for Aer execution, transpilation, shot count, and optional noise model.</a:t>
                      </a:r>
                    </a:p>
                  </a:txBody>
                  <a:tcPr marL="95250" marR="95250" marT="47625" marB="47625" anchor="ctr">
                    <a:lnR w="9525">
                      <a:solidFill>
                        <a:srgbClr val="354861"/>
                      </a:solidFill>
                      <a:prstDash val="solid"/>
                    </a:lnR>
                    <a:lnB w="9525">
                      <a:solidFill>
                        <a:srgbClr val="354861"/>
                      </a:solidFill>
                      <a:prstDash val="solid"/>
                    </a:lnB>
                    <a:solidFill>
                      <a:srgbClr val="13243D"/>
                    </a:solidFill>
                  </a:tcPr>
                </a:tc>
              </a:tr>
              <a:tr h="684213">
                <a:tc>
                  <a:txBody>
                    <a:bodyPr/>
                    <a:lstStyle/>
                    <a:p>
                      <a:pPr algn="l"/>
                      <a:r>
                        <a:rPr sz="1350">
                          <a:solidFill>
                            <a:srgbClr val="F4F7FB"/>
                          </a:solidFill>
                          <a:latin typeface="Inter"/>
                          <a:ea typeface="Inter"/>
                          <a:cs typeface="Inter"/>
                        </a:rPr>
                        <a:t>Noise / gate rate</a:t>
                      </a:r>
                    </a:p>
                  </a:txBody>
                  <a:tcPr marL="95250" marR="95250" marT="47625" marB="47625" anchor="ctr">
                    <a:lnL w="9525">
                      <a:solidFill>
                        <a:srgbClr val="354861"/>
                      </a:solidFill>
                      <a:prstDash val="solid"/>
                    </a:lnL>
                    <a:lnR w="9525">
                      <a:solidFill>
                        <a:srgbClr val="354861"/>
                      </a:solidFill>
                      <a:prstDash val="solid"/>
                    </a:lnR>
                    <a:lnB w="9525">
                      <a:solidFill>
                        <a:srgbClr val="354861"/>
                      </a:solidFill>
                      <a:prstDash val="solid"/>
                    </a:lnB>
                    <a:solidFill>
                      <a:srgbClr val="0E1B30"/>
                    </a:solidFill>
                  </a:tcPr>
                </a:tc>
                <a:tc>
                  <a:txBody>
                    <a:bodyPr/>
                    <a:lstStyle/>
                    <a:p>
                      <a:pPr algn="l"/>
                      <a:r>
                        <a:rPr sz="1350">
                          <a:solidFill>
                            <a:srgbClr val="F4F7FB"/>
                          </a:solidFill>
                          <a:latin typeface="Inter"/>
                          <a:ea typeface="Inter"/>
                          <a:cs typeface="Inter"/>
                        </a:rPr>
                        <a:t>Configured depolarizing probability, not a measured device error rate: 0.01 for single-qubit gates and 10× for selected two-qubit gates in the wrapper.</a:t>
                      </a:r>
                    </a:p>
                  </a:txBody>
                  <a:tcPr marL="95250" marR="95250" marT="47625" marB="47625" anchor="ctr">
                    <a:lnR w="9525">
                      <a:solidFill>
                        <a:srgbClr val="354861"/>
                      </a:solidFill>
                      <a:prstDash val="solid"/>
                    </a:lnR>
                    <a:lnB w="9525">
                      <a:solidFill>
                        <a:srgbClr val="354861"/>
                      </a:solidFill>
                      <a:prstDash val="solid"/>
                    </a:lnB>
                    <a:solidFill>
                      <a:srgbClr val="0E1B30"/>
                    </a:solidFill>
                  </a:tcPr>
                </a:tc>
              </a:tr>
              <a:tr h="684213">
                <a:tc>
                  <a:txBody>
                    <a:bodyPr/>
                    <a:lstStyle/>
                    <a:p>
                      <a:pPr algn="l"/>
                      <a:r>
                        <a:rPr sz="1350">
                          <a:solidFill>
                            <a:srgbClr val="F4F7FB"/>
                          </a:solidFill>
                          <a:latin typeface="Inter"/>
                          <a:ea typeface="Inter"/>
                          <a:cs typeface="Inter"/>
                        </a:rPr>
                        <a:t>Route-specific settings</a:t>
                      </a:r>
                    </a:p>
                  </a:txBody>
                  <a:tcPr marL="95250" marR="95250" marT="47625" marB="47625" anchor="ctr">
                    <a:lnL w="9525">
                      <a:solidFill>
                        <a:srgbClr val="354861"/>
                      </a:solidFill>
                      <a:prstDash val="solid"/>
                    </a:lnL>
                    <a:lnR w="9525">
                      <a:solidFill>
                        <a:srgbClr val="354861"/>
                      </a:solidFill>
                      <a:prstDash val="solid"/>
                    </a:lnR>
                    <a:lnB w="9525">
                      <a:solidFill>
                        <a:srgbClr val="354861"/>
                      </a:solidFill>
                      <a:prstDash val="solid"/>
                    </a:lnB>
                    <a:solidFill>
                      <a:srgbClr val="13243D"/>
                    </a:solidFill>
                  </a:tcPr>
                </a:tc>
                <a:tc>
                  <a:txBody>
                    <a:bodyPr/>
                    <a:lstStyle/>
                    <a:p>
                      <a:pPr algn="l"/>
                      <a:r>
                        <a:rPr sz="1350">
                          <a:solidFill>
                            <a:srgbClr val="F4F7FB"/>
                          </a:solidFill>
                          <a:latin typeface="Inter"/>
                          <a:ea typeface="Inter"/>
                          <a:cs typeface="Inter"/>
                        </a:rPr>
                        <a:t>Shared default: 1024 shots and noise on. Option 7 uses direct statevector Aer for one shot; benchmark uses CPU matrix-product-state with noise off.</a:t>
                      </a:r>
                    </a:p>
                  </a:txBody>
                  <a:tcPr marL="95250" marR="95250" marT="47625" marB="47625" anchor="ctr">
                    <a:lnR w="9525">
                      <a:solidFill>
                        <a:srgbClr val="354861"/>
                      </a:solidFill>
                      <a:prstDash val="solid"/>
                    </a:lnR>
                    <a:lnB w="9525">
                      <a:solidFill>
                        <a:srgbClr val="354861"/>
                      </a:solidFill>
                      <a:prstDash val="solid"/>
                    </a:lnB>
                    <a:solidFill>
                      <a:srgbClr val="13243D"/>
                    </a:solidFill>
                  </a:tcPr>
                </a:tc>
              </a:tr>
            </a:tbl>
          </a:graphicData>
        </a:graphic>
      </p:graphicFrame>
      <p:sp>
        <p:nvSpPr>
          <p:cNvPr id="5" name="">
            <a:extLst xmlns:a="http://schemas.openxmlformats.org/drawingml/2006/main">
              <a:ext uri="{FF2B5EF4-FFF2-40B4-BE49-F238E27FC236}">
                <a16:creationId xmlns:a16="http://schemas.microsoft.com/office/drawing/2014/main" id="{843C09F3-8A8E-4EB7-B17E-AE2B60C3C524}"/>
              </a:ext>
            </a:extLst>
          </p:cNvPr>
          <p:cNvSpPr>
            <a:spLocks xmlns:a="http://schemas.openxmlformats.org/drawingml/2006/main" noGrp="1"/>
          </p:cNvSpPr>
          <p:nvPr/>
        </p:nvSpPr>
        <p:spPr>
          <a:xfrm xmlns:a="http://schemas.openxmlformats.org/drawingml/2006/main">
            <a:off x="790575" y="6010275"/>
            <a:ext cx="106108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F2C66D"/>
                </a:solidFill>
                <a:latin typeface="Inter"/>
                <a:ea typeface="Inter"/>
                <a:cs typeface="Inter"/>
              </a:defRPr>
            </a:defPPr>
          </a:lstStyle>
          <a:p xmlns:a="http://schemas.openxmlformats.org/drawingml/2006/main">
            <a:pPr algn="l">
              <a:lnSpc>
                <a:spcPct val="108000"/>
              </a:lnSpc>
              <a:buNone/>
              <a:defRPr sz="1500" b="1" i="0">
                <a:solidFill>
                  <a:srgbClr val="F2C66D"/>
                </a:solidFill>
                <a:latin typeface="Inter"/>
                <a:ea typeface="Inter"/>
                <a:cs typeface="Inter"/>
              </a:defRPr>
            </a:pPr>
            <a:r>
              <a:rPr sz="1500" b="1" i="0">
                <a:solidFill>
                  <a:srgbClr val="F2C66D"/>
                </a:solidFill>
                <a:latin typeface="Inter"/>
                <a:ea typeface="Inter"/>
                <a:cs typeface="Inter"/>
              </a:rPr>
              <a:t>Always name the backend, shots, and noise setting alongside a reported result.</a:t>
            </a:r>
          </a:p>
        </p:txBody>
      </p:sp>
    </p:spTree>
    <p:extLst>
      <p:ext uri="{BB962C8B-B14F-4D97-AF65-F5344CB8AC3E}">
        <p14:creationId xmlns:p14="http://schemas.microsoft.com/office/powerpoint/2010/main" val="884767880"/>
      </p:ext>
    </p:extLst>
  </p:cSld>
</p:sld>
</file>

<file path=ppt/slides/slide16.xml><?xml version="1.0" encoding="utf-8"?>
<p:sld xmlns:p="http://schemas.openxmlformats.org/presentationml/2006/main">
  <p:cSld>
    <p:bg>
      <p:bgPr>
        <a:solidFill xmlns:a="http://schemas.openxmlformats.org/drawingml/2006/main">
          <a:srgbClr val="0B142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D93EFEB-CDFD-4EE5-B20C-7D571D38EE61}"/>
              </a:ext>
            </a:extLst>
          </p:cNvPr>
          <p:cNvSpPr>
            <a:spLocks xmlns:a="http://schemas.openxmlformats.org/drawingml/2006/main" noGrp="1"/>
          </p:cNvSpPr>
          <p:nvPr/>
        </p:nvSpPr>
        <p:spPr>
          <a:xfrm xmlns:a="http://schemas.openxmlformats.org/drawingml/2006/main">
            <a:off x="685800" y="4000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75" b="1" i="0">
                <a:solidFill>
                  <a:srgbClr val="F4F7FB"/>
                </a:solidFill>
                <a:latin typeface="Inter"/>
                <a:ea typeface="Inter"/>
                <a:cs typeface="Inter"/>
              </a:defRPr>
            </a:defPPr>
          </a:lstStyle>
          <a:p xmlns:a="http://schemas.openxmlformats.org/drawingml/2006/main">
            <a:pPr algn="l">
              <a:lnSpc>
                <a:spcPct val="108000"/>
              </a:lnSpc>
              <a:buNone/>
              <a:defRPr sz="2775" b="1" i="0">
                <a:solidFill>
                  <a:srgbClr val="F4F7FB"/>
                </a:solidFill>
                <a:latin typeface="Inter"/>
                <a:ea typeface="Inter"/>
                <a:cs typeface="Inter"/>
              </a:defRPr>
            </a:pPr>
            <a:r>
              <a:rPr sz="2775" b="1" i="0">
                <a:solidFill>
                  <a:srgbClr val="F4F7FB"/>
                </a:solidFill>
                <a:latin typeface="Inter"/>
                <a:ea typeface="Inter"/>
                <a:cs typeface="Inter"/>
              </a:rPr>
              <a:t>What the project demonstrates, and what remains open</a:t>
            </a:r>
          </a:p>
        </p:txBody>
      </p:sp>
      <p:sp>
        <p:nvSpPr>
          <p:cNvPr id="2" name="">
            <a:extLst xmlns:a="http://schemas.openxmlformats.org/drawingml/2006/main">
              <a:ext uri="{FF2B5EF4-FFF2-40B4-BE49-F238E27FC236}">
                <a16:creationId xmlns:a16="http://schemas.microsoft.com/office/drawing/2014/main" id="{BF7B5B31-77AB-409D-A344-C369B5EBCD88}"/>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62D6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A563C98-CD62-4B54-A00D-2B1EB02AD598}"/>
              </a:ext>
            </a:extLst>
          </p:cNvPr>
          <p:cNvSpPr>
            <a:spLocks xmlns:a="http://schemas.openxmlformats.org/drawingml/2006/main" noGrp="1"/>
          </p:cNvSpPr>
          <p:nvPr/>
        </p:nvSpPr>
        <p:spPr>
          <a:xfrm xmlns:a="http://schemas.openxmlformats.org/drawingml/2006/main">
            <a:off x="704850" y="1162050"/>
            <a:ext cx="1078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B8C6D9"/>
                </a:solidFill>
                <a:latin typeface="Inter"/>
                <a:ea typeface="Inter"/>
                <a:cs typeface="Inter"/>
              </a:defRPr>
            </a:defPPr>
          </a:lstStyle>
          <a:p xmlns:a="http://schemas.openxmlformats.org/drawingml/2006/main">
            <a:pPr algn="l">
              <a:lnSpc>
                <a:spcPct val="108000"/>
              </a:lnSpc>
              <a:buNone/>
              <a:defRPr sz="1275" b="0" i="0">
                <a:solidFill>
                  <a:srgbClr val="B8C6D9"/>
                </a:solidFill>
                <a:latin typeface="Inter"/>
                <a:ea typeface="Inter"/>
                <a:cs typeface="Inter"/>
              </a:defRPr>
            </a:pPr>
            <a:r>
              <a:rPr sz="1275" b="0" i="0">
                <a:solidFill>
                  <a:srgbClr val="B8C6D9"/>
                </a:solidFill>
                <a:latin typeface="Inter"/>
                <a:ea typeface="Inter"/>
                <a:cs typeface="Inter"/>
              </a:rPr>
              <a:t>A concise faculty summary</a:t>
            </a:r>
          </a:p>
        </p:txBody>
      </p:sp>
      <p:sp>
        <p:nvSpPr>
          <p:cNvPr id="4" name="">
            <a:extLst xmlns:a="http://schemas.openxmlformats.org/drawingml/2006/main">
              <a:ext uri="{FF2B5EF4-FFF2-40B4-BE49-F238E27FC236}">
                <a16:creationId xmlns:a16="http://schemas.microsoft.com/office/drawing/2014/main" id="{E36F44E1-6D02-4BF4-BBC6-CC351DBE956F}"/>
              </a:ext>
            </a:extLst>
          </p:cNvPr>
          <p:cNvSpPr>
            <a:spLocks xmlns:a="http://schemas.openxmlformats.org/drawingml/2006/main" noGrp="1"/>
          </p:cNvSpPr>
          <p:nvPr/>
        </p:nvSpPr>
        <p:spPr>
          <a:xfrm xmlns:a="http://schemas.openxmlformats.org/drawingml/2006/main">
            <a:off x="781050" y="1657350"/>
            <a:ext cx="1062037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800">
                <a:solidFill>
                  <a:srgbClr val="F4F7FB"/>
                </a:solidFill>
                <a:latin typeface="Inter"/>
                <a:ea typeface="Inter"/>
                <a:cs typeface="Inter"/>
              </a:defRPr>
            </a:defPPr>
          </a:lstStyle>
          <a:p xmlns:a="http://schemas.openxmlformats.org/drawingml/2006/main">
            <a:pPr marL="241300" indent="-127000">
              <a:lnSpc>
                <a:spcPct val="105000"/>
              </a:lnSpc>
              <a:spcAft>
                <a:spcPts val="1400"/>
              </a:spcAft>
              <a:buNone/>
              <a:defRPr sz="1800">
                <a:solidFill>
                  <a:srgbClr val="F4F7FB"/>
                </a:solidFill>
                <a:latin typeface="Inter"/>
                <a:ea typeface="Inter"/>
                <a:cs typeface="Inter"/>
              </a:defRPr>
            </a:pPr>
            <a:r>
              <a:rPr sz="1800">
                <a:solidFill>
                  <a:srgbClr val="F4F7FB"/>
                </a:solidFill>
                <a:latin typeface="Inter"/>
                <a:ea typeface="Inter"/>
                <a:cs typeface="Inter"/>
              </a:rPr>
              <a:t>2×2 makes coordinate encoding and controlled status lookup visible; direction/status completion remains a prototype task.</a:t>
            </a:r>
          </a:p>
          <a:p xmlns:a="http://schemas.openxmlformats.org/drawingml/2006/main">
            <a:pPr marL="241300" indent="-127000">
              <a:lnSpc>
                <a:spcPct val="105000"/>
              </a:lnSpc>
              <a:spcAft>
                <a:spcPts val="1400"/>
              </a:spcAft>
              <a:buNone/>
              <a:defRPr sz="1800">
                <a:solidFill>
                  <a:srgbClr val="F4F7FB"/>
                </a:solidFill>
                <a:latin typeface="Inter"/>
                <a:ea typeface="Inter"/>
                <a:cs typeface="Inter"/>
              </a:defRPr>
            </a:pPr>
            <a:r>
              <a:rPr sz="1800">
                <a:solidFill>
                  <a:srgbClr val="F4F7FB"/>
                </a:solidFill>
                <a:latin typeface="Inter"/>
                <a:ea typeface="Inter"/>
                <a:cs typeface="Inter"/>
              </a:rPr>
              <a:t>3×3 shows why Minimax is useful when the opponent’s reply matters.</a:t>
            </a:r>
          </a:p>
          <a:p xmlns:a="http://schemas.openxmlformats.org/drawingml/2006/main">
            <a:pPr marL="241300" indent="-127000">
              <a:lnSpc>
                <a:spcPct val="105000"/>
              </a:lnSpc>
              <a:spcAft>
                <a:spcPts val="1400"/>
              </a:spcAft>
              <a:buNone/>
              <a:defRPr sz="1800">
                <a:solidFill>
                  <a:srgbClr val="F4F7FB"/>
                </a:solidFill>
                <a:latin typeface="Inter"/>
                <a:ea typeface="Inter"/>
                <a:cs typeface="Inter"/>
              </a:defRPr>
            </a:pPr>
            <a:r>
              <a:rPr sz="1800">
                <a:solidFill>
                  <a:srgbClr val="F4F7FB"/>
                </a:solidFill>
                <a:latin typeface="Inter"/>
                <a:ea typeface="Inter"/>
                <a:cs typeface="Inter"/>
              </a:rPr>
              <a:t>8×8 connects classical move preparation to Grover sampling over a compact index register.</a:t>
            </a:r>
          </a:p>
          <a:p xmlns:a="http://schemas.openxmlformats.org/drawingml/2006/main">
            <a:pPr marL="241300" indent="-127000">
              <a:lnSpc>
                <a:spcPct val="105000"/>
              </a:lnSpc>
              <a:spcAft>
                <a:spcPts val="1400"/>
              </a:spcAft>
              <a:buNone/>
              <a:defRPr sz="1800">
                <a:solidFill>
                  <a:srgbClr val="F4F7FB"/>
                </a:solidFill>
                <a:latin typeface="Inter"/>
                <a:ea typeface="Inter"/>
                <a:cs typeface="Inter"/>
              </a:defRPr>
            </a:pPr>
            <a:r>
              <a:rPr sz="1800">
                <a:solidFill>
                  <a:srgbClr val="F4F7FB"/>
                </a:solidFill>
                <a:latin typeface="Inter"/>
                <a:ea typeface="Inter"/>
                <a:cs typeface="Inter"/>
              </a:rPr>
              <a:t>The measured results show simulator and circuit costs for this small setup; they do not show quantum speedup.</a:t>
            </a:r>
          </a:p>
        </p:txBody>
      </p:sp>
      <p:sp>
        <p:nvSpPr>
          <p:cNvPr id="5" name="">
            <a:extLst xmlns:a="http://schemas.openxmlformats.org/drawingml/2006/main">
              <a:ext uri="{FF2B5EF4-FFF2-40B4-BE49-F238E27FC236}">
                <a16:creationId xmlns:a16="http://schemas.microsoft.com/office/drawing/2014/main" id="{1C88115F-C494-4A02-BD87-76E18D7FC963}"/>
              </a:ext>
            </a:extLst>
          </p:cNvPr>
          <p:cNvSpPr>
            <a:spLocks xmlns:a="http://schemas.openxmlformats.org/drawingml/2006/main" noGrp="1"/>
          </p:cNvSpPr>
          <p:nvPr/>
        </p:nvSpPr>
        <p:spPr>
          <a:xfrm xmlns:a="http://schemas.openxmlformats.org/drawingml/2006/main">
            <a:off x="781050" y="4762500"/>
            <a:ext cx="10572750" cy="14288"/>
          </a:xfrm>
          <a:prstGeom xmlns:a="http://schemas.openxmlformats.org/drawingml/2006/main" prst="rect">
            <a:avLst/>
          </a:prstGeom>
          <a:solidFill xmlns:a="http://schemas.openxmlformats.org/drawingml/2006/main">
            <a:srgbClr val="354861"/>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EA84BBE-93B0-4ADD-95B1-1B94B72D04DC}"/>
              </a:ext>
            </a:extLst>
          </p:cNvPr>
          <p:cNvSpPr>
            <a:spLocks xmlns:a="http://schemas.openxmlformats.org/drawingml/2006/main" noGrp="1"/>
          </p:cNvSpPr>
          <p:nvPr/>
        </p:nvSpPr>
        <p:spPr>
          <a:xfrm xmlns:a="http://schemas.openxmlformats.org/drawingml/2006/main">
            <a:off x="819150" y="50292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i="0">
                <a:solidFill>
                  <a:srgbClr val="62D6C7"/>
                </a:solidFill>
                <a:latin typeface="Inter"/>
                <a:ea typeface="Inter"/>
                <a:cs typeface="Inter"/>
              </a:defRPr>
            </a:defPPr>
          </a:lstStyle>
          <a:p xmlns:a="http://schemas.openxmlformats.org/drawingml/2006/main">
            <a:pPr algn="l">
              <a:lnSpc>
                <a:spcPct val="108000"/>
              </a:lnSpc>
              <a:buNone/>
              <a:defRPr sz="1200" b="1" i="0">
                <a:solidFill>
                  <a:srgbClr val="62D6C7"/>
                </a:solidFill>
                <a:latin typeface="Inter"/>
                <a:ea typeface="Inter"/>
                <a:cs typeface="Inter"/>
              </a:defRPr>
            </a:pPr>
            <a:r>
              <a:rPr sz="1200" b="1" i="0">
                <a:solidFill>
                  <a:srgbClr val="62D6C7"/>
                </a:solidFill>
                <a:latin typeface="Inter"/>
                <a:ea typeface="Inter"/>
                <a:cs typeface="Inter"/>
              </a:rPr>
              <a:t>NEXT VALIDATION</a:t>
            </a:r>
          </a:p>
        </p:txBody>
      </p:sp>
      <p:sp>
        <p:nvSpPr>
          <p:cNvPr id="7" name="">
            <a:extLst xmlns:a="http://schemas.openxmlformats.org/drawingml/2006/main">
              <a:ext uri="{FF2B5EF4-FFF2-40B4-BE49-F238E27FC236}">
                <a16:creationId xmlns:a16="http://schemas.microsoft.com/office/drawing/2014/main" id="{E4066B85-1AAC-47D2-A4E3-22053A622374}"/>
              </a:ext>
            </a:extLst>
          </p:cNvPr>
          <p:cNvSpPr>
            <a:spLocks xmlns:a="http://schemas.openxmlformats.org/drawingml/2006/main" noGrp="1"/>
          </p:cNvSpPr>
          <p:nvPr/>
        </p:nvSpPr>
        <p:spPr>
          <a:xfrm xmlns:a="http://schemas.openxmlformats.org/drawingml/2006/main">
            <a:off x="819150" y="5381625"/>
            <a:ext cx="10429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i="0">
                <a:solidFill>
                  <a:srgbClr val="F4F7FB"/>
                </a:solidFill>
                <a:latin typeface="Inter"/>
                <a:ea typeface="Inter"/>
                <a:cs typeface="Inter"/>
              </a:defRPr>
            </a:defPPr>
          </a:lstStyle>
          <a:p xmlns:a="http://schemas.openxmlformats.org/drawingml/2006/main">
            <a:pPr algn="l">
              <a:lnSpc>
                <a:spcPct val="108000"/>
              </a:lnSpc>
              <a:buNone/>
              <a:defRPr sz="1725" b="0" i="0">
                <a:solidFill>
                  <a:srgbClr val="F4F7FB"/>
                </a:solidFill>
                <a:latin typeface="Inter"/>
                <a:ea typeface="Inter"/>
                <a:cs typeface="Inter"/>
              </a:defRPr>
            </a:pPr>
            <a:r>
              <a:rPr sz="1725" b="0" i="0">
                <a:solidFill>
                  <a:srgbClr val="F4F7FB"/>
                </a:solidFill>
                <a:latin typeface="Inter"/>
                <a:ea typeface="Inter"/>
                <a:cs typeface="Inter"/>
              </a:rPr>
              <a:t>Fix and verify reversible direction/status logic, then benchmark matched selectors over larger candidate sets with documented noise and hardware conditions.</a:t>
            </a:r>
          </a:p>
        </p:txBody>
      </p:sp>
    </p:spTree>
    <p:extLst>
      <p:ext uri="{BB962C8B-B14F-4D97-AF65-F5344CB8AC3E}">
        <p14:creationId xmlns:p14="http://schemas.microsoft.com/office/powerpoint/2010/main" val="11428293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2026-10-14T13:46:35.4830000Z</dcterms:created>
  <dcterms:modified xsi:type="dcterms:W3CDTF">2026-10-14T13:46:35.4830000Z</dcterms:modified>
</coreProperties>
</file>