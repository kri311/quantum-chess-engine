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f948d45cae4b7f" /><Relationship Type="http://schemas.openxmlformats.org/officeDocument/2006/relationships/extended-properties" Target="/docProps/app.xml" Id="R8020c104757e40d4" /><Relationship Type="http://schemas.openxmlformats.org/officeDocument/2006/relationships/officeDocument" Target="/ppt/presentation.xml" Id="R65128210c1f8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105722a46e4d12"/>
  </p:sldMasterIdLst>
  <p:notesMasterIdLst>
    <p:notesMasterId xmlns:r="http://schemas.openxmlformats.org/officeDocument/2006/relationships" r:id="R38fd92a0eaa946fa"/>
  </p:notesMasterIdLst>
  <p:sldIdLst>
    <p:sldId xmlns:r="http://schemas.openxmlformats.org/officeDocument/2006/relationships" id="256" r:id="Rc6e87cd6e71c4771"/>
    <p:sldId xmlns:r="http://schemas.openxmlformats.org/officeDocument/2006/relationships" id="257" r:id="Ra1537cc2e20e4f8d"/>
    <p:sldId xmlns:r="http://schemas.openxmlformats.org/officeDocument/2006/relationships" id="258" r:id="R27288839a91543c4"/>
    <p:sldId xmlns:r="http://schemas.openxmlformats.org/officeDocument/2006/relationships" id="259" r:id="Redaae9e2571d4a71"/>
    <p:sldId xmlns:r="http://schemas.openxmlformats.org/officeDocument/2006/relationships" id="260" r:id="R8c397ca64b784262"/>
    <p:sldId xmlns:r="http://schemas.openxmlformats.org/officeDocument/2006/relationships" id="261" r:id="R8ff965f1078d4fd7"/>
    <p:sldId xmlns:r="http://schemas.openxmlformats.org/officeDocument/2006/relationships" id="262" r:id="Rbb3b77077a974db6"/>
    <p:sldId xmlns:r="http://schemas.openxmlformats.org/officeDocument/2006/relationships" id="263" r:id="R44d21e3a043d4cb8"/>
    <p:sldId xmlns:r="http://schemas.openxmlformats.org/officeDocument/2006/relationships" id="264" r:id="R1d938aa104344761"/>
    <p:sldId xmlns:r="http://schemas.openxmlformats.org/officeDocument/2006/relationships" id="265" r:id="Ra636336fe3284f6b"/>
    <p:sldId xmlns:r="http://schemas.openxmlformats.org/officeDocument/2006/relationships" id="266" r:id="R79121abfc9934395"/>
    <p:sldId xmlns:r="http://schemas.openxmlformats.org/officeDocument/2006/relationships" id="267" r:id="R02f82bc4474a4b7f"/>
    <p:sldId xmlns:r="http://schemas.openxmlformats.org/officeDocument/2006/relationships" id="268" r:id="R01e929bff9d54ce7"/>
    <p:sldId xmlns:r="http://schemas.openxmlformats.org/officeDocument/2006/relationships" id="269" r:id="R2471db128ce841e8"/>
    <p:sldId xmlns:r="http://schemas.openxmlformats.org/officeDocument/2006/relationships" id="270" r:id="Ra79d5c51a6514aea"/>
    <p:sldId xmlns:r="http://schemas.openxmlformats.org/officeDocument/2006/relationships" id="271" r:id="Raa6174496b7b4ecb"/>
    <p:sldId xmlns:r="http://schemas.openxmlformats.org/officeDocument/2006/relationships" id="272" r:id="R625220e1ab5f4da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9467601cb645af" /><Relationship Type="http://schemas.openxmlformats.org/officeDocument/2006/relationships/slideMaster" Target="/ppt/slideMasters/slideMaster1.xml" Id="Rab105722a46e4d12" /><Relationship Type="http://schemas.openxmlformats.org/officeDocument/2006/relationships/notesMaster" Target="/ppt/notesMasters/notesMaster1.xml" Id="R38fd92a0eaa946fa" /><Relationship Type="http://schemas.openxmlformats.org/officeDocument/2006/relationships/presProps" Target="/ppt/presProps.xml" Id="R93e25795323c4c25" /><Relationship Type="http://schemas.openxmlformats.org/officeDocument/2006/relationships/tableStyles" Target="/ppt/tableStyles.xml" Id="R79c9befeba5f432c" /><Relationship Type="http://schemas.openxmlformats.org/officeDocument/2006/relationships/slide" Target="/ppt/slides/slide1.xml" Id="Rc6e87cd6e71c4771" /><Relationship Type="http://schemas.openxmlformats.org/officeDocument/2006/relationships/slide" Target="/ppt/slides/slide2.xml" Id="Ra1537cc2e20e4f8d" /><Relationship Type="http://schemas.openxmlformats.org/officeDocument/2006/relationships/slide" Target="/ppt/slides/slide3.xml" Id="R27288839a91543c4" /><Relationship Type="http://schemas.openxmlformats.org/officeDocument/2006/relationships/slide" Target="/ppt/slides/slide4.xml" Id="Redaae9e2571d4a71" /><Relationship Type="http://schemas.openxmlformats.org/officeDocument/2006/relationships/slide" Target="/ppt/slides/slide5.xml" Id="R8c397ca64b784262" /><Relationship Type="http://schemas.openxmlformats.org/officeDocument/2006/relationships/slide" Target="/ppt/slides/slide6.xml" Id="R8ff965f1078d4fd7" /><Relationship Type="http://schemas.openxmlformats.org/officeDocument/2006/relationships/slide" Target="/ppt/slides/slide7.xml" Id="Rbb3b77077a974db6" /><Relationship Type="http://schemas.openxmlformats.org/officeDocument/2006/relationships/slide" Target="/ppt/slides/slide8.xml" Id="R44d21e3a043d4cb8" /><Relationship Type="http://schemas.openxmlformats.org/officeDocument/2006/relationships/slide" Target="/ppt/slides/slide9.xml" Id="R1d938aa104344761" /><Relationship Type="http://schemas.openxmlformats.org/officeDocument/2006/relationships/slide" Target="/ppt/slides/slide10.xml" Id="Ra636336fe3284f6b" /><Relationship Type="http://schemas.openxmlformats.org/officeDocument/2006/relationships/slide" Target="/ppt/slides/slide11.xml" Id="R79121abfc9934395" /><Relationship Type="http://schemas.openxmlformats.org/officeDocument/2006/relationships/slide" Target="/ppt/slides/slide12.xml" Id="R02f82bc4474a4b7f" /><Relationship Type="http://schemas.openxmlformats.org/officeDocument/2006/relationships/slide" Target="/ppt/slides/slide13.xml" Id="R01e929bff9d54ce7" /><Relationship Type="http://schemas.openxmlformats.org/officeDocument/2006/relationships/slide" Target="/ppt/slides/slide14.xml" Id="R2471db128ce841e8" /><Relationship Type="http://schemas.openxmlformats.org/officeDocument/2006/relationships/slide" Target="/ppt/slides/slide15.xml" Id="Ra79d5c51a6514aea" /><Relationship Type="http://schemas.openxmlformats.org/officeDocument/2006/relationships/slide" Target="/ppt/slides/slide16.xml" Id="Raa6174496b7b4ecb" /><Relationship Type="http://schemas.openxmlformats.org/officeDocument/2006/relationships/slide" Target="/ppt/slides/slide17.xml" Id="R625220e1ab5f4d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7f375a6d84e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decf8794f34cf4" /><Relationship Type="http://schemas.openxmlformats.org/officeDocument/2006/relationships/notesMaster" Target="/ppt/notesMasters/notesMaster1.xml" Id="R6ecc4c812c5946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4c1ade923a42d2" /><Relationship Type="http://schemas.openxmlformats.org/officeDocument/2006/relationships/notesMaster" Target="/ppt/notesMasters/notesMaster1.xml" Id="R8487dea481eb40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2b3ffff1c43b5" /><Relationship Type="http://schemas.openxmlformats.org/officeDocument/2006/relationships/notesMaster" Target="/ppt/notesMasters/notesMaster1.xml" Id="R797858fe1a28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a4514a80664ce9" /><Relationship Type="http://schemas.openxmlformats.org/officeDocument/2006/relationships/notesMaster" Target="/ppt/notesMasters/notesMaster1.xml" Id="R5673c3d810614c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7d2f38274647d5" /><Relationship Type="http://schemas.openxmlformats.org/officeDocument/2006/relationships/notesMaster" Target="/ppt/notesMasters/notesMaster1.xml" Id="R6bff7a8c7e30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e1f9d9c83d42dc" /><Relationship Type="http://schemas.openxmlformats.org/officeDocument/2006/relationships/notesMaster" Target="/ppt/notesMasters/notesMaster1.xml" Id="Rae7b40aa1a8149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b33e43331541bc" /><Relationship Type="http://schemas.openxmlformats.org/officeDocument/2006/relationships/notesMaster" Target="/ppt/notesMasters/notesMaster1.xml" Id="R43fbc112c4a24f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453c4d8294b8f" /><Relationship Type="http://schemas.openxmlformats.org/officeDocument/2006/relationships/notesMaster" Target="/ppt/notesMasters/notesMaster1.xml" Id="R824652167abe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1227e265e74109" /><Relationship Type="http://schemas.openxmlformats.org/officeDocument/2006/relationships/notesMaster" Target="/ppt/notesMasters/notesMaster1.xml" Id="Rade007118f214c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d7822b7f8c4df3" /><Relationship Type="http://schemas.openxmlformats.org/officeDocument/2006/relationships/notesMaster" Target="/ppt/notesMasters/notesMaster1.xml" Id="Rbce49777a3d049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9d80cade23480a" /><Relationship Type="http://schemas.openxmlformats.org/officeDocument/2006/relationships/notesMaster" Target="/ppt/notesMasters/notesMaster1.xml" Id="R228ac82ce76d4d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70e039e1804e62" /><Relationship Type="http://schemas.openxmlformats.org/officeDocument/2006/relationships/notesMaster" Target="/ppt/notesMasters/notesMaster1.xml" Id="Ra6d13bbe299d48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0ff8b5e3644012" /><Relationship Type="http://schemas.openxmlformats.org/officeDocument/2006/relationships/notesMaster" Target="/ppt/notesMasters/notesMaster1.xml" Id="R013db24be83540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4047abec984ef5" /><Relationship Type="http://schemas.openxmlformats.org/officeDocument/2006/relationships/notesMaster" Target="/ppt/notesMasters/notesMaster1.xml" Id="Rf8b1dab71ea345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7cd9b94f234163" /><Relationship Type="http://schemas.openxmlformats.org/officeDocument/2006/relationships/notesMaster" Target="/ppt/notesMasters/notesMaster1.xml" Id="R5b109ae42d7143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ae74c22e6442e7" /><Relationship Type="http://schemas.openxmlformats.org/officeDocument/2006/relationships/notesMaster" Target="/ppt/notesMasters/notesMaster1.xml" Id="Ra7fc8bf9ad6d43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373cd89c1b48fb" /><Relationship Type="http://schemas.openxmlformats.org/officeDocument/2006/relationships/notesMaster" Target="/ppt/notesMasters/notesMaster1.xml" Id="R1f25416a721d4c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scope: one playable 8×8 hybrid path and small-board circuit demonstrations. The supplied PDF is a visual reference; its unrelated project content is not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phrase “pure quantum” is the project’s name for its small-board gate demonstration. The running game still maintains a classical GameState.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circuit execution and game state transitions are distinct operations in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motivates the separation of responsibilities and the simple metric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amplitudes in plain language. A phase flip does not immediately change measurement probabilities; the diffuser converts relative phase into changed amplitudes.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uses native editable shapes. Explain that modules communicate through classical objects and circuit objects, not through a quantum board-state register.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3×3 initial config has a white knight at (2,1) and black pawn at (0,0). The 2×2 starts with only a black pawn at (0,0).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normal application defaults from benchmark overrides. Execution measurements are simulator measurements, not hardware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3×3, 4 coordinate bits encode 16 states although only nine coordinates are valid. On the 8×8 pure register allocation, the circuit would allocate 33 qubits; normal hybrid search instead uses a compact move-index register.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X as NOT in computational basis, H as basis/superposition transform, controlled gates as reversible logic, and measurement as probabilistic readout. Status and direction routines are prototypes and should not be described as complete chess rule circuits.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direction detector only covers limited patterns and is not a full reversible subtractor. Status operator does not encode all chess transition details or update every square.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 width is ceil(log2(number of legal moves)), plus one phase-kickback flag. Padded indices are not candidate moves. The returned sample maps back to the legal list, with deterministic fallback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benchmark systems have different work scopes: minimax chooses a move, the pure circuit processes a fixed legal move, and the hybrid path scores candidates and runs Grover. Runtime should be read with this scope in mind.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date: 2026-10-14. Results read from evaluation/results/3x3_comparison_summary.csv. Classical: 1.190 ms, 0.0068 MB additional peak RAM. Pure: 95.815 ms, 5.192 MB, 23 qubits, 102 gates, depth 32.25. Hybrid: 71.741 ms, 0.043 MB, 2.25 average qubits, 13.75 gates, depth 10.25. Circuit metrics are stated separately so classical N/A values remain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with faculty: these are implementation boundaries and suggested next steps, not defects hidden by the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reconstructed phase sequence from the current architecture, implementation history, and saved project documentation. It is a teaching timeline, not a git-verified dated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project accurately: classical chess engine, hybrid Grover demonstration, small-board circuit prototype, and basic simulator comparison.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7d46cbe644b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ead6febcd46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350df9d5f4b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f8bd71d4a42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265bf892645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3a0e426754a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F05346-A6B1-47A2-9796-35B921FEC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AE6051-A4CD-47DE-8F44-37F3B3866A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AA89D0-BB53-4B8F-902E-814629A1C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67F7A-FBB5-40D9-BCF8-A724DFCF5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7C0E12-7071-4BFB-950A-37E426746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4412A1-19C2-4321-B415-48BBAAC5C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856714-EA57-4B1B-8B8D-F1BECE9E8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3C77F3-FE5E-4C82-8B2D-3DEC026FCA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FB4B4-B03A-44B5-8266-CCC761905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950D40-88E4-403B-A239-A1B126B4C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5537ef27e494a" /><Relationship Type="http://schemas.openxmlformats.org/officeDocument/2006/relationships/slideLayout" Target="/ppt/slideLayouts/slideLayout1.xml" Id="R6ab0664db9b2404b" /><Relationship Type="http://schemas.openxmlformats.org/officeDocument/2006/relationships/slideLayout" Target="/ppt/slideLayouts/slideLayout2.xml" Id="Re22053512b7349f1" /><Relationship Type="http://schemas.openxmlformats.org/officeDocument/2006/relationships/slideLayout" Target="/ppt/slideLayouts/slideLayout3.xml" Id="R5dd395cfbb36400d" /><Relationship Type="http://schemas.openxmlformats.org/officeDocument/2006/relationships/slideLayout" Target="/ppt/slideLayouts/slideLayout4.xml" Id="R7fcdc695bce54da8" /><Relationship Type="http://schemas.openxmlformats.org/officeDocument/2006/relationships/slideLayout" Target="/ppt/slideLayouts/slideLayout5.xml" Id="R29195059a2554a21" /><Relationship Type="http://schemas.openxmlformats.org/officeDocument/2006/relationships/slideLayout" Target="/ppt/slideLayouts/slideLayout6.xml" Id="Re7ff13c5b319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0664db9b2404b"/>
    <p:sldLayoutId xmlns:r="http://schemas.openxmlformats.org/officeDocument/2006/relationships" id="2147483650" r:id="Re22053512b7349f1"/>
    <p:sldLayoutId xmlns:r="http://schemas.openxmlformats.org/officeDocument/2006/relationships" id="2147483651" r:id="R5dd395cfbb36400d"/>
    <p:sldLayoutId xmlns:r="http://schemas.openxmlformats.org/officeDocument/2006/relationships" id="2147483652" r:id="R7fcdc695bce54da8"/>
    <p:sldLayoutId xmlns:r="http://schemas.openxmlformats.org/officeDocument/2006/relationships" id="2147483653" r:id="R29195059a2554a21"/>
    <p:sldLayoutId xmlns:r="http://schemas.openxmlformats.org/officeDocument/2006/relationships" id="2147483654" r:id="Re7ff13c5b319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68fe0294842dd" /><Relationship Type="http://schemas.openxmlformats.org/officeDocument/2006/relationships/notesSlide" Target="/ppt/notesSlides/notesSlide1.xml" Id="R70555eb811e04a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d013344ec4628" /><Relationship Type="http://schemas.openxmlformats.org/officeDocument/2006/relationships/notesSlide" Target="/ppt/notesSlides/notesSlide2.xml" Id="Rddb1dfa5c32742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e483788d04cf7" /><Relationship Type="http://schemas.openxmlformats.org/officeDocument/2006/relationships/notesSlide" Target="/ppt/notesSlides/notesSlide3.xml" Id="R8326f5db1fe7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48dae70c04d00" /><Relationship Type="http://schemas.openxmlformats.org/officeDocument/2006/relationships/notesSlide" Target="/ppt/notesSlides/notesSlide4.xml" Id="Rb6fbf7f0e16743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0ca1ff4f24f49" /><Relationship Type="http://schemas.openxmlformats.org/officeDocument/2006/relationships/notesSlide" Target="/ppt/notesSlides/notesSlide5.xml" Id="R698f6025f7f64f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c9b128efd46ab" /><Relationship Type="http://schemas.openxmlformats.org/officeDocument/2006/relationships/notesSlide" Target="/ppt/notesSlides/notesSlide6.xml" Id="R50eed9ed2c8f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48e59f8e7497d" /><Relationship Type="http://schemas.openxmlformats.org/officeDocument/2006/relationships/notesSlide" Target="/ppt/notesSlides/notesSlide7.xml" Id="R384e8442294f46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c31e99701456a" /><Relationship Type="http://schemas.openxmlformats.org/officeDocument/2006/relationships/notesSlide" Target="/ppt/notesSlides/notesSlide8.xml" Id="R25973c18de5c40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c10a3914e476f" /><Relationship Type="http://schemas.openxmlformats.org/officeDocument/2006/relationships/notesSlide" Target="/ppt/notesSlides/notesSlide9.xml" Id="R3400fcd4f85d46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79ccaaaa44984" /><Relationship Type="http://schemas.openxmlformats.org/officeDocument/2006/relationships/notesSlide" Target="/ppt/notesSlides/notesSlide10.xml" Id="Rc4f766b0e50145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35988821f4518" /><Relationship Type="http://schemas.openxmlformats.org/officeDocument/2006/relationships/notesSlide" Target="/ppt/notesSlides/notesSlide11.xml" Id="Radc9d1080e2049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115c0ce31496f" /><Relationship Type="http://schemas.openxmlformats.org/officeDocument/2006/relationships/notesSlide" Target="/ppt/notesSlides/notesSlide12.xml" Id="R2239816be3eb4e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2f8732434448c" /><Relationship Type="http://schemas.openxmlformats.org/officeDocument/2006/relationships/notesSlide" Target="/ppt/notesSlides/notesSlide13.xml" Id="Ra904684be41449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546371f1942a3" /><Relationship Type="http://schemas.openxmlformats.org/officeDocument/2006/relationships/chart" Target="/ppt/slides/charts/chart1.xml" Id="Rac203e2db38a4585" /><Relationship Type="http://schemas.openxmlformats.org/officeDocument/2006/relationships/chart" Target="/ppt/slides/charts/chart2.xml" Id="R0d160c72b4c34b12" /><Relationship Type="http://schemas.openxmlformats.org/officeDocument/2006/relationships/notesSlide" Target="/ppt/notesSlides/notesSlide14.xml" Id="R19516d419f6742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65d9552754e23" /><Relationship Type="http://schemas.openxmlformats.org/officeDocument/2006/relationships/notesSlide" Target="/ppt/notesSlides/notesSlide15.xml" Id="R26be090a5ea349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568ce41e042e4" /><Relationship Type="http://schemas.openxmlformats.org/officeDocument/2006/relationships/notesSlide" Target="/ppt/notesSlides/notesSlide16.xml" Id="R88244a20b8ab47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d7e28ee65466b" /><Relationship Type="http://schemas.openxmlformats.org/officeDocument/2006/relationships/notesSlide" Target="/ppt/notesSlides/notesSlide17.xml" Id="Rbb4ee888629f4ec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Average execution time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22231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ms</c:v>
          </c:tx>
          <c:spPr>
            <a:solidFill xmlns:a="http://schemas.openxmlformats.org/drawingml/2006/main">
              <a:srgbClr val="66764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Classical</c:v>
                </c:pt>
                <c:pt idx="1">
                  <c:v>Pure quantum</c:v>
                </c:pt>
                <c:pt idx="2">
                  <c:v>Hybrid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1.19</c:v>
                </c:pt>
                <c:pt idx="1">
                  <c:v>95.81</c:v>
                </c:pt>
                <c:pt idx="2">
                  <c:v>71.74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9D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Extra peak RAM (MB)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22231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MB</c:v>
          </c:tx>
          <c:spPr>
            <a:solidFill xmlns:a="http://schemas.openxmlformats.org/drawingml/2006/main">
              <a:srgbClr val="2F5C5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Classical</c:v>
                </c:pt>
                <c:pt idx="1">
                  <c:v>Pure quantum</c:v>
                </c:pt>
                <c:pt idx="2">
                  <c:v>Hybrid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0.01</c:v>
                </c:pt>
                <c:pt idx="1">
                  <c:v>5.19</c:v>
                </c:pt>
                <c:pt idx="2">
                  <c:v>0.04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9D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9B1CD-2AF0-488C-ADE0-22151C5F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944A2-59CA-4C2C-A911-D073A80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39800"/>
            <a:ext cx="14224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5B3C3-A5CC-460F-BF8B-6C3F00EE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244600"/>
            <a:ext cx="1079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QUANTUM COMPUTING &amp; ALGORITHMS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87598-BA68-41AA-82AB-7D9F523B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413000"/>
            <a:ext cx="11938000" cy="2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6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QUANTUM</a:t>
            </a:r>
          </a:p>
          <a:p xmlns:a="http://schemas.openxmlformats.org/drawingml/2006/main">
            <a:pPr algn="l">
              <a:defRPr sz="6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6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CHESS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D22D0-05C6-472A-92B3-92B0A7E4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207000"/>
            <a:ext cx="12700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Architecture, gate-level prototype, hybrid search, and 3×3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65602-ED11-4B28-8FAB-03094CE6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527800"/>
            <a:ext cx="11049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0871B-466E-48CD-99E3-A10C2413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908800"/>
            <a:ext cx="5334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PROJECT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21497-D382-4E1A-B13E-BECB2F16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7416800"/>
            <a:ext cx="863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Team 01  |  Faculty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79EC2-56CD-4DAE-ABA7-483A6CDB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8636000"/>
            <a:ext cx="142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Educational prototype using classical chess logic and Qiskit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F56A7-6B30-4E2E-921C-1BF104D0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0" y="1905000"/>
            <a:ext cx="2921000" cy="29210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8E279-3050-44D0-916D-831ABEAD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800" y="22098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D7613-18BE-4C6D-8B16-4646DCF0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22098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DF627-5BAE-42A3-B8BB-EBE84F4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3600" y="22098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C7066-774E-4450-BC81-D60F464A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800" y="29972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E60B1-1AA3-4092-95B0-1167571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29972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E927E-EF55-4CEB-957C-B7E70EE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3600" y="29972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DC10D-0F69-4E9E-A061-EDCBE6D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800" y="37846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A4B6B-0F47-40E1-BE2F-724942A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37846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F76CD-EB6C-4631-B78E-5CBFAE1B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3600" y="3784600"/>
            <a:ext cx="7366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3C699-CC72-48AD-ABA5-466675D4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800" y="4749800"/>
            <a:ext cx="22606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3×3</a:t>
            </a:r>
          </a:p>
        </p:txBody>
      </p:sp>
    </p:spTree>
    <p:extLst>
      <p:ext uri="{BB962C8B-B14F-4D97-AF65-F5344CB8AC3E}">
        <p14:creationId xmlns:p14="http://schemas.microsoft.com/office/powerpoint/2010/main" val="604423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3355D-272B-43DA-BB1F-14B58BAE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99217-A73B-498D-B17A-D7095C5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3FC4B-6C8A-4C8A-8373-BBDBFA52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Project at a glance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7DF0D-2307-4472-9EDB-97D12A61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C58E0-DF11-4929-AD15-BA6B3BBB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9F7D-E258-4DDC-B893-0C29050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52ACB-BBBE-4A04-B140-5D39A733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E9C0-43B3-4FC3-AF8C-E663389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67418-6C7D-4903-BE6A-FF0FCC8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7747000" cy="29210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98EA1-4A4E-4C77-9384-E41D186D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889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7EDDD-9217-48A1-AC94-1123816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387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3A683-1000-46CE-98E4-40EE8C23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921000"/>
            <a:ext cx="7137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Build a chess software prototype that makes classical and quantum-circuit concepts visible through playable modes, circuit construction, simulation, and basic resource measurements.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2DC58-E013-42DD-A786-2F942401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9000"/>
            <a:ext cx="7747000" cy="29210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09F5C-4ECD-4B7C-A342-3ACC5074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9000"/>
            <a:ext cx="889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8E78F-2F1F-4AF2-8615-66C1EAB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7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What it demonstrates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33EBB-DFF2-43CD-BE49-7E26AC27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21000"/>
            <a:ext cx="7137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Classical legal-move generation, heuristic move selection, Grover-style amplitude amplification over move indices, and a separate coordinate/status gate prototype.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B1077-D027-4714-920E-5BBB585A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715000"/>
            <a:ext cx="304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Key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846E6-0170-48C3-90B5-D33543B5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85900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The application is hybrid. Chess state and legality remain classical; measured circuit outputs do not rewrite the complete board.</a:t>
            </a:r>
          </a:p>
        </p:txBody>
      </p:sp>
    </p:spTree>
    <p:extLst>
      <p:ext uri="{BB962C8B-B14F-4D97-AF65-F5344CB8AC3E}">
        <p14:creationId xmlns:p14="http://schemas.microsoft.com/office/powerpoint/2010/main" val="102290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7BB5D-E9DD-4ECF-94C2-7551DB38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0A739-D47F-468A-A934-CC26AC3A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820D4-52B2-4354-8C9B-2609E3B1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Abstract and project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5976E-3CD1-4CD2-AE3D-549A7415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A8467-07CE-4CDE-96F5-4E340F28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9BE2-3A9F-4B34-9A38-8150981D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039FD-7098-47DA-B670-E9064390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9A7E3-A497-41A3-9273-AEE9545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6F2A6-2CE2-4C54-9E5D-1F20054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84400"/>
            <a:ext cx="1460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 small, inspectable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9FCEB-281D-4695-824B-2F4BEE25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175000"/>
            <a:ext cx="15875000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The project separates chess rules from quantum experimentation. The engine models pieces and legal moves. The hybrid selector ranks candidates classically and uses a Grover circuit to amplify selected move indices. The pure-circuit builder encodes a chosen move’s coordinates and square statuses into registers, applies a limited set of reversible gates, and measures the circuit.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71804-41B6-4814-A9E3-FB3593BB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28575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154C0-B430-46D8-89F5-4D73A462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50000"/>
            <a:ext cx="26543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PLAYABLE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A41EB-09BE-4106-BD6D-D8ED08D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50000"/>
            <a:ext cx="31115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DA99D-FCD5-4D12-83F3-015CCB94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6350000"/>
            <a:ext cx="29083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CIRCUIT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B8D64-AF07-4DB3-B9DF-A9F9CAEA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6350000"/>
            <a:ext cx="292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A33AB-E268-4141-B3B8-BDD3220F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350000"/>
            <a:ext cx="271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BENCHMARK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9CBBA-CA68-469B-9A0B-EF8594F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493000"/>
            <a:ext cx="154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Outcome: a demonstrator for architecture and gate behavior, with clear boundaries on completeness and quantum advantage.</a:t>
            </a:r>
          </a:p>
        </p:txBody>
      </p:sp>
    </p:spTree>
    <p:extLst>
      <p:ext uri="{BB962C8B-B14F-4D97-AF65-F5344CB8AC3E}">
        <p14:creationId xmlns:p14="http://schemas.microsoft.com/office/powerpoint/2010/main" val="762946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9148F-7B49-41A4-9C81-878D7342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DF1DA-15A2-44C1-A2F6-4600194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D90FB-2CC4-48D1-B4F8-51A02F67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Problem framing and implementation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264F9-B195-4ED7-A0EF-95C88A86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F7583-DE11-4EB4-9FEA-AEDBBEB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9276A-38DF-478E-A232-AE7F885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3BECD-B7D8-46EA-8725-127CE6B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80B88-BC28-41FA-AF95-95EC5599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D8B4C-3F57-478C-82EB-31554D6D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35200"/>
            <a:ext cx="7493000" cy="58420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07BA4-3C1E-41CA-9438-B9E72E0A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35200"/>
            <a:ext cx="88900" cy="58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4E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AC7BE-4BC1-4F59-8B36-D12DEC27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463800"/>
            <a:ext cx="690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Teaching 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49D05-C94D-4F76-9DDD-227A6C7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997200"/>
            <a:ext cx="6883400" cy="49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Quantum algorithms are hard to explain when the board, legal rules, search logic, and measurements are mixed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A full 8×8 quantum board representation would be expensive to simulate and difficult to inspect.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A benchmark needs simple, interpretable metrics.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9955E-B487-4FED-8D8D-8F3310C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2235200"/>
            <a:ext cx="7493000" cy="58420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C1BA2-97C0-4288-979C-291D8C89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2235200"/>
            <a:ext cx="88900" cy="58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E32C8-012B-4FD4-A469-4DB88B1E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2463800"/>
            <a:ext cx="690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1256A-7CDF-455D-A4A6-54FDC242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2997200"/>
            <a:ext cx="6883400" cy="49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Use a classical chess model as the source of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Keep quantum work bounded to move-index amplification and small-board gate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Compare runtime, sampled extra RAM, qubits, gates, and circuit depth.</a:t>
            </a:r>
          </a:p>
        </p:txBody>
      </p:sp>
    </p:spTree>
    <p:extLst>
      <p:ext uri="{BB962C8B-B14F-4D97-AF65-F5344CB8AC3E}">
        <p14:creationId xmlns:p14="http://schemas.microsoft.com/office/powerpoint/2010/main" val="2128747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8BDF0-7D4C-4552-84E2-EFC2546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B974B-9CD6-456B-807A-4E4BD52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C1F24-F67E-4695-B181-DAFA3F8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Concepts used in the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B3EF2-DA59-4F14-920E-EE0779DD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3846A-3D7C-465C-86BB-911F3247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57FCE-A8D0-41DD-A0AA-0A5BADA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CE3F8-3D2A-4824-8BF2-4694E88B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6999D-0E0F-4C81-957F-8FCFC438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CDEE9-5AE5-4139-B5D6-B6B747A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7747000" cy="2603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1C7BF-90AE-4B58-ABDD-F660635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88900" cy="26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8169A-8D3F-4A7B-9771-F880B156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387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28617-9526-40B4-8279-0C36F7F3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921000"/>
            <a:ext cx="7137400" cy="16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α|0⟩ + β|1⟩. Measurement samples 0 or 1 with probabilities |α|² and |β|².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03542-6FBF-4DEC-A371-EFA00B16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9000"/>
            <a:ext cx="7747000" cy="2603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AA351-452D-429F-947D-5618A321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9000"/>
            <a:ext cx="88900" cy="26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98E6E-07E3-4723-8996-37596C9C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7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Reversible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D80EE-E494-44AB-A3FC-95BEBF6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21000"/>
            <a:ext cx="7137400" cy="16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A unitary operation that preserves information. Conditional gates build reversible Boolean logic.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52F83-9217-43C0-AB7E-4487ED6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34000"/>
            <a:ext cx="7747000" cy="2603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68224-FB40-4BB6-B8A7-8795B087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34000"/>
            <a:ext cx="88900" cy="26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D6F76-D04B-454B-A110-B28E623D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562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Superposition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905DD-1B48-40C6-8E44-2CF5D3F4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6096000"/>
            <a:ext cx="7137400" cy="16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Hadamards create amplitudes over candidate indices. Measurement returns a sample, not all candidates.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4A2D1-41CB-475D-B435-F3B588E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7747000" cy="2603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8BF97-C327-4548-B5E5-BCFFD5EC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88900" cy="260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14E99-3D16-496F-8802-C9B53F3B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62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Amplitude amplification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F3E89-4CA2-4CAA-AA3B-B7665D55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96000"/>
            <a:ext cx="7137400" cy="16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Oracle phase marks plus diffuser interference raise the chance of measuring target indices.</a:t>
            </a:r>
          </a:p>
        </p:txBody>
      </p:sp>
    </p:spTree>
    <p:extLst>
      <p:ext uri="{BB962C8B-B14F-4D97-AF65-F5344CB8AC3E}">
        <p14:creationId xmlns:p14="http://schemas.microsoft.com/office/powerpoint/2010/main" val="1148073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73E8ED-02D3-40ED-84CC-0DEE8C8C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7D26-9702-4FE0-9D0D-8BA5AE5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C2D49-FFAA-436B-98AF-C1E3DA25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Layered architecture and 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E97E6-7833-451D-AABC-5C4002EA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2BF0B-A99E-4415-8445-9D6898E9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F3E9B-1236-4084-9064-A64FCB91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A9649-C106-4827-B024-60DA3E27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E81E4-4729-44F5-BA80-D6D1E81C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C204C-E640-423E-A9FA-D3D374EE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84500"/>
            <a:ext cx="2387600" cy="1498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4D181-B45C-4200-BD27-37B566D8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75000"/>
            <a:ext cx="208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UI / 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1F9F3-D426-4AFA-864E-396109D0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08400"/>
            <a:ext cx="208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Menu, console, Pygame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73CA0-0098-4891-9796-C76811CD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35052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BA606-8EA3-4438-B882-CEE5920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84500"/>
            <a:ext cx="2387600" cy="1498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48614-B038-47B3-BF1D-E6F0E74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75000"/>
            <a:ext cx="208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Game + GameState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FA87A-72CC-4D65-94A8-FBC1A564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08400"/>
            <a:ext cx="208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Classical board source of 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435CB-87AC-4CE0-9339-B74D4A91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8647C-1FE5-4A57-89EE-0D8E375D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984500"/>
            <a:ext cx="2387600" cy="1498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AB40A-73A7-4445-AB1B-F9E9CC8E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3175000"/>
            <a:ext cx="208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MoveGenerator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1E877-4F0B-4A58-8042-173A85E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3708400"/>
            <a:ext cx="208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Rules and legal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6C4B9-274D-4878-9A7D-C91F0C27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0" y="35052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B7347-070F-4917-A266-F577D2A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84500"/>
            <a:ext cx="2387600" cy="1498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BEE95-D680-4443-A657-99ED180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3175000"/>
            <a:ext cx="208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AI selectors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E1667-D506-4CB1-B9FE-0A371D0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3708400"/>
            <a:ext cx="208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Heuristic, minimax, hybrid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998A1-DF82-41E3-8DF5-C3AAEF6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0" y="35052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1717A-4ADE-4296-AD9D-4789658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984500"/>
            <a:ext cx="2387600" cy="1498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85687-F669-425D-90D0-825911B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175000"/>
            <a:ext cx="208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Quantum modules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6B5ED-806D-435A-9EB4-C60DDA7F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708400"/>
            <a:ext cx="208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Grover, encoding, Aer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6C7E9-3CE0-4C7A-9222-1EFF635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5052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88E508-E8E9-4569-9F8C-5786C1B6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5800" y="2984500"/>
            <a:ext cx="2387600" cy="14986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E58F6-3590-4B93-914D-E8F7DBF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200" y="3175000"/>
            <a:ext cx="208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EF7EB-3C69-465F-8D77-EC75E8D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200" y="3708400"/>
            <a:ext cx="2082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Index decode / diagnostics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70CBA-2A14-411A-9D10-2B039081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461000"/>
            <a:ext cx="7747000" cy="234950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1680D1-0409-41FD-BEC8-F6409227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461000"/>
            <a:ext cx="88900" cy="23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9F3CBF-730B-4FB3-A02A-5F22201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689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8×8 hybrid 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90774-C024-455B-80A5-AD84B2C3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6223000"/>
            <a:ext cx="7137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Legal list and heuristic targets are prepared classically; Grover samples a candidate index; the engine maps it back to a Move.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12502-852C-4230-B138-780E5901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61000"/>
            <a:ext cx="7747000" cy="234950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94C46-4CB4-40FA-9B9E-5109FC23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61000"/>
            <a:ext cx="88900" cy="23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18A7FF-AFA9-42BD-9799-B7A0B5DF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89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2×2 / 3×3 pure 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820249-93C7-4700-8F3D-D501B04F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223000"/>
            <a:ext cx="7137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The builder encodes supplied coordinates and board statuses; the circuit is simulated; classical game code applies the move.</a:t>
            </a:r>
          </a:p>
        </p:txBody>
      </p:sp>
    </p:spTree>
    <p:extLst>
      <p:ext uri="{BB962C8B-B14F-4D97-AF65-F5344CB8AC3E}">
        <p14:creationId xmlns:p14="http://schemas.microsoft.com/office/powerpoint/2010/main" val="950426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D0F24-2BA4-404B-9BDE-FE05A9A3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C62E-F36F-453C-AD08-6DA87A1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IMPLEMENTED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4C89C-A947-44E1-B595-F86B4162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Three project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506F7-C0FF-4A09-AC6E-9DBF43E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5703B-D537-4FEE-A92C-04D2510D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0F67C-A1B6-4793-AFBC-711CE558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FD36C-C531-4E77-9C8D-5D65099D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86F06-ED9A-4694-A437-C25A217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C077D-788E-4A33-B196-6283E16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5207000" cy="546100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5C337-9890-4C4F-B923-B803C4AB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88900" cy="546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576F6-0A64-4621-80A3-30B38892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387600"/>
            <a:ext cx="462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8×8 Hybrid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BE5AD-DBBA-47D8-8878-76568BDA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921000"/>
            <a:ext cx="4597400" cy="452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Playable chess interface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Classical legal moves and heuristic scores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Grover amplification of best-scoring move indices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Minimax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B8BD8-8A62-4589-A1EB-E4E268D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159000"/>
            <a:ext cx="5207000" cy="546100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F13BA-D5A8-4C14-BC9B-704C55C3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159000"/>
            <a:ext cx="88900" cy="546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2D49F-61BA-4F94-BA81-8715C74B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300" y="2387600"/>
            <a:ext cx="462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3×3 Pure-circuit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6F9B9-2482-4F01-B3FA-EF90831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300" y="2921000"/>
            <a:ext cx="4597400" cy="452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Small-board coordinate/status circuit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User-selected move is encoded and simulated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Classical Game applies the actual transition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AI path uses classical minimax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FB6FD-8B0B-4787-AA25-2DA4F3B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159000"/>
            <a:ext cx="5207000" cy="546100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9A437-597A-4ECF-96E0-27B9704E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159000"/>
            <a:ext cx="88900" cy="546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39D90-9158-4C51-A5C3-A461EB8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387600"/>
            <a:ext cx="462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2×2 black-pawn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A671F-E1E8-4F46-8319-59E6BC8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21000"/>
            <a:ext cx="4597400" cy="452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One black pawn at (0,0)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Minimal layout for reading coordinate bits and controlled gates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Useful for gate walkthroughs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Not a complete chess engine</a:t>
            </a:r>
          </a:p>
        </p:txBody>
      </p:sp>
    </p:spTree>
    <p:extLst>
      <p:ext uri="{BB962C8B-B14F-4D97-AF65-F5344CB8AC3E}">
        <p14:creationId xmlns:p14="http://schemas.microsoft.com/office/powerpoint/2010/main" val="343081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2DB26-DE75-4E74-A526-3064047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5C34F-1AE8-4BA9-B2B2-AAE3663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0C02E-B6C9-494A-94F4-AB95C3DB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Configuration and runtime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93FFB-A1E2-4F6C-BF6A-FBCA2343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9A1D9-F360-48EC-A3BD-1CF09D50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708CE-4AB7-4B5A-9374-A4CC4C60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D8F99-0647-4A67-A55C-93AE053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200CF-7F48-4205-92A7-34971231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81C87-50BC-4B85-BBBD-8D92D64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0955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36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F3449-2DDD-4167-85A3-3B2F45D8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63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3B872-5BB9-4201-A95B-CEC81BAB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1463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Default / 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677F3-6C0A-46B1-9A10-EF9C9A3A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559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32B63-300F-46B1-A519-C388A05B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67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Board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70F6F-3E22-40B6-B59D-9F7DCF9C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8067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8×8 default; demos construct 3×3 and 2×2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82F6F-BF59-4A53-89DF-C3C7744C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163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D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2BAC9-2934-45E2-BD12-4411F73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3×3 pieces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C8922-5C62-47DF-A72F-CFD37BA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4671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White Knight (2,1), Black Pawn (0,0)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8464C-849A-4698-897F-4FF1F278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0767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96F4E-D09E-4F1B-8DFB-690439A1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75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2×2 pieces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A2623-1DBC-4485-AF47-73CDFCDC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1275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Black Pawn (0,0)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CB79F-677B-462B-A5E0-7108756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7371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D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59087-DE40-419B-9CF7-C472CB3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79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Shots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01E1F-A6CE-4A5B-9B52-4A30C63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7879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QUANTUM_SHOTS = 1024 (wrapper default)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43046-1B2B-468F-A27C-B86E340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975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C770D-4D31-48EF-A4BF-451C3BA9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40904-AD35-43B1-ABE1-3F01F55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54483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Qiskit Aer simulator; GPU attempt with CPU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3EF48F-B54F-4DA8-ABFC-1795487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0579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D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C9FDA-9C18-41A6-917C-7FEA258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087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C67E02-EB72-4AA1-8D14-FC18011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1087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Enabled by default; depolarizing p = 0.01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2D89E-AAB2-400E-9F8F-04BD93B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718300"/>
            <a:ext cx="16637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C4195B-3CB6-4789-B2AA-25C8AC0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69100"/>
            <a:ext cx="431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Benchmark override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3A1D7B-FFBB-4153-8D3B-9561E57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769100"/>
            <a:ext cx="11684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CPU Aer matrix_product_state; noise off; pure 1 shot, hybrid 2048 shots</a:t>
            </a:r>
          </a:p>
        </p:txBody>
      </p:sp>
    </p:spTree>
    <p:extLst>
      <p:ext uri="{BB962C8B-B14F-4D97-AF65-F5344CB8AC3E}">
        <p14:creationId xmlns:p14="http://schemas.microsoft.com/office/powerpoint/2010/main" val="472546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B718DF-6864-448E-B2DA-2607C18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DEBD3-4BB9-413B-83E7-8172B1BD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CIRCUIT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50766-4D99-4620-8261-566EA92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Board coordinates and status encoding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A9B04-1BCD-4AF7-9D64-992935CA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B624-30EF-4DDE-9266-DED23CC8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C1D4C-5330-455B-9B02-77E9F3FA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220C-80D3-4920-8EF8-CFFB82E4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99E05-2847-43FF-ADA2-42F93E91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D9357-9616-4162-911D-658D3896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749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2×2 / 3×3 coordinate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83F73-C2A6-44C2-B3BE-5F9442F0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94000"/>
            <a:ext cx="749300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Two bits per axis; column bits followed by row bits.</a:t>
            </a:r>
          </a:p>
          <a:p xmlns:a="http://schemas.openxmlformats.org/drawingml/2006/main">
            <a:pPr algn="l">
              <a:defRPr sz="2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(row=1, col=0) → 00 + 01 → 0001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EEE59-4565-4474-B2E7-BF9AF93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3180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480EE-0399-4C01-9A99-4734336A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318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(0,0)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BA381-D340-41DF-A4F2-2219F14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3180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C5E88-AC3D-44AE-AC26-A2C9D46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318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(0,1)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6870C-847D-4E01-B3F3-8B28B2C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180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239E6-9D11-4FED-88CB-534F6D3F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18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(0,2)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930F8-7A4F-4B32-AF8D-1C6E5C82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52578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3092E-D413-4BA7-8B66-936AC8D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52578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(1,0)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CAAE8-A792-4E65-A3D3-C37DB47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52578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E39BD-59D1-4818-B0A4-39D97C0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52578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(1,1)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1BC13-05E6-4E84-96DE-3A9E77E6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578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7927B-9F7C-4A57-986E-855A611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578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(1,2)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979A6-4E69-478B-AFB2-5122CCAB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1976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B6C5C-030F-44A1-ADC4-7F80D99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1976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(2,0)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529B3-2474-40A9-AF6C-0E22310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61976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16A09-4CC5-49F2-997B-D421E7EB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61976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(2,1)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C4788-A121-4362-B4BE-0ADD60E2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197600"/>
            <a:ext cx="8890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709A3-BCF1-4CEB-9FE9-6AB3E89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1976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(2,2)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A973C-8340-4531-90F7-E4B0B07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2209800"/>
            <a:ext cx="7874000" cy="24130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19AC9C-DC9C-460B-B0E5-A8D2283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2209800"/>
            <a:ext cx="889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B37F8-05AC-4A0F-8490-736EC7A1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438400"/>
            <a:ext cx="7289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Small-board registers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ABAA4-7732-4F62-8609-47815EA6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971800"/>
            <a:ext cx="72644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Source 4 + target 4 + direction 4 + source status 3 + destination status 3 + ancilla 5 = 23 qubits.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0EBDAB-E530-4005-9C27-132BC370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5041900"/>
            <a:ext cx="7874000" cy="24892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11BE7-B2D4-44C1-952E-3DE71FFB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5041900"/>
            <a:ext cx="88900" cy="248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523F9D-1D13-4DFE-807E-41EB2AA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5270500"/>
            <a:ext cx="7289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Status example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E369C-1F62-4F64-B618-23BAAEEA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5803900"/>
            <a:ext cx="7264400" cy="15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Compact status is 3 bits on small boards. Empty = 000. Black Pawn = 001. Some piece categories share codes, so this is a teaching encoding, not a complete injective board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04990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74869C-358B-4B6E-8229-294645FE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D26C4-C641-4A37-BF6A-F067968B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CIRCUIT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BF530-8A61-447B-8760-82343A84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Gate operations and their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AE834-0D9C-4EA1-A450-4EB4ED13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B4B0A-088B-4C47-9A05-90254BE9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46B78-4E98-4F5F-A70A-5A5A89B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4D4F9-CA84-4441-8A60-6D4A2F9A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F67CE-B89A-47BB-9755-CC196D60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F49D7-7FA0-4149-8F11-78E111A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032000"/>
            <a:ext cx="1663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EBC61-A2D5-45C8-B691-20B04B3B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60600"/>
            <a:ext cx="165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B2FAE-F5C2-4E09-BC30-01AA254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260600"/>
            <a:ext cx="144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AA3C4-154B-48BB-A9A4-C4E78E4C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6300"/>
            <a:ext cx="5143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|0⟩↔|1⟩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48FFC-EDD0-4413-9756-0E9A4546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146300"/>
            <a:ext cx="8572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Loads 1 bits; inverts zero-controls; prepares flag/diffuser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37BBC-46CC-46AD-B50F-8B6D7B6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136900"/>
            <a:ext cx="1663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E49A1-9C15-4CDA-8DBC-499670E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365500"/>
            <a:ext cx="165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50382-6F3F-4826-9CC9-15DB534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365500"/>
            <a:ext cx="144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ECE0C-99E1-4CD4-96D1-0CB9CD4D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1200"/>
            <a:ext cx="5143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|0⟩→(|0⟩+|1⟩)/√2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52EB1-02A7-450A-82B8-903F04A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251200"/>
            <a:ext cx="8572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Creates uniform index superposition; prepares |−⟩ 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ABD6B-E466-4772-A80F-8D2A6969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241800"/>
            <a:ext cx="1663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D5E5E-BEEE-4984-B52E-1448A4CE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70400"/>
            <a:ext cx="165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C91DC-2037-4AAC-8DB3-BE908B0E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4470400"/>
            <a:ext cx="144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7716F-0A76-4264-BE12-D593D98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56100"/>
            <a:ext cx="5143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Target flips if control =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0F8FD-77F5-4BFC-AF8A-74B8B27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356100"/>
            <a:ext cx="8572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Reversible conditional bit operation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BA7B1-9002-4E88-8D4E-906541A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46700"/>
            <a:ext cx="1663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E9712-4642-41F4-9A42-9D2ECB1F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75300"/>
            <a:ext cx="165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D6CDA-D711-417F-9284-9C1486F3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575300"/>
            <a:ext cx="144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CCX / MCX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9B94B-87A6-4FA0-B5DE-8B4E808D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61000"/>
            <a:ext cx="5143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Target flips when all controls =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425B3-2D1C-435D-AE98-8AFC4B98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5461000"/>
            <a:ext cx="8572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Coordinate/status lookup and Grover oracle predicate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5A33E-9F72-42A4-B45E-C17D775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451600"/>
            <a:ext cx="1663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1889D-7888-45D7-A0ED-F1A3FCFD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6680200"/>
            <a:ext cx="165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EBF9F5-6A10-4505-B9D9-7DF49C64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6680200"/>
            <a:ext cx="144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 / MCZ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3856C-4A0B-406D-BC45-1DCAE463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565900"/>
            <a:ext cx="5143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Adds a − sign to selected basis 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D80CE-E480-451C-857F-472D98D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565900"/>
            <a:ext cx="8572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Phase marking / diffuser reflection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7B28EB-F5AE-4DA0-A405-9F29873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556500"/>
            <a:ext cx="1663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1CEAB6-BEA0-4A99-B783-9D2287C8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7785100"/>
            <a:ext cx="1651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D0049D-B164-4BA9-9F26-32A67B9F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7785100"/>
            <a:ext cx="144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AB2FA0-C661-46CA-994C-F9BB2F4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670800"/>
            <a:ext cx="5143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Samples a classical bit string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3A272B-5BE6-41A2-824E-D90E1B8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7670800"/>
            <a:ext cx="8572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Returns index sample or circuit diagnostics</a:t>
            </a:r>
          </a:p>
        </p:txBody>
      </p:sp>
    </p:spTree>
    <p:extLst>
      <p:ext uri="{BB962C8B-B14F-4D97-AF65-F5344CB8AC3E}">
        <p14:creationId xmlns:p14="http://schemas.microsoft.com/office/powerpoint/2010/main" val="1666845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D7B1B-F71F-4789-BD22-B8D04917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4C47F-9EE2-4359-A066-F7E8A055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CIRCUIT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17ECA-414A-4E25-8B52-ED9BD6E8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How a pure-circuit demo processes a move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6EEBF-4AA4-4B2D-9D26-9108BBF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5EED8-E7B8-4839-AE42-D99A241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A7818-ED7E-4F74-93EF-0F1C923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3F76C-E972-4343-BA14-B520B86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6A234-D0EF-4D6D-9CD4-305D49DA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3C4F7-F65E-4145-BABF-F28BCB0D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3000"/>
            <a:ext cx="889000" cy="88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FC286-D2D9-42F6-9924-DBE385C5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3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7A13-1FAC-4497-939B-FCC5A19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71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Choose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6B586-D46C-40AB-ADAB-DF8DEBDB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910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Classical user/UI provides source and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25F67-C83D-4333-BF7A-C4D95F4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26416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49020-402F-499A-8C5E-B6E1577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413000"/>
            <a:ext cx="889000" cy="88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5D8C3-C8FF-45A1-9C3F-EC35DC20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413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9D75B-221C-4B94-BF28-E49968D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619500"/>
            <a:ext cx="271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DA07F-D80F-442E-B531-6650C826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910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Builder initializes coordinate and status registers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0FF6C-5E1C-4527-91F3-482AC0A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16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FCC98-58EB-4701-891F-D414F425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413000"/>
            <a:ext cx="889000" cy="88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05708-7409-4C11-920E-6DD6560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413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D4E15-9B8E-40DD-B7E5-34D21FF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19500"/>
            <a:ext cx="271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Apply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FADD2-4727-44E8-8348-3120DA5C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1910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Lookup controls, partial direction logic, status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CAE07-E7E4-4D5C-BBE5-66C8D74D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700" y="26416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5303D-69BB-421C-B7A1-8E69AE0D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13000"/>
            <a:ext cx="889000" cy="88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1BB7E-F21E-48CA-A678-DA2E3207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13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9D9AFA-D7C3-4B6E-AAA6-366AD7C1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619500"/>
            <a:ext cx="271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CCC58-8D3B-4D12-86EC-EB0F13C2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100" y="41910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Aer executes and measures the circuit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C6733-DC2D-4CE6-BC38-211E028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6800" y="2641600"/>
            <a:ext cx="304800" cy="431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04232-878E-418B-9635-4A38C1D1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100" y="2413000"/>
            <a:ext cx="889000" cy="88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FF354-CF47-4C11-B5E8-A2BB75B2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100" y="2413000"/>
            <a:ext cx="88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0C485-847A-4C4D-A690-DBB389B7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6700" y="3619500"/>
            <a:ext cx="2717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Update game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8C128A-894F-4ED2-A41B-C77B64D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1910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Classical Game.make_move applies board transition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30298E-EB8F-4593-8861-336FC570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477000"/>
            <a:ext cx="16637000" cy="15748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ABE2CF-70CF-4B4F-B86B-421EF93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477000"/>
            <a:ext cx="88900" cy="157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4E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7C7C3B-FB51-4932-8075-0A15F593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6705600"/>
            <a:ext cx="1605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Important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32328C-59BD-487D-8337-623B0678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7239000"/>
            <a:ext cx="160274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The measurement output is diagnostic. The classical move object, not a decoded quantum board, drives the actual game-state update.</a:t>
            </a:r>
          </a:p>
        </p:txBody>
      </p:sp>
    </p:spTree>
    <p:extLst>
      <p:ext uri="{BB962C8B-B14F-4D97-AF65-F5344CB8AC3E}">
        <p14:creationId xmlns:p14="http://schemas.microsoft.com/office/powerpoint/2010/main" val="18673406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E7953D-304A-421A-B159-5329E64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1AD93-8E35-40E4-AB98-B98C1B39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HYBRID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21383-ED5C-4EF6-8605-481A1F1B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How hybrid Grover move selection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A83D0-5C63-49D8-9FA8-6B9D854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6A404-BA3B-4A43-8E7A-3A83077C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6358B-3888-4839-AE4D-EBD6BE1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12801-4BCC-424A-B910-B17B89C1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B9155-7B68-44EC-AC81-42CCE04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97747-4C3C-4547-AAA9-39A4DAEC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60600"/>
            <a:ext cx="16256000" cy="9398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CEB97-CF97-4D02-B3DB-B36A77D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2032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2D620-1851-4B33-AC7F-E86CBFB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514600"/>
            <a:ext cx="182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94BCA-34CD-47AD-90F8-833EB310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413000"/>
            <a:ext cx="1206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Generate legal moves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EAF82-681F-45F0-A9E4-5ED2D54A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00400"/>
            <a:ext cx="381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C1B1D-2E8D-4358-BAB2-F5EDC9C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54400"/>
            <a:ext cx="16256000" cy="9398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C9468-6732-4AFC-8716-434027D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8400"/>
            <a:ext cx="2032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01269-606A-4247-8334-74D06B38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3708400"/>
            <a:ext cx="182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EB480-2900-47E3-8C50-522B25F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606800"/>
            <a:ext cx="1206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Score each move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8A813-37EA-4107-B87D-B179B4F0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94200"/>
            <a:ext cx="381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5A6C3-7AFE-40A3-A854-40A0C389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48200"/>
            <a:ext cx="16256000" cy="9398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475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48259-28E8-4AD3-AA0F-97894D1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2200"/>
            <a:ext cx="2032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62436-655A-4EFA-AA18-2B68520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4902200"/>
            <a:ext cx="182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7FF4C-6CF4-40D9-B70A-36D938D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4800600"/>
            <a:ext cx="1206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 best-score indices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96F42-C8A0-4D0A-9BDC-8151F908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88000"/>
            <a:ext cx="381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1C595-98EF-438D-B997-1853E66A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842000"/>
            <a:ext cx="16256000" cy="9398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385F2-DC53-4715-8A63-4F96AA96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2032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28433-2B63-4AAD-9E86-59DD1D8D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6096000"/>
            <a:ext cx="182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F8733-C8E3-420C-A0CA-4FA385B8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5994400"/>
            <a:ext cx="1206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Repeat oracle + diffuser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D208A-C202-4BBA-89E0-7EC4AEE0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781800"/>
            <a:ext cx="381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FCA6C-41AC-4CA4-99AF-77EC0A6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035800"/>
            <a:ext cx="16256000" cy="9398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3F67E3-6A4C-4527-BE8D-B622E37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89800"/>
            <a:ext cx="2032000" cy="4318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F6F70-3DAA-4E49-B8F5-97B04C37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7289800"/>
            <a:ext cx="1828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E35C7-5E82-47BD-A321-5CCC6EDC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7188200"/>
            <a:ext cx="1206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Decode and validate index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E74F7-144A-4798-AF78-7D1584C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36000"/>
            <a:ext cx="1638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Grover amplifies the probability of the already selected best indices. Classical move generation and scoring remain part of the pipeline.</a:t>
            </a:r>
          </a:p>
        </p:txBody>
      </p:sp>
    </p:spTree>
    <p:extLst>
      <p:ext uri="{BB962C8B-B14F-4D97-AF65-F5344CB8AC3E}">
        <p14:creationId xmlns:p14="http://schemas.microsoft.com/office/powerpoint/2010/main" val="17589867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A8D6A-F174-4F8B-A25D-EEC64ED9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5957C-368C-4FF7-B533-1E6FD37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3EDF7-E812-44EF-ADB4-BED7DA06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Classical baseline and evaluation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AFA28-8F23-4F1E-AB8D-F93C9886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7CE34-EF0D-48A7-BE65-EB2706BA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72A28-664D-4421-8380-CD3FCE16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9F59B-E507-4561-A9CE-9653563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B204C-6D3E-4123-9377-A180925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61C71-1C48-478A-8557-059CFA0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22500"/>
            <a:ext cx="7747000" cy="3302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9D47D-BC40-4B86-9216-7F958DFD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22500"/>
            <a:ext cx="88900" cy="33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7E3EA-E0F0-4980-878E-0A98B077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4511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3×3 classical 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77FE0-1C43-4C00-802C-F4B00C64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984500"/>
            <a:ext cx="7137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The benchmark’s classical system uses depth-3 minimax. The 8×8 engine also includes classical move generation, heuristic evaluation, and minimax fallback.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B8C09-E918-4BC1-858F-D3CBCAB5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22500"/>
            <a:ext cx="7747000" cy="3302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B1D12-07B8-41C9-9833-3F692F5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22500"/>
            <a:ext cx="88900" cy="33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6C665-D9B8-418E-ACF3-F5646EE6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11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Shared chess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127ED-E96C-4A5A-A1A4-DEAB2B50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84500"/>
            <a:ext cx="7137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MoveGenerator and GameState define candidate moves and transitions. The legal-move count is the input size context for the 3×3 benchmark.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763F2-16D4-479B-8BDE-1A561B0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4064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3919F-DD84-4BB7-A17E-C76663D6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959600"/>
            <a:ext cx="15494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The comparison measures resource use and circuit size. It does not measure win rate, move quality, or a quantum advantage.</a:t>
            </a:r>
          </a:p>
        </p:txBody>
      </p:sp>
    </p:spTree>
    <p:extLst>
      <p:ext uri="{BB962C8B-B14F-4D97-AF65-F5344CB8AC3E}">
        <p14:creationId xmlns:p14="http://schemas.microsoft.com/office/powerpoint/2010/main" val="15104081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DA963-8C32-42D7-86B5-82C522AB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9449D-38F7-48D3-B323-A30E2DB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6565B-3466-46A3-B850-1FA20EB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3×3 system comparison: simple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D33F8-E956-416A-9F2D-BDADAAE3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14225-B571-4E1D-9934-11A5EA2C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5D857-C822-4905-9824-B41520F2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19EB1-16BE-4E37-9EA8-2F795E83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AD3ED-9BD7-4051-89BE-769930C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5137A295-0523-4045-BCD5-17943DADFB9E}"/>
              </a:ext>
            </a:extLst>
          </p:cNvPr>
          <p:cNvGraphicFramePr/>
          <p:nvPr/>
        </p:nvGraphicFramePr>
        <p:xfrm>
          <a:off xmlns:a="http://schemas.openxmlformats.org/drawingml/2006/main" x="812800" y="2286000"/>
          <a:ext xmlns:a="http://schemas.openxmlformats.org/drawingml/2006/main" cx="7874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203e2db38a4585"/>
          </a:graphicData>
        </a:graphic>
      </p:graphicFrame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2BCE6D4-AD24-4304-BF5B-0FA5A6C0785C}"/>
              </a:ext>
            </a:extLst>
          </p:cNvPr>
          <p:cNvGraphicFramePr/>
          <p:nvPr/>
        </p:nvGraphicFramePr>
        <p:xfrm>
          <a:off xmlns:a="http://schemas.openxmlformats.org/drawingml/2006/main" x="9144000" y="2286000"/>
          <a:ext xmlns:a="http://schemas.openxmlformats.org/drawingml/2006/main" cx="7874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160c72b4c34b12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A8B79-118E-4FEA-81D1-F51E954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239000"/>
            <a:ext cx="1625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Qubits: classical N/A  |  pure 23  |  hybrid 2.25 avg.    Gates: pure 102 avg.  |  hybrid 13.75 avg.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CFD25-E88E-45D9-80D2-CC5500C2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937500"/>
            <a:ext cx="162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Four seeded positions  |  Average legal moves: 2.25  |  CPU Aer MPS  |  Noise 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F1DF5-2200-4C4E-A2C7-12CA565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34400"/>
            <a:ext cx="162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00" b="1">
                <a:solidFill>
                  <a:srgbClr val="9E4E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9E4E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9E4E43"/>
                </a:solidFill>
                <a:latin typeface="Arial"/>
                <a:ea typeface="Arial"/>
                <a:cs typeface="Arial"/>
              </a:rPr>
              <a:t>Simulator run, not quantum hardware evidence. RAM is sampled additional peak process memory.</a:t>
            </a:r>
          </a:p>
        </p:txBody>
      </p:sp>
    </p:spTree>
    <p:extLst>
      <p:ext uri="{BB962C8B-B14F-4D97-AF65-F5344CB8AC3E}">
        <p14:creationId xmlns:p14="http://schemas.microsoft.com/office/powerpoint/2010/main" val="6502001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6914F-F18C-4277-982B-05E9F6A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90DAC-154D-4698-BF75-F0CA7F01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E66F9-21EF-4499-825B-DF7021A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What the results mean and current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419CE-788B-4537-BABB-C209859F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4F4D4-068F-4C5B-A533-16C37204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5DF5B-C115-453B-BDB3-67F3373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95635-994C-4A1A-8952-B0D6DF5A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DDF1F-7885-426E-BEEF-F8F83BA2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94E0C-9C01-4514-A6F3-20A9FF16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09800"/>
            <a:ext cx="7747000" cy="29210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B2069-89D0-4239-BBEA-5C79D4A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09800"/>
            <a:ext cx="889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8FF9E-73D9-43DE-BF7A-9E20B99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4384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What is 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544EF-4C86-4281-8FD3-8A111C7B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971800"/>
            <a:ext cx="7137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In this run, classical selection took less time and memory than either simulator path. The pure circuit used 23 qubits. The hybrid index circuit averaged 2.25 qubits.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B9B66-C78E-4ECD-839A-9A9A2312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7747000" cy="29210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8626B-2621-4D0C-9449-76ED27D0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889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4E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0B378-9200-4613-A5B4-AFEF3A2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384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What is not established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74ECC-A918-4796-8715-FE222519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7137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No hardware run, scaling study, move-quality comparison, or end-to-end quantum speedup claim. Timing depends on local CPU, Aer version, circuit, and setup.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82193-A044-448A-BDCC-48333E1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05500"/>
            <a:ext cx="635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Prototype limits to disclose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19DDB-412D-4EE2-AE56-36AB064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578600"/>
            <a:ext cx="15621000" cy="19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• Small-board status codes are not fully unique.</a:t>
            </a:r>
          </a:p>
          <a:p xmlns:a="http://schemas.openxmlformats.org/drawingml/2006/main">
            <a:pPr algn="l">
              <a:defRPr sz="20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• Direction logic is incomplete for general movement.</a:t>
            </a:r>
          </a:p>
          <a:p xmlns:a="http://schemas.openxmlformats.org/drawingml/2006/main">
            <a:pPr algn="l">
              <a:defRPr sz="20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• Pure circuit does not update the complete board.</a:t>
            </a:r>
          </a:p>
          <a:p xmlns:a="http://schemas.openxmlformats.org/drawingml/2006/main">
            <a:pPr algn="l">
              <a:defRPr sz="20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• Grover target indices are prepared classically.</a:t>
            </a:r>
          </a:p>
          <a:p xmlns:a="http://schemas.openxmlformats.org/drawingml/2006/main">
            <a:pPr algn="l">
              <a:defRPr sz="20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• Full special-move coverage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141612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97810-ADB5-4059-86DD-1B930D83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B63DB-420D-4EA4-ABD5-CAE9DF9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56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475536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75536"/>
                </a:solidFill>
                <a:latin typeface="Arial"/>
                <a:ea typeface="Arial"/>
                <a:cs typeface="Arial"/>
              </a:rPr>
              <a:t>PROJECT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07949-E482-4E4B-B311-A73CA1D4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62000"/>
            <a:ext cx="1498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Implementation phases and revision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FEF4E-DC3E-471F-85EE-7086647F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764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0BBCC-FA1B-47BA-B352-A3A8220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A44E6-82D8-4B5E-AAAA-4DE9A6A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0" y="4064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117C7-D538-41D2-8FA3-7244CFE0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728200"/>
            <a:ext cx="16662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85C6D-40FF-4804-9CA8-BF14DBD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817100"/>
            <a:ext cx="1270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Quantum Computing &amp; Algorithms  |  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D3500-4A72-47BD-8F4B-CD12D2D5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032000"/>
            <a:ext cx="77470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FF1CF-3624-433E-A743-D814A24A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032000"/>
            <a:ext cx="889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9273E-FB83-42F4-97D2-50B38015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260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FBC76-5429-4EF5-9A05-EA4B7DD4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94000"/>
            <a:ext cx="7137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Classical board, pieces, legal moves, and state transitions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4DB9D-14E4-4083-A17D-DCCDED79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2000"/>
            <a:ext cx="77470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6F239-8840-4E6E-9F2F-43F7086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2000"/>
            <a:ext cx="889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3CECB-1B63-4C0C-98B3-6AB823D8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06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9D203-E40B-4129-9ED8-4EFF2D50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94000"/>
            <a:ext cx="7137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AI baseline: heuristics, minimax, hybrid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40538-B758-46FD-B8F1-AF693F2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771900"/>
            <a:ext cx="77470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5ECDE-EA53-47F1-94C6-EC6BD90E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771900"/>
            <a:ext cx="889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C5731-B2C7-4ED6-905B-F4AFCC55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40005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D0C6E-4255-4AD0-BC8E-CD1B9D3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4533900"/>
            <a:ext cx="7137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Qubit/register encoding and small-board gate circuit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84628-C349-4B80-BCC5-18E5DD7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77470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350EF-8192-4561-B3F2-A510DA4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889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F0376-E2C1-4AA4-A949-03ED830C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005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Phase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80630-2553-4C45-8519-084DCDD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33900"/>
            <a:ext cx="7137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Grover oracle, diffuser, Aer simulation, decoding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C5026-9C0B-4FA4-89B3-6A41FA77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11800"/>
            <a:ext cx="77470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561FA-DC75-48C7-AB21-98DB22E8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11800"/>
            <a:ext cx="889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80874-5A64-4BBE-B6F1-7BB8FDC8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7404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Phase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DA961-84A0-496C-9036-DA435A2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6273800"/>
            <a:ext cx="7137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2×2/3×3 demos, GUI integration, run menu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D7853-EAE2-42E9-816B-5EE71AB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11800"/>
            <a:ext cx="7747000" cy="1422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1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F607C-84E3-4AF7-9E00-DDB392F0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11800"/>
            <a:ext cx="889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D564D2-D2E1-4C6F-B565-E4FBB96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40400"/>
            <a:ext cx="7162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Phase 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C5A63B-900D-4E5D-ABC1-CDB06E1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273800"/>
            <a:ext cx="71374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31F"/>
                </a:solidFill>
                <a:latin typeface="Arial"/>
                <a:ea typeface="Arial"/>
                <a:cs typeface="Arial"/>
              </a:rPr>
              <a:t>3×3 system benchmark, graph, CSV, faculty materials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7E330B-B534-4C5C-B9E2-691FDBE6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556500"/>
            <a:ext cx="1625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Revision sources: chess_engine_quantum.md  |  ques_ans.md  |  folder_dir.md  |  3x3_system_comparison.md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DE9886-FD87-40B8-A0F1-57F9B4E5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356600"/>
            <a:ext cx="162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Run: python main.py     Compare: python evaluation/compare_3x3_systems.py</a:t>
            </a:r>
          </a:p>
        </p:txBody>
      </p:sp>
    </p:spTree>
    <p:extLst>
      <p:ext uri="{BB962C8B-B14F-4D97-AF65-F5344CB8AC3E}">
        <p14:creationId xmlns:p14="http://schemas.microsoft.com/office/powerpoint/2010/main" val="5991193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4BBCF-F92F-482E-86D3-E96ED5E1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3970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4552B-2009-41B8-8DB9-783E536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14400"/>
            <a:ext cx="41402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00" b="0">
                <a:solidFill>
                  <a:srgbClr val="73766D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3766D"/>
                </a:solidFill>
                <a:latin typeface="Arial"/>
                <a:ea typeface="Arial"/>
                <a:cs typeface="Arial"/>
              </a:rPr>
              <a:t>14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E1104-9FF7-4F52-8C12-88487A3A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0000"/>
            <a:ext cx="12954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7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108C0-CDA7-47E2-B597-B628C83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067800"/>
            <a:ext cx="16662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E1E14-2501-44B2-A6BE-D5AD3C3E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91948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22231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2231F"/>
                </a:solidFill>
                <a:latin typeface="Arial"/>
                <a:ea typeface="Arial"/>
                <a:cs typeface="Arial"/>
              </a:rPr>
              <a:t>TEAM 01  |  QUANTUM CHESS ENGINE</a:t>
            </a:r>
          </a:p>
        </p:txBody>
      </p:sp>
    </p:spTree>
    <p:extLst>
      <p:ext uri="{BB962C8B-B14F-4D97-AF65-F5344CB8AC3E}">
        <p14:creationId xmlns:p14="http://schemas.microsoft.com/office/powerpoint/2010/main" val="243471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2026-10-14T05:42:43.0660000Z</dcterms:created>
  <dcterms:modified xsi:type="dcterms:W3CDTF">2026-10-14T05:42:43.0660000Z</dcterms:modified>
</coreProperties>
</file>